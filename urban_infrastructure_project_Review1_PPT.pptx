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An Agentic AI Framework for Continuous Cross-Domain Urban Infrastructure Monitoring, Diagnosis and </a:t>
            </a: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Decision Support</a:t>
            </a:r>
            <a:endParaRPr lang="en-US" sz="36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Sanika Gaikwad (T9996)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585484" cy="4142989"/>
          </a:xfrm>
        </p:spPr>
        <p:txBody>
          <a:bodyPr/>
          <a:lstStyle/>
          <a:p>
            <a:pPr lvl="0" algn="just"/>
            <a:r>
              <a:rPr lang="en-IN" b="0" dirty="0">
                <a:latin typeface="+mn-lt"/>
              </a:rPr>
              <a:t>Urban infrastructure operates through interconnected systems such as water, drainage, transportation and metro. </a:t>
            </a:r>
          </a:p>
          <a:p>
            <a:pPr lvl="0" algn="just"/>
            <a:r>
              <a:rPr lang="en-IN" b="0" dirty="0">
                <a:latin typeface="+mn-lt"/>
              </a:rPr>
              <a:t>Failures in one system can create cascading impacts on other systems. </a:t>
            </a:r>
          </a:p>
          <a:p>
            <a:pPr lvl="0" algn="just"/>
            <a:r>
              <a:rPr lang="en-IN" b="0" dirty="0">
                <a:latin typeface="+mn-lt"/>
              </a:rPr>
              <a:t>Existing approaches often focus on single-domain monitoring or prediction. </a:t>
            </a:r>
          </a:p>
          <a:p>
            <a:pPr lvl="0" algn="just"/>
            <a:r>
              <a:rPr lang="en-IN" b="0" dirty="0">
                <a:latin typeface="+mn-lt"/>
              </a:rPr>
              <a:t>They provide alerts but have limited capability for cross-domain diagnosis and coordinated response. </a:t>
            </a:r>
          </a:p>
          <a:p>
            <a:pPr lvl="0" algn="just"/>
            <a:r>
              <a:rPr lang="en-IN" b="0" dirty="0">
                <a:latin typeface="+mn-lt"/>
              </a:rPr>
              <a:t>This project proposes an Agentic AI framework for continuous infrastructure intelligence. 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Bottom line:</a:t>
            </a:r>
          </a:p>
          <a:p>
            <a:pPr marL="0" indent="0" algn="ctr">
              <a:buNone/>
            </a:pPr>
            <a:r>
              <a:rPr lang="en-IN" b="0" dirty="0">
                <a:latin typeface="+mn-lt"/>
              </a:rPr>
              <a:t>              Move from isolated fault detection to coordinated, cross-domain infrastructure decision support.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-6210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sz="18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745504" cy="4142989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Develop a multi-agent urban infrastructure framework. </a:t>
            </a:r>
          </a:p>
          <a:p>
            <a:pPr lvl="0"/>
            <a:r>
              <a:rPr lang="en-IN" b="0" dirty="0">
                <a:latin typeface="+mn-lt"/>
              </a:rPr>
              <a:t>Continuously monitor infrastructure conditions. </a:t>
            </a:r>
          </a:p>
          <a:p>
            <a:pPr lvl="0"/>
            <a:r>
              <a:rPr lang="en-IN" b="0" dirty="0">
                <a:latin typeface="+mn-lt"/>
              </a:rPr>
              <a:t>Detect abnormal events and failures. </a:t>
            </a:r>
          </a:p>
          <a:p>
            <a:pPr lvl="0"/>
            <a:r>
              <a:rPr lang="en-IN" b="0" dirty="0">
                <a:latin typeface="+mn-lt"/>
              </a:rPr>
              <a:t>Identify root causes and cross-domain effects. </a:t>
            </a:r>
          </a:p>
          <a:p>
            <a:pPr lvl="0"/>
            <a:r>
              <a:rPr lang="en-IN" b="0" dirty="0">
                <a:latin typeface="+mn-lt"/>
              </a:rPr>
              <a:t>Predict potential impacts. </a:t>
            </a:r>
          </a:p>
          <a:p>
            <a:pPr lvl="0"/>
            <a:r>
              <a:rPr lang="en-IN" b="0" dirty="0">
                <a:latin typeface="+mn-lt"/>
              </a:rPr>
              <a:t>Simulate possible response strategies. </a:t>
            </a:r>
          </a:p>
          <a:p>
            <a:pPr lvl="0"/>
            <a:r>
              <a:rPr lang="en-IN" b="0" dirty="0">
                <a:latin typeface="+mn-lt"/>
              </a:rPr>
              <a:t>Provide explainable recommendations with human approval.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lvl="0"/>
            <a:r>
              <a:rPr lang="en-IN" b="0" dirty="0"/>
              <a:t>Study Area: Chennai urban infrastructure </a:t>
            </a:r>
          </a:p>
          <a:p>
            <a:pPr lvl="0"/>
            <a:r>
              <a:rPr lang="en-IN" b="0" dirty="0"/>
              <a:t>Domains: Water &amp; Drainage, Metro, Traffic, Weather </a:t>
            </a:r>
          </a:p>
          <a:p>
            <a:pPr lvl="0"/>
            <a:r>
              <a:rPr lang="en-IN" b="0" dirty="0"/>
              <a:t>Integrate public datasets, GIS infrastructure data and controlled synthetic sensor data. </a:t>
            </a:r>
          </a:p>
          <a:p>
            <a:pPr lvl="0"/>
            <a:r>
              <a:rPr lang="en-IN" b="0" dirty="0"/>
              <a:t>Represent infrastructure using asset, spatial and temporal relationships. </a:t>
            </a:r>
          </a:p>
          <a:p>
            <a:pPr lvl="0"/>
            <a:r>
              <a:rPr lang="en-IN" b="0" dirty="0"/>
              <a:t>Model cross-domain and cascading incidents. </a:t>
            </a:r>
          </a:p>
          <a:p>
            <a:pPr lvl="0"/>
            <a:r>
              <a:rPr lang="en-IN" b="0" dirty="0"/>
              <a:t>Evaluate detection, diagnosis, prediction and decision-support performance. </a:t>
            </a:r>
          </a:p>
          <a:p>
            <a:pPr marL="0" indent="0">
              <a:buNone/>
            </a:pPr>
            <a:r>
              <a:rPr lang="en-IN" b="0" dirty="0"/>
              <a:t>  Example</a:t>
            </a:r>
          </a:p>
          <a:p>
            <a:pPr marL="0" indent="0" algn="ctr">
              <a:buNone/>
            </a:pPr>
            <a:r>
              <a:rPr lang="en-IN" b="0" dirty="0"/>
              <a:t>	Heavy Rainfall → Drainage Overload → Flooding → Traffic Congestion → 	Metro Demand Change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1667CE-2CD1-E078-60D1-D42496BFD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023917"/>
              </p:ext>
            </p:extLst>
          </p:nvPr>
        </p:nvGraphicFramePr>
        <p:xfrm>
          <a:off x="434340" y="1234636"/>
          <a:ext cx="11452860" cy="4663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26430">
                  <a:extLst>
                    <a:ext uri="{9D8B030D-6E8A-4147-A177-3AD203B41FA5}">
                      <a16:colId xmlns:a16="http://schemas.microsoft.com/office/drawing/2014/main" val="2749915989"/>
                    </a:ext>
                  </a:extLst>
                </a:gridCol>
                <a:gridCol w="5726430">
                  <a:extLst>
                    <a:ext uri="{9D8B030D-6E8A-4147-A177-3AD203B41FA5}">
                      <a16:colId xmlns:a16="http://schemas.microsoft.com/office/drawing/2014/main" val="3169525264"/>
                    </a:ext>
                  </a:extLst>
                </a:gridCol>
              </a:tblGrid>
              <a:tr h="666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Existing 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164639"/>
                  </a:ext>
                </a:extLst>
              </a:tr>
              <a:tr h="666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Agentic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Autonomous reasoning and task execution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630031"/>
                  </a:ext>
                </a:extLst>
              </a:tr>
              <a:tr h="666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Multi-Agent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Domain-specific agents and coordination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227080"/>
                  </a:ext>
                </a:extLst>
              </a:tr>
              <a:tr h="666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Predictive Maintenance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Fault detection and failure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301848"/>
                  </a:ext>
                </a:extLst>
              </a:tr>
              <a:tr h="666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Digital Twins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Infrastructure monitoring and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988751"/>
                  </a:ext>
                </a:extLst>
              </a:tr>
              <a:tr h="666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Infrastructure Resilience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Interdependency and recovery planning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719776"/>
                  </a:ext>
                </a:extLst>
              </a:tr>
              <a:tr h="666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Decision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Evaluation of alternative interventions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4285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b="0" dirty="0">
                <a:latin typeface="+mn-lt"/>
              </a:rPr>
              <a:t>Existing approaches:</a:t>
            </a:r>
          </a:p>
          <a:p>
            <a:pPr lvl="1"/>
            <a:r>
              <a:rPr lang="en-IN" sz="2800" b="0" dirty="0">
                <a:latin typeface="+mn-lt"/>
              </a:rPr>
              <a:t>Mostly single-domain solutions </a:t>
            </a:r>
          </a:p>
          <a:p>
            <a:pPr lvl="1"/>
            <a:r>
              <a:rPr lang="en-IN" sz="2800" b="0" dirty="0">
                <a:latin typeface="+mn-lt"/>
              </a:rPr>
              <a:t>Separate monitoring and prediction models </a:t>
            </a:r>
          </a:p>
          <a:p>
            <a:pPr lvl="1"/>
            <a:r>
              <a:rPr lang="en-IN" sz="2800" b="0" dirty="0">
                <a:latin typeface="+mn-lt"/>
              </a:rPr>
              <a:t>Limited cross-domain reasoning </a:t>
            </a:r>
          </a:p>
          <a:p>
            <a:pPr lvl="1"/>
            <a:r>
              <a:rPr lang="en-IN" sz="2800" b="0" dirty="0">
                <a:latin typeface="+mn-lt"/>
              </a:rPr>
              <a:t>Limited integration of simulation + decision support </a:t>
            </a:r>
          </a:p>
          <a:p>
            <a:pPr marL="0" indent="0">
              <a:buNone/>
            </a:pPr>
            <a:endParaRPr lang="en-IN" b="0" dirty="0">
              <a:latin typeface="+mn-lt"/>
            </a:endParaRPr>
          </a:p>
          <a:p>
            <a:pPr marL="0" indent="0">
              <a:buNone/>
            </a:pPr>
            <a:r>
              <a:rPr lang="en-IN" b="0" dirty="0">
                <a:latin typeface="+mn-lt"/>
              </a:rPr>
              <a:t>Proposed Approach</a:t>
            </a:r>
          </a:p>
          <a:p>
            <a:pPr lvl="1"/>
            <a:r>
              <a:rPr lang="en-IN" sz="2800" b="0" dirty="0">
                <a:latin typeface="+mn-lt"/>
              </a:rPr>
              <a:t>Integrate monitoring, diagnosis, prediction, simulation and decision support through coordinated domain agents.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51701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Study Area: Chennai</a:t>
            </a:r>
            <a:endParaRPr lang="en-US" b="0" dirty="0">
              <a:solidFill>
                <a:srgbClr val="5583D1"/>
              </a:solidFill>
            </a:endParaRPr>
          </a:p>
          <a:p>
            <a:pPr marL="0" indent="0">
              <a:buNone/>
            </a:pPr>
            <a:endParaRPr lang="en-US" b="0" dirty="0">
              <a:solidFill>
                <a:srgbClr val="5583D1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9A8407-F18C-1428-6344-83124529AF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131555"/>
              </p:ext>
            </p:extLst>
          </p:nvPr>
        </p:nvGraphicFramePr>
        <p:xfrm>
          <a:off x="931454" y="1788232"/>
          <a:ext cx="11004550" cy="4145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02275">
                  <a:extLst>
                    <a:ext uri="{9D8B030D-6E8A-4147-A177-3AD203B41FA5}">
                      <a16:colId xmlns:a16="http://schemas.microsoft.com/office/drawing/2014/main" val="4242837142"/>
                    </a:ext>
                  </a:extLst>
                </a:gridCol>
                <a:gridCol w="5502275">
                  <a:extLst>
                    <a:ext uri="{9D8B030D-6E8A-4147-A177-3AD203B41FA5}">
                      <a16:colId xmlns:a16="http://schemas.microsoft.com/office/drawing/2014/main" val="2629620698"/>
                    </a:ext>
                  </a:extLst>
                </a:gridCol>
              </a:tblGrid>
              <a:tr h="48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Public / Real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Controlled Synthetic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995474"/>
                  </a:ext>
                </a:extLst>
              </a:tr>
              <a:tr h="48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Chennai rainfall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Asset sensor readings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7921846"/>
                  </a:ext>
                </a:extLst>
              </a:tr>
              <a:tr h="48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Flood inundation &amp; hazard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Equipment health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6723889"/>
                  </a:ext>
                </a:extLst>
              </a:tr>
              <a:tr h="48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Lake levels &amp;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Failure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3637629"/>
                  </a:ext>
                </a:extLst>
              </a:tr>
              <a:tr h="48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Groundwater levels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Incident scenarios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2605765"/>
                  </a:ext>
                </a:extLst>
              </a:tr>
              <a:tr h="48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Sewer/drainage GIS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Cross-domain events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5482418"/>
                  </a:ext>
                </a:extLst>
              </a:tr>
              <a:tr h="48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Metro ridership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Intervention outcomes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681664"/>
                  </a:ext>
                </a:extLst>
              </a:tr>
              <a:tr h="48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Traffic &amp; road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802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b="0" dirty="0">
                <a:latin typeface="+mn-lt"/>
              </a:rPr>
              <a:t>1. Data &amp; Infrastructure Layer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2. Monitoring &amp; Anomaly Detection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3. Diagnosis &amp; Root-Cause Analysis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4. Impact Prediction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5. What-if Simulation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6. Multi-Agent Orchestration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7. Decision Support &amp; Recommendation</a:t>
            </a:r>
          </a:p>
          <a:p>
            <a:pPr marL="0" indent="0">
              <a:buNone/>
            </a:pPr>
            <a:r>
              <a:rPr lang="en-IN" b="0" dirty="0">
                <a:latin typeface="+mn-lt"/>
              </a:rPr>
              <a:t>8. Evaluation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SYSTEM MODULE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AGENTIC AI FOR URBAN INFRASTRUCTURE</a:t>
            </a:r>
            <a:endParaRPr lang="en-US" b="1" i="1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FF4201-148E-5916-9F3A-5237A3297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159568"/>
              </p:ext>
            </p:extLst>
          </p:nvPr>
        </p:nvGraphicFramePr>
        <p:xfrm>
          <a:off x="1394460" y="1234637"/>
          <a:ext cx="10178848" cy="507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89424">
                  <a:extLst>
                    <a:ext uri="{9D8B030D-6E8A-4147-A177-3AD203B41FA5}">
                      <a16:colId xmlns:a16="http://schemas.microsoft.com/office/drawing/2014/main" val="1961711138"/>
                    </a:ext>
                  </a:extLst>
                </a:gridCol>
                <a:gridCol w="5089424">
                  <a:extLst>
                    <a:ext uri="{9D8B030D-6E8A-4147-A177-3AD203B41FA5}">
                      <a16:colId xmlns:a16="http://schemas.microsoft.com/office/drawing/2014/main" val="3508501090"/>
                    </a:ext>
                  </a:extLst>
                </a:gridCol>
              </a:tblGrid>
              <a:tr h="63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Agent /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5506118"/>
                  </a:ext>
                </a:extLst>
              </a:tr>
              <a:tr h="63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Weather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Rainfall &amp; weather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286865"/>
                  </a:ext>
                </a:extLst>
              </a:tr>
              <a:tr h="63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Water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Drainage, sewer &amp; water infrastructure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06297"/>
                  </a:ext>
                </a:extLst>
              </a:tr>
              <a:tr h="63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Metro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Metro assets &amp; passenger demand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3368325"/>
                  </a:ext>
                </a:extLst>
              </a:tr>
              <a:tr h="63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Traffic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Roads, traffic &amp; incidents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0010712"/>
                  </a:ext>
                </a:extLst>
              </a:tr>
              <a:tr h="63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Orchestrator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Cross-domain coordination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900216"/>
                  </a:ext>
                </a:extLst>
              </a:tr>
              <a:tr h="636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Decision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Simulation &amp; recommendations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0716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1772</TotalTime>
  <Words>503</Words>
  <Application>Microsoft Office PowerPoint</Application>
  <PresentationFormat>Widescreen</PresentationFormat>
  <Paragraphs>113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Sanika Yashwant Gaikwad</cp:lastModifiedBy>
  <cp:revision>12</cp:revision>
  <dcterms:created xsi:type="dcterms:W3CDTF">2024-05-13T10:33:11Z</dcterms:created>
  <dcterms:modified xsi:type="dcterms:W3CDTF">2026-09-08T06:39:11Z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