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sldIdLst>
    <p:sldId id="2147470506" r:id="rId2"/>
    <p:sldId id="2147470507" r:id="rId3"/>
    <p:sldId id="2147470508" r:id="rId4"/>
    <p:sldId id="2147470509" r:id="rId5"/>
    <p:sldId id="2147470511" r:id="rId6"/>
    <p:sldId id="2147470512" r:id="rId7"/>
    <p:sldId id="2147470513" r:id="rId8"/>
    <p:sldId id="2147470514" r:id="rId9"/>
    <p:sldId id="2147470515" r:id="rId10"/>
    <p:sldId id="2147470516" r:id="rId11"/>
    <p:sldId id="2147470517" r:id="rId12"/>
    <p:sldId id="2147470489" r:id="rId13"/>
    <p:sldId id="2147470492" r:id="rId14"/>
    <p:sldId id="2147470493" r:id="rId15"/>
    <p:sldId id="2147470487" r:id="rId16"/>
    <p:sldId id="2147470504" r:id="rId17"/>
    <p:sldId id="2147470494" r:id="rId18"/>
    <p:sldId id="2147470501" r:id="rId19"/>
    <p:sldId id="2147470498" r:id="rId20"/>
    <p:sldId id="2147470497" r:id="rId21"/>
    <p:sldId id="2147470505" r:id="rId22"/>
    <p:sldId id="2147470499" r:id="rId23"/>
    <p:sldId id="2147470503"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25B9ED"/>
    <a:srgbClr val="47BDAE"/>
    <a:srgbClr val="30BBDA"/>
    <a:srgbClr val="47BDAF"/>
    <a:srgbClr val="696969"/>
    <a:srgbClr val="1C4D98"/>
    <a:srgbClr val="8BC431"/>
    <a:srgbClr val="97B6BA"/>
    <a:srgbClr val="24A8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544" autoAdjust="0"/>
    <p:restoredTop sz="94660"/>
  </p:normalViewPr>
  <p:slideViewPr>
    <p:cSldViewPr snapToGrid="0">
      <p:cViewPr>
        <p:scale>
          <a:sx n="66" d="100"/>
          <a:sy n="66" d="100"/>
        </p:scale>
        <p:origin x="1242" y="36"/>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973B0E-9128-4FB0-BE84-737CE0ED1D98}" type="datetimeFigureOut">
              <a:rPr lang="en-IN" smtClean="0"/>
              <a:t>13-10-2026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24BD96-9FAC-4C61-B18D-FC33A5BD1A28}" type="slidenum">
              <a:rPr lang="en-IN" smtClean="0"/>
              <a:t>‹#›</a:t>
            </a:fld>
            <a:endParaRPr lang="en-IN"/>
          </a:p>
        </p:txBody>
      </p:sp>
    </p:spTree>
    <p:extLst>
      <p:ext uri="{BB962C8B-B14F-4D97-AF65-F5344CB8AC3E}">
        <p14:creationId xmlns:p14="http://schemas.microsoft.com/office/powerpoint/2010/main" val="39988977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F24BD96-9FAC-4C61-B18D-FC33A5BD1A28}" type="slidenum">
              <a:rPr lang="en-IN" smtClean="0"/>
              <a:t>1</a:t>
            </a:fld>
            <a:endParaRPr lang="en-IN"/>
          </a:p>
        </p:txBody>
      </p:sp>
    </p:spTree>
    <p:extLst>
      <p:ext uri="{BB962C8B-B14F-4D97-AF65-F5344CB8AC3E}">
        <p14:creationId xmlns:p14="http://schemas.microsoft.com/office/powerpoint/2010/main" val="39731457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3F4D17B-9B25-2D63-E389-71163BD2C8E7}"/>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FC4ED1-FB42-4A6C-B292-B8C58946A859}"/>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535A630-145D-4232-9865-98341E30F7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7083635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837F2-3C53-43E6-9F25-242D13C5ABD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D302C3C5-9B28-493B-9422-74FF4AE1808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0436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9B68FAD-9CFA-CBF0-4B37-9944C2E932A1}"/>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D4B6E2-CC70-4366-ABC8-87480CC35BD1}"/>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0D34EE-ED80-45A7-B964-53ED80D9466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3433036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3BCD6-D227-4C30-8364-6F161FA122F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5DC3054-5604-4679-AF7D-07BF06BE01A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247BA85-32D5-4EA3-9F8B-5A8B9251743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961234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F33A1-3BE5-4F1B-8E70-082254902238}"/>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E4C4CAE0-72F2-4F22-A85A-772E3DA044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EDE67E9-F76F-4049-98D4-82E9E7C800E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332A94-E906-4159-9FE4-E63CFAE0BE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C16D1AA-A642-4FEB-91F0-3F506A2AE8F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9363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BF108-6EC2-4592-9D33-716E6B1ACF9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826736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7387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2AB71-FC15-4C88-A99B-0D66CDCEEF56}"/>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0369B3E-A4BB-45D7-ABB7-1E151F04FE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FD4C72-B215-468A-8722-23007428B0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694330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42731-906B-40B4-86D3-CD7878598D2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61042F1-26FD-477E-A079-62384AA43E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C52E8FE-8F89-4D08-8341-786A0381BB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738541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B0375-D926-48D9-8605-813B1B64E6F6}"/>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B8D7657-21CC-45AA-A2CE-92653962FC4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39364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A09EBA-4206-40BF-81B1-742CF8BD5BA1}"/>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B8BE7B-6EB1-4B41-A25B-B41833E5B2B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11384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255996" y="1271219"/>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
        <p:nvSpPr>
          <p:cNvPr id="4" name="Text Placeholder 13">
            <a:extLst>
              <a:ext uri="{FF2B5EF4-FFF2-40B4-BE49-F238E27FC236}">
                <a16:creationId xmlns:a16="http://schemas.microsoft.com/office/drawing/2014/main" id="{06C9D6B8-9A00-34FD-3E41-E67F07F278E4}"/>
              </a:ext>
            </a:extLst>
          </p:cNvPr>
          <p:cNvSpPr>
            <a:spLocks noGrp="1"/>
          </p:cNvSpPr>
          <p:nvPr>
            <p:ph type="body" sz="quarter" idx="15" hasCustomPrompt="1"/>
          </p:nvPr>
        </p:nvSpPr>
        <p:spPr>
          <a:xfrm>
            <a:off x="255996" y="629525"/>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36477356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173803" y="469835"/>
            <a:ext cx="11672300" cy="650048"/>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2443542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microsoft.com/office/2007/relationships/hdphoto" Target="../media/hdphoto1.wdp"/><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19" Type="http://schemas.microsoft.com/office/2007/relationships/hdphoto" Target="../media/hdphoto2.wdp"/><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2D087FE-85BE-5152-9EB5-3B57AE38DD4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 y="5337544"/>
            <a:ext cx="12191994" cy="1548307"/>
          </a:xfrm>
          <a:prstGeom prst="rect">
            <a:avLst/>
          </a:prstGeom>
        </p:spPr>
      </p:pic>
      <p:sp>
        <p:nvSpPr>
          <p:cNvPr id="7" name="Rectangle 6">
            <a:extLst>
              <a:ext uri="{FF2B5EF4-FFF2-40B4-BE49-F238E27FC236}">
                <a16:creationId xmlns:a16="http://schemas.microsoft.com/office/drawing/2014/main" id="{8EFA70D2-ADBF-0DD4-D7D1-F37201867E99}"/>
              </a:ext>
            </a:extLst>
          </p:cNvPr>
          <p:cNvSpPr/>
          <p:nvPr userDrawn="1"/>
        </p:nvSpPr>
        <p:spPr>
          <a:xfrm>
            <a:off x="0" y="0"/>
            <a:ext cx="12192000" cy="365125"/>
          </a:xfrm>
          <a:prstGeom prst="rect">
            <a:avLst/>
          </a:prstGeom>
          <a:gradFill>
            <a:gsLst>
              <a:gs pos="5000">
                <a:srgbClr val="47BDAE"/>
              </a:gs>
              <a:gs pos="59000">
                <a:srgbClr val="25B9ED"/>
              </a:gs>
              <a:gs pos="100000">
                <a:srgbClr val="FFFF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2000" b="1" i="1" dirty="0">
              <a:solidFill>
                <a:schemeClr val="bg1">
                  <a:lumMod val="75000"/>
                </a:schemeClr>
              </a:solidFill>
            </a:endParaRPr>
          </a:p>
        </p:txBody>
      </p:sp>
      <p:sp>
        <p:nvSpPr>
          <p:cNvPr id="3" name="Text Placeholder 2">
            <a:extLst>
              <a:ext uri="{FF2B5EF4-FFF2-40B4-BE49-F238E27FC236}">
                <a16:creationId xmlns:a16="http://schemas.microsoft.com/office/drawing/2014/main" id="{F8BC08DB-FBED-4A43-AE4B-B2CE371FE61E}"/>
              </a:ext>
            </a:extLst>
          </p:cNvPr>
          <p:cNvSpPr>
            <a:spLocks noGrp="1"/>
          </p:cNvSpPr>
          <p:nvPr>
            <p:ph type="body" idx="1"/>
          </p:nvPr>
        </p:nvSpPr>
        <p:spPr>
          <a:xfrm>
            <a:off x="677271" y="1191757"/>
            <a:ext cx="11004446" cy="479500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28" name="Picture 4" descr="LTIMindtree logo in transparent PNG and vectorized SVG formats">
            <a:extLst>
              <a:ext uri="{FF2B5EF4-FFF2-40B4-BE49-F238E27FC236}">
                <a16:creationId xmlns:a16="http://schemas.microsoft.com/office/drawing/2014/main" id="{21F70453-17DB-04F6-290A-DCDEF9FDE02E}"/>
              </a:ext>
            </a:extLst>
          </p:cNvPr>
          <p:cNvPicPr>
            <a:picLocks noChangeAspect="1" noChangeArrowheads="1"/>
          </p:cNvPicPr>
          <p:nvPr userDrawn="1"/>
        </p:nvPicPr>
        <p:blipFill>
          <a:blip r:embed="rId16">
            <a:extLst>
              <a:ext uri="{BEBA8EAE-BF5A-486C-A8C5-ECC9F3942E4B}">
                <a14:imgProps xmlns:a14="http://schemas.microsoft.com/office/drawing/2010/main">
                  <a14:imgLayer r:embed="rId17">
                    <a14:imgEffect>
                      <a14:saturation sat="400000"/>
                    </a14:imgEffect>
                    <a14:imgEffect>
                      <a14:brightnessContrast bright="-20000"/>
                    </a14:imgEffect>
                  </a14:imgLayer>
                </a14:imgProps>
              </a:ext>
              <a:ext uri="{28A0092B-C50C-407E-A947-70E740481C1C}">
                <a14:useLocalDpi xmlns:a14="http://schemas.microsoft.com/office/drawing/2010/main" val="0"/>
              </a:ext>
            </a:extLst>
          </a:blip>
          <a:srcRect/>
          <a:stretch>
            <a:fillRect/>
          </a:stretch>
        </p:blipFill>
        <p:spPr bwMode="auto">
          <a:xfrm>
            <a:off x="10545387" y="6562429"/>
            <a:ext cx="1541059" cy="295571"/>
          </a:xfrm>
          <a:prstGeom prst="rect">
            <a:avLst/>
          </a:prstGeom>
          <a:noFill/>
        </p:spPr>
      </p:pic>
      <p:sp>
        <p:nvSpPr>
          <p:cNvPr id="6" name="Title Placeholder 1">
            <a:extLst>
              <a:ext uri="{FF2B5EF4-FFF2-40B4-BE49-F238E27FC236}">
                <a16:creationId xmlns:a16="http://schemas.microsoft.com/office/drawing/2014/main" id="{DBDE3A73-7407-B3B5-0BC2-D13C973D143A}"/>
              </a:ext>
            </a:extLst>
          </p:cNvPr>
          <p:cNvSpPr txBox="1">
            <a:spLocks/>
          </p:cNvSpPr>
          <p:nvPr userDrawn="1"/>
        </p:nvSpPr>
        <p:spPr>
          <a:xfrm>
            <a:off x="221274" y="88514"/>
            <a:ext cx="8176583" cy="110324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sp>
        <p:nvSpPr>
          <p:cNvPr id="11" name="Text Placeholder 2">
            <a:extLst>
              <a:ext uri="{FF2B5EF4-FFF2-40B4-BE49-F238E27FC236}">
                <a16:creationId xmlns:a16="http://schemas.microsoft.com/office/drawing/2014/main" id="{70A0B4C8-C250-76C3-01DB-D728F6B32656}"/>
              </a:ext>
            </a:extLst>
          </p:cNvPr>
          <p:cNvSpPr txBox="1">
            <a:spLocks/>
          </p:cNvSpPr>
          <p:nvPr userDrawn="1"/>
        </p:nvSpPr>
        <p:spPr>
          <a:xfrm>
            <a:off x="391411" y="640135"/>
            <a:ext cx="11290305" cy="523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latin typeface="Calibri (Body)"/>
            </a:endParaRPr>
          </a:p>
        </p:txBody>
      </p:sp>
      <p:sp>
        <p:nvSpPr>
          <p:cNvPr id="12" name="Text Placeholder 2">
            <a:extLst>
              <a:ext uri="{FF2B5EF4-FFF2-40B4-BE49-F238E27FC236}">
                <a16:creationId xmlns:a16="http://schemas.microsoft.com/office/drawing/2014/main" id="{349D7A90-F0A3-C216-D67E-9B86D1BECDF5}"/>
              </a:ext>
            </a:extLst>
          </p:cNvPr>
          <p:cNvSpPr txBox="1">
            <a:spLocks/>
          </p:cNvSpPr>
          <p:nvPr userDrawn="1"/>
        </p:nvSpPr>
        <p:spPr>
          <a:xfrm>
            <a:off x="158720" y="413891"/>
            <a:ext cx="10025576" cy="6859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13" name="Picture 12">
            <a:extLst>
              <a:ext uri="{FF2B5EF4-FFF2-40B4-BE49-F238E27FC236}">
                <a16:creationId xmlns:a16="http://schemas.microsoft.com/office/drawing/2014/main" id="{383075D7-F006-A81F-68F1-A5F218FAF004}"/>
              </a:ext>
            </a:extLst>
          </p:cNvPr>
          <p:cNvPicPr>
            <a:picLocks noChangeAspect="1"/>
          </p:cNvPicPr>
          <p:nvPr userDrawn="1"/>
        </p:nvPicPr>
        <p:blipFill>
          <a:blip r:embed="rId18">
            <a:extLst>
              <a:ext uri="{BEBA8EAE-BF5A-486C-A8C5-ECC9F3942E4B}">
                <a14:imgProps xmlns:a14="http://schemas.microsoft.com/office/drawing/2010/main">
                  <a14:imgLayer r:embed="rId19">
                    <a14:imgEffect>
                      <a14:brightnessContrast bright="-20000" contrast="20000"/>
                    </a14:imgEffect>
                  </a14:imgLayer>
                </a14:imgProps>
              </a:ext>
            </a:extLst>
          </a:blip>
          <a:stretch>
            <a:fillRect/>
          </a:stretch>
        </p:blipFill>
        <p:spPr>
          <a:xfrm>
            <a:off x="105554" y="6358271"/>
            <a:ext cx="964436" cy="411216"/>
          </a:xfrm>
          <a:prstGeom prst="rect">
            <a:avLst/>
          </a:prstGeom>
        </p:spPr>
      </p:pic>
    </p:spTree>
    <p:extLst>
      <p:ext uri="{BB962C8B-B14F-4D97-AF65-F5344CB8AC3E}">
        <p14:creationId xmlns:p14="http://schemas.microsoft.com/office/powerpoint/2010/main" val="26804827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hyperlink" Target="https://doi.org/10.1038/s41597-022-01455-7" TargetMode="Externa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2FAD1-6F15-9A46-1A46-9C288FB58AFF}"/>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3C221ABA-FEDF-DC69-D194-263DA02A0E3D}"/>
              </a:ext>
            </a:extLst>
          </p:cNvPr>
          <p:cNvSpPr/>
          <p:nvPr/>
        </p:nvSpPr>
        <p:spPr>
          <a:xfrm>
            <a:off x="-31269" y="29737"/>
            <a:ext cx="12254538" cy="6868389"/>
          </a:xfrm>
          <a:prstGeom prst="rect">
            <a:avLst/>
          </a:prstGeom>
          <a:gradFill>
            <a:gsLst>
              <a:gs pos="0">
                <a:srgbClr val="47BDAF"/>
              </a:gs>
              <a:gs pos="100000">
                <a:srgbClr val="3793A6"/>
              </a:gs>
              <a:gs pos="39000">
                <a:srgbClr val="1C4D98"/>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utiger LT Pro 45 Light" panose="020B0403030504020204" pitchFamily="34" charset="0"/>
              <a:ea typeface="+mn-ea"/>
              <a:cs typeface="+mn-cs"/>
            </a:endParaRPr>
          </a:p>
        </p:txBody>
      </p:sp>
      <p:sp>
        <p:nvSpPr>
          <p:cNvPr id="14" name="Text Placeholder 1">
            <a:extLst>
              <a:ext uri="{FF2B5EF4-FFF2-40B4-BE49-F238E27FC236}">
                <a16:creationId xmlns:a16="http://schemas.microsoft.com/office/drawing/2014/main" id="{94048791-3D28-6034-6ED1-BB4A3651802C}"/>
              </a:ext>
            </a:extLst>
          </p:cNvPr>
          <p:cNvSpPr>
            <a:spLocks noGrp="1"/>
          </p:cNvSpPr>
          <p:nvPr>
            <p:ph type="body" sz="quarter" idx="13"/>
          </p:nvPr>
        </p:nvSpPr>
        <p:spPr>
          <a:xfrm>
            <a:off x="2289635" y="17705"/>
            <a:ext cx="6910121" cy="1058125"/>
          </a:xfrm>
        </p:spPr>
        <p:txBody>
          <a:bodyPr/>
          <a:lstStyle/>
          <a:p>
            <a:pPr marL="0" indent="0" algn="ctr">
              <a:buNone/>
            </a:pPr>
            <a:r>
              <a:rPr lang="en-US" sz="4400" dirty="0" err="1">
                <a:solidFill>
                  <a:schemeClr val="bg1"/>
                </a:solidFill>
              </a:rPr>
              <a:t>M.Tech</a:t>
            </a:r>
            <a:r>
              <a:rPr lang="en-US" sz="4400" dirty="0">
                <a:solidFill>
                  <a:schemeClr val="bg1"/>
                </a:solidFill>
              </a:rPr>
              <a:t> Program </a:t>
            </a:r>
          </a:p>
          <a:p>
            <a:pPr marL="0" indent="0" algn="ctr">
              <a:buNone/>
            </a:pPr>
            <a:r>
              <a:rPr lang="en-US" sz="2000" dirty="0">
                <a:solidFill>
                  <a:schemeClr val="bg1"/>
                </a:solidFill>
              </a:rPr>
              <a:t>Advanced Industry Integrated Programs</a:t>
            </a:r>
          </a:p>
        </p:txBody>
      </p:sp>
      <p:cxnSp>
        <p:nvCxnSpPr>
          <p:cNvPr id="15" name="Straight Connector 14">
            <a:extLst>
              <a:ext uri="{FF2B5EF4-FFF2-40B4-BE49-F238E27FC236}">
                <a16:creationId xmlns:a16="http://schemas.microsoft.com/office/drawing/2014/main" id="{8F2C7A6F-AD16-6157-E788-D986DC1A4250}"/>
              </a:ext>
            </a:extLst>
          </p:cNvPr>
          <p:cNvCxnSpPr/>
          <p:nvPr/>
        </p:nvCxnSpPr>
        <p:spPr>
          <a:xfrm>
            <a:off x="2977350" y="1120307"/>
            <a:ext cx="58662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08A1A259-442C-3B64-49CA-63C7AB470929}"/>
              </a:ext>
            </a:extLst>
          </p:cNvPr>
          <p:cNvSpPr/>
          <p:nvPr/>
        </p:nvSpPr>
        <p:spPr>
          <a:xfrm>
            <a:off x="4125951" y="1177578"/>
            <a:ext cx="3033131" cy="286036"/>
          </a:xfrm>
          <a:prstGeom prst="roundRect">
            <a:avLst/>
          </a:prstGeom>
          <a:solidFill>
            <a:schemeClr val="accent6">
              <a:lumMod val="20000"/>
              <a:lumOff val="80000"/>
            </a:schemeClr>
          </a:solid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dirty="0">
                <a:ln>
                  <a:noFill/>
                </a:ln>
                <a:solidFill>
                  <a:srgbClr val="595959"/>
                </a:solidFill>
                <a:effectLst/>
                <a:uLnTx/>
                <a:uFillTx/>
                <a:latin typeface="Frutiger 45 bold"/>
                <a:ea typeface="+mn-ea"/>
                <a:cs typeface="Calibri" panose="020F0502020204030204" pitchFamily="34" charset="0"/>
              </a:rPr>
              <a:t>Jointly offered by University and LTIMindTree</a:t>
            </a:r>
          </a:p>
        </p:txBody>
      </p:sp>
      <p:sp>
        <p:nvSpPr>
          <p:cNvPr id="4" name="TextBox 3">
            <a:extLst>
              <a:ext uri="{FF2B5EF4-FFF2-40B4-BE49-F238E27FC236}">
                <a16:creationId xmlns:a16="http://schemas.microsoft.com/office/drawing/2014/main" id="{593E7F9B-B36B-73DA-6BF1-11FA8B35B35B}"/>
              </a:ext>
            </a:extLst>
          </p:cNvPr>
          <p:cNvSpPr txBox="1"/>
          <p:nvPr/>
        </p:nvSpPr>
        <p:spPr>
          <a:xfrm>
            <a:off x="180236" y="1659822"/>
            <a:ext cx="11428184" cy="49859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dirty="0">
                <a:solidFill>
                  <a:prstClr val="white"/>
                </a:solidFill>
                <a:cs typeface="Calibri" panose="020F0502020204030204" pitchFamily="34" charset="0"/>
              </a:rPr>
              <a:t>Review III</a:t>
            </a:r>
          </a:p>
          <a:p>
            <a:r>
              <a:rPr lang="en-IN" sz="3600" b="1" dirty="0" err="1">
                <a:solidFill>
                  <a:schemeClr val="bg1"/>
                </a:solidFill>
              </a:rPr>
              <a:t>GridRCA</a:t>
            </a:r>
            <a:r>
              <a:rPr lang="en-IN" sz="3600" b="1" dirty="0">
                <a:solidFill>
                  <a:schemeClr val="bg1"/>
                </a:solidFill>
              </a:rPr>
              <a:t>: A RAG-Driven Framework for Data Lineage-Aware Root-Cause Investigation in Power Grid Operations</a:t>
            </a:r>
            <a:endParaRPr lang="en-IN" sz="3600" dirty="0">
              <a:solidFill>
                <a:schemeClr val="bg1"/>
              </a:solidFill>
            </a:endParaRP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a:p>
            <a:pPr lvl="0" algn="ctr">
              <a:defRPr/>
            </a:pPr>
            <a:r>
              <a:rPr lang="en-US" sz="2400" b="1" dirty="0">
                <a:solidFill>
                  <a:prstClr val="white"/>
                </a:solidFill>
                <a:cs typeface="Calibri" panose="020F0502020204030204" pitchFamily="34" charset="0"/>
              </a:rPr>
              <a:t>Team Member</a:t>
            </a:r>
          </a:p>
          <a:p>
            <a:pPr algn="ctr">
              <a:defRPr/>
            </a:pPr>
            <a:r>
              <a:rPr lang="en-US" sz="2400" b="1" dirty="0">
                <a:solidFill>
                  <a:prstClr val="white"/>
                </a:solidFill>
                <a:cs typeface="Calibri" panose="020F0502020204030204" pitchFamily="34" charset="0"/>
              </a:rPr>
              <a:t>Sanika Gaikwad (T9996)</a:t>
            </a:r>
          </a:p>
          <a:p>
            <a:pPr lvl="0" algn="ctr">
              <a:defRPr/>
            </a:pPr>
            <a:endParaRPr lang="en-US" sz="5400" b="1" dirty="0">
              <a:solidFill>
                <a:prstClr val="white"/>
              </a:solidFill>
              <a:latin typeface="Frutiger 45 bold"/>
              <a:cs typeface="Calibri" panose="020F0502020204030204" pitchFamily="34" charset="0"/>
            </a:endParaRP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p:txBody>
      </p:sp>
      <p:graphicFrame>
        <p:nvGraphicFramePr>
          <p:cNvPr id="3" name="Table 2">
            <a:extLst>
              <a:ext uri="{FF2B5EF4-FFF2-40B4-BE49-F238E27FC236}">
                <a16:creationId xmlns:a16="http://schemas.microsoft.com/office/drawing/2014/main" id="{8CD2D133-59BD-516F-1662-C295DA35D90D}"/>
              </a:ext>
            </a:extLst>
          </p:cNvPr>
          <p:cNvGraphicFramePr>
            <a:graphicFrameLocks noGrp="1"/>
          </p:cNvGraphicFramePr>
          <p:nvPr/>
        </p:nvGraphicFramePr>
        <p:xfrm>
          <a:off x="-47290" y="5501244"/>
          <a:ext cx="12239216" cy="3264833"/>
        </p:xfrm>
        <a:graphic>
          <a:graphicData uri="http://schemas.openxmlformats.org/drawingml/2006/table">
            <a:tbl>
              <a:tblPr firstRow="1" bandRow="1">
                <a:tableStyleId>{5940675A-B579-460E-94D1-54222C63F5DA}</a:tableStyleId>
              </a:tblPr>
              <a:tblGrid>
                <a:gridCol w="6119608">
                  <a:extLst>
                    <a:ext uri="{9D8B030D-6E8A-4147-A177-3AD203B41FA5}">
                      <a16:colId xmlns:a16="http://schemas.microsoft.com/office/drawing/2014/main" val="586572480"/>
                    </a:ext>
                  </a:extLst>
                </a:gridCol>
                <a:gridCol w="6119608">
                  <a:extLst>
                    <a:ext uri="{9D8B030D-6E8A-4147-A177-3AD203B41FA5}">
                      <a16:colId xmlns:a16="http://schemas.microsoft.com/office/drawing/2014/main" val="157907922"/>
                    </a:ext>
                  </a:extLst>
                </a:gridCol>
              </a:tblGrid>
              <a:tr h="15274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Knowledge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                                                                     Implementation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3668230"/>
                  </a:ext>
                </a:extLst>
              </a:tr>
              <a:tr h="1184198">
                <a:tc>
                  <a:txBody>
                    <a:bodyPr/>
                    <a:lstStyle/>
                    <a:p>
                      <a:endParaRPr lang="en-US" dirty="0"/>
                    </a:p>
                    <a:p>
                      <a:endParaRPr lang="en-US" dirty="0"/>
                    </a:p>
                    <a:p>
                      <a:endParaRPr lang="en-US" dirty="0"/>
                    </a:p>
                    <a:p>
                      <a:endParaRPr lang="en-US" dirty="0"/>
                    </a:p>
                    <a:p>
                      <a:endParaRPr lang="en-US" dirty="0"/>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66263768"/>
                  </a:ext>
                </a:extLst>
              </a:tr>
            </a:tbl>
          </a:graphicData>
        </a:graphic>
      </p:graphicFrame>
      <p:pic>
        <p:nvPicPr>
          <p:cNvPr id="8" name="Picture 7">
            <a:extLst>
              <a:ext uri="{FF2B5EF4-FFF2-40B4-BE49-F238E27FC236}">
                <a16:creationId xmlns:a16="http://schemas.microsoft.com/office/drawing/2014/main" id="{3C333287-38E5-66C4-0383-9B851622019B}"/>
              </a:ext>
            </a:extLst>
          </p:cNvPr>
          <p:cNvPicPr>
            <a:picLocks noChangeAspect="1"/>
          </p:cNvPicPr>
          <p:nvPr/>
        </p:nvPicPr>
        <p:blipFill>
          <a:blip r:embed="rId3"/>
          <a:stretch>
            <a:fillRect/>
          </a:stretch>
        </p:blipFill>
        <p:spPr>
          <a:xfrm>
            <a:off x="9775332" y="5852667"/>
            <a:ext cx="1987468" cy="847417"/>
          </a:xfrm>
          <a:prstGeom prst="rect">
            <a:avLst/>
          </a:prstGeom>
        </p:spPr>
      </p:pic>
      <p:pic>
        <p:nvPicPr>
          <p:cNvPr id="5" name="Picture 4">
            <a:extLst>
              <a:ext uri="{FF2B5EF4-FFF2-40B4-BE49-F238E27FC236}">
                <a16:creationId xmlns:a16="http://schemas.microsoft.com/office/drawing/2014/main" id="{EE8A6EF8-4ACA-6167-0DF1-DE2859147E0F}"/>
              </a:ext>
            </a:extLst>
          </p:cNvPr>
          <p:cNvPicPr>
            <a:picLocks noChangeAspect="1"/>
          </p:cNvPicPr>
          <p:nvPr/>
        </p:nvPicPr>
        <p:blipFill>
          <a:blip r:embed="rId4"/>
          <a:srcRect t="30608" b="28733"/>
          <a:stretch>
            <a:fillRect/>
          </a:stretch>
        </p:blipFill>
        <p:spPr>
          <a:xfrm>
            <a:off x="148893" y="5926906"/>
            <a:ext cx="3064026" cy="730928"/>
          </a:xfrm>
          <a:prstGeom prst="rect">
            <a:avLst/>
          </a:prstGeom>
        </p:spPr>
      </p:pic>
    </p:spTree>
    <p:extLst>
      <p:ext uri="{BB962C8B-B14F-4D97-AF65-F5344CB8AC3E}">
        <p14:creationId xmlns:p14="http://schemas.microsoft.com/office/powerpoint/2010/main" val="7299908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95030-016B-DDFB-3EC4-4C7FED89676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087E25C-1104-A42D-A108-21248EBB35CB}"/>
              </a:ext>
            </a:extLst>
          </p:cNvPr>
          <p:cNvSpPr>
            <a:spLocks noGrp="1"/>
          </p:cNvSpPr>
          <p:nvPr>
            <p:ph type="body" sz="quarter" idx="13"/>
          </p:nvPr>
        </p:nvSpPr>
        <p:spPr>
          <a:xfrm>
            <a:off x="255996" y="1357505"/>
            <a:ext cx="11379744" cy="4142989"/>
          </a:xfrm>
        </p:spPr>
        <p:txBody>
          <a:bodyPr/>
          <a:lstStyle/>
          <a:p>
            <a:pPr lvl="0"/>
            <a:r>
              <a:rPr lang="en-IN" dirty="0">
                <a:latin typeface="+mn-lt"/>
              </a:rPr>
              <a:t>Power grids generate large amounts of measurement and event data.</a:t>
            </a:r>
          </a:p>
          <a:p>
            <a:pPr lvl="0"/>
            <a:r>
              <a:rPr lang="en-IN" dirty="0">
                <a:latin typeface="+mn-lt"/>
              </a:rPr>
              <a:t>Detecting an abnormal event does not directly identify its cause.</a:t>
            </a:r>
          </a:p>
          <a:p>
            <a:pPr lvl="0"/>
            <a:r>
              <a:rPr lang="en-IN" dirty="0" err="1">
                <a:latin typeface="+mn-lt"/>
              </a:rPr>
              <a:t>GridRCA</a:t>
            </a:r>
            <a:r>
              <a:rPr lang="en-IN" dirty="0">
                <a:latin typeface="+mn-lt"/>
              </a:rPr>
              <a:t> combines telemetry, grid connections, machine learning and technical knowledge.</a:t>
            </a:r>
          </a:p>
          <a:p>
            <a:pPr lvl="0"/>
            <a:r>
              <a:rPr lang="en-IN" dirty="0">
                <a:latin typeface="+mn-lt"/>
              </a:rPr>
              <a:t>It ranks likely root-cause components and provides supporting evidence.</a:t>
            </a:r>
          </a:p>
        </p:txBody>
      </p:sp>
      <p:sp>
        <p:nvSpPr>
          <p:cNvPr id="3" name="TextBox 2">
            <a:extLst>
              <a:ext uri="{FF2B5EF4-FFF2-40B4-BE49-F238E27FC236}">
                <a16:creationId xmlns:a16="http://schemas.microsoft.com/office/drawing/2014/main" id="{D3D27456-B624-0A55-6DE2-E24E9682080D}"/>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Introduction</a:t>
            </a:r>
          </a:p>
        </p:txBody>
      </p:sp>
      <p:cxnSp>
        <p:nvCxnSpPr>
          <p:cNvPr id="5" name="Straight Connector 4">
            <a:extLst>
              <a:ext uri="{FF2B5EF4-FFF2-40B4-BE49-F238E27FC236}">
                <a16:creationId xmlns:a16="http://schemas.microsoft.com/office/drawing/2014/main" id="{6021A31F-593A-AF8C-A2EA-4AAE8D4433AB}"/>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837C60FE-1D98-751F-D5CC-98C5B6E69DEA}"/>
              </a:ext>
            </a:extLst>
          </p:cNvPr>
          <p:cNvSpPr txBox="1"/>
          <p:nvPr/>
        </p:nvSpPr>
        <p:spPr>
          <a:xfrm>
            <a:off x="6093893" y="57036"/>
            <a:ext cx="6098107" cy="646331"/>
          </a:xfrm>
          <a:prstGeom prst="rect">
            <a:avLst/>
          </a:prstGeom>
          <a:noFill/>
        </p:spPr>
        <p:txBody>
          <a:bodyPr wrap="square" rtlCol="0">
            <a:spAutoFit/>
          </a:bodyPr>
          <a:lstStyle/>
          <a:p>
            <a:pPr algn="r"/>
            <a:r>
              <a:rPr lang="en-IN" dirty="0">
                <a:solidFill>
                  <a:schemeClr val="bg1"/>
                </a:solidFill>
              </a:rPr>
              <a:t>Power Grid RCA</a:t>
            </a:r>
            <a:endParaRPr lang="en-US" dirty="0">
              <a:solidFill>
                <a:schemeClr val="bg1"/>
              </a:solidFill>
            </a:endParaRPr>
          </a:p>
          <a:p>
            <a:pPr algn="r"/>
            <a:endParaRPr lang="en-US" dirty="0"/>
          </a:p>
        </p:txBody>
      </p:sp>
    </p:spTree>
    <p:extLst>
      <p:ext uri="{BB962C8B-B14F-4D97-AF65-F5344CB8AC3E}">
        <p14:creationId xmlns:p14="http://schemas.microsoft.com/office/powerpoint/2010/main" val="4073542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0319C-B0A7-140A-76B3-68DE7B6F52A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0862D2F-BB29-A5E6-DE24-95E69600EE99}"/>
              </a:ext>
            </a:extLst>
          </p:cNvPr>
          <p:cNvSpPr>
            <a:spLocks noGrp="1"/>
          </p:cNvSpPr>
          <p:nvPr>
            <p:ph type="body" sz="quarter" idx="13"/>
          </p:nvPr>
        </p:nvSpPr>
        <p:spPr>
          <a:xfrm>
            <a:off x="255996" y="1457711"/>
            <a:ext cx="11539764" cy="4142989"/>
          </a:xfrm>
        </p:spPr>
        <p:txBody>
          <a:bodyPr/>
          <a:lstStyle/>
          <a:p>
            <a:pPr lvl="0"/>
            <a:r>
              <a:rPr lang="en-IN" dirty="0">
                <a:latin typeface="+mn-lt"/>
              </a:rPr>
              <a:t>Classify abnormal power-grid events.</a:t>
            </a:r>
          </a:p>
          <a:p>
            <a:pPr lvl="0"/>
            <a:r>
              <a:rPr lang="en-IN" dirty="0">
                <a:latin typeface="+mn-lt"/>
              </a:rPr>
              <a:t>Identify likely buses or branches involved in a disturbance.</a:t>
            </a:r>
          </a:p>
          <a:p>
            <a:pPr lvl="0"/>
            <a:r>
              <a:rPr lang="en-IN" dirty="0">
                <a:latin typeface="+mn-lt"/>
              </a:rPr>
              <a:t>Combine telemetry, timing, topology and physical evidence.</a:t>
            </a:r>
          </a:p>
          <a:p>
            <a:pPr lvl="0"/>
            <a:r>
              <a:rPr lang="en-IN" dirty="0">
                <a:latin typeface="+mn-lt"/>
              </a:rPr>
              <a:t>Use RAG to retrieve technical knowledge for explanations.</a:t>
            </a:r>
          </a:p>
          <a:p>
            <a:pPr lvl="0"/>
            <a:r>
              <a:rPr lang="en-IN" dirty="0">
                <a:latin typeface="+mn-lt"/>
              </a:rPr>
              <a:t>Display results through a web-based dashboard.</a:t>
            </a:r>
          </a:p>
        </p:txBody>
      </p:sp>
      <p:sp>
        <p:nvSpPr>
          <p:cNvPr id="3" name="TextBox 2">
            <a:extLst>
              <a:ext uri="{FF2B5EF4-FFF2-40B4-BE49-F238E27FC236}">
                <a16:creationId xmlns:a16="http://schemas.microsoft.com/office/drawing/2014/main" id="{064A1368-DCB0-DEA8-A3B6-FAEAC2E921B8}"/>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Objective</a:t>
            </a:r>
          </a:p>
        </p:txBody>
      </p:sp>
      <p:cxnSp>
        <p:nvCxnSpPr>
          <p:cNvPr id="5" name="Straight Connector 4">
            <a:extLst>
              <a:ext uri="{FF2B5EF4-FFF2-40B4-BE49-F238E27FC236}">
                <a16:creationId xmlns:a16="http://schemas.microsoft.com/office/drawing/2014/main" id="{0D94D8FE-7B12-26D7-5055-08FA6D849020}"/>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012F5D4-DF8E-07A5-335A-06CD135BF308}"/>
              </a:ext>
            </a:extLst>
          </p:cNvPr>
          <p:cNvSpPr txBox="1"/>
          <p:nvPr/>
        </p:nvSpPr>
        <p:spPr>
          <a:xfrm>
            <a:off x="6093893" y="57036"/>
            <a:ext cx="6098107" cy="646331"/>
          </a:xfrm>
          <a:prstGeom prst="rect">
            <a:avLst/>
          </a:prstGeom>
          <a:noFill/>
        </p:spPr>
        <p:txBody>
          <a:bodyPr wrap="square" rtlCol="0">
            <a:spAutoFit/>
          </a:bodyPr>
          <a:lstStyle/>
          <a:p>
            <a:pPr algn="r"/>
            <a:r>
              <a:rPr lang="en-IN" dirty="0">
                <a:solidFill>
                  <a:schemeClr val="bg1"/>
                </a:solidFill>
              </a:rPr>
              <a:t>Power Grid RCA</a:t>
            </a:r>
            <a:endParaRPr lang="en-US" dirty="0">
              <a:solidFill>
                <a:schemeClr val="bg1"/>
              </a:solidFill>
            </a:endParaRPr>
          </a:p>
          <a:p>
            <a:pPr algn="r"/>
            <a:endParaRPr lang="en-US" dirty="0"/>
          </a:p>
        </p:txBody>
      </p:sp>
    </p:spTree>
    <p:extLst>
      <p:ext uri="{BB962C8B-B14F-4D97-AF65-F5344CB8AC3E}">
        <p14:creationId xmlns:p14="http://schemas.microsoft.com/office/powerpoint/2010/main" val="1444376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57E10-FB4C-8808-CF6C-48B1F522C04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66FCBF0-62B9-2E59-2776-57F64483446B}"/>
              </a:ext>
            </a:extLst>
          </p:cNvPr>
          <p:cNvSpPr>
            <a:spLocks noGrp="1"/>
          </p:cNvSpPr>
          <p:nvPr>
            <p:ph type="body" sz="quarter" idx="13"/>
          </p:nvPr>
        </p:nvSpPr>
        <p:spPr>
          <a:xfrm>
            <a:off x="416016" y="1271221"/>
            <a:ext cx="10624338" cy="4395023"/>
          </a:xfrm>
        </p:spPr>
        <p:txBody>
          <a:bodyPr/>
          <a:lstStyle/>
          <a:p>
            <a:pPr marL="0" indent="0">
              <a:buNone/>
            </a:pPr>
            <a:r>
              <a:rPr lang="en-IN" dirty="0">
                <a:latin typeface="+mn-lt"/>
              </a:rPr>
              <a:t>1. Data Module</a:t>
            </a:r>
          </a:p>
          <a:p>
            <a:pPr lvl="1"/>
            <a:r>
              <a:rPr lang="en-IN" sz="2800" dirty="0">
                <a:solidFill>
                  <a:schemeClr val="accent1"/>
                </a:solidFill>
              </a:rPr>
              <a:t>PSML events, telemetry and grid topology.</a:t>
            </a:r>
          </a:p>
          <a:p>
            <a:pPr marL="0" indent="0">
              <a:buNone/>
            </a:pPr>
            <a:r>
              <a:rPr lang="en-IN" dirty="0">
                <a:latin typeface="+mn-lt"/>
              </a:rPr>
              <a:t>2. Machine Learning Module</a:t>
            </a:r>
          </a:p>
          <a:p>
            <a:pPr lvl="1"/>
            <a:r>
              <a:rPr lang="en-IN" sz="2800" dirty="0">
                <a:solidFill>
                  <a:schemeClr val="accent1"/>
                </a:solidFill>
              </a:rPr>
              <a:t>Event classification and temporal models.</a:t>
            </a:r>
          </a:p>
          <a:p>
            <a:pPr marL="0" indent="0">
              <a:buNone/>
            </a:pPr>
            <a:r>
              <a:rPr lang="en-IN" dirty="0">
                <a:latin typeface="+mn-lt"/>
              </a:rPr>
              <a:t>3. RCA Module</a:t>
            </a:r>
          </a:p>
          <a:p>
            <a:pPr lvl="1"/>
            <a:r>
              <a:rPr lang="en-IN" sz="2800" dirty="0">
                <a:solidFill>
                  <a:schemeClr val="accent1"/>
                </a:solidFill>
              </a:rPr>
              <a:t>Evidence scoring and candidate ranking.</a:t>
            </a:r>
          </a:p>
          <a:p>
            <a:pPr marL="0" indent="0">
              <a:buNone/>
            </a:pPr>
            <a:r>
              <a:rPr lang="en-IN" dirty="0">
                <a:latin typeface="+mn-lt"/>
              </a:rPr>
              <a:t>4. RAG Module</a:t>
            </a:r>
          </a:p>
          <a:p>
            <a:pPr lvl="1"/>
            <a:r>
              <a:rPr lang="en-IN" sz="2800" dirty="0">
                <a:solidFill>
                  <a:schemeClr val="accent1"/>
                </a:solidFill>
              </a:rPr>
              <a:t>Technical knowledge retrieval and explanations.</a:t>
            </a:r>
          </a:p>
          <a:p>
            <a:pPr marL="0" indent="0">
              <a:buNone/>
            </a:pPr>
            <a:r>
              <a:rPr lang="en-IN" dirty="0">
                <a:latin typeface="+mn-lt"/>
              </a:rPr>
              <a:t>5. Application Module</a:t>
            </a:r>
          </a:p>
          <a:p>
            <a:pPr lvl="1"/>
            <a:r>
              <a:rPr lang="en-IN" sz="2800" dirty="0" err="1">
                <a:solidFill>
                  <a:schemeClr val="accent1"/>
                </a:solidFill>
              </a:rPr>
              <a:t>FastAPI</a:t>
            </a:r>
            <a:r>
              <a:rPr lang="en-IN" sz="2800" dirty="0">
                <a:solidFill>
                  <a:schemeClr val="accent1"/>
                </a:solidFill>
              </a:rPr>
              <a:t> backend and React dashboard.</a:t>
            </a:r>
          </a:p>
          <a:p>
            <a:pPr marL="0" indent="0">
              <a:buNone/>
            </a:pPr>
            <a:endParaRPr lang="en-US" dirty="0">
              <a:solidFill>
                <a:srgbClr val="1C3898"/>
              </a:solidFill>
              <a:latin typeface="+mn-lt"/>
            </a:endParaRPr>
          </a:p>
        </p:txBody>
      </p:sp>
      <p:sp>
        <p:nvSpPr>
          <p:cNvPr id="3" name="TextBox 2">
            <a:extLst>
              <a:ext uri="{FF2B5EF4-FFF2-40B4-BE49-F238E27FC236}">
                <a16:creationId xmlns:a16="http://schemas.microsoft.com/office/drawing/2014/main" id="{F76E48CB-83F3-EA33-8D0B-93054E9FA847}"/>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Modules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77371EEC-517B-58CA-9C8F-E6B0692EFC1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DE79BC8F-DAAF-D2AE-1FA4-BC139FA28EF8}"/>
              </a:ext>
            </a:extLst>
          </p:cNvPr>
          <p:cNvSpPr txBox="1"/>
          <p:nvPr/>
        </p:nvSpPr>
        <p:spPr>
          <a:xfrm>
            <a:off x="6093893" y="57036"/>
            <a:ext cx="6098107" cy="646331"/>
          </a:xfrm>
          <a:prstGeom prst="rect">
            <a:avLst/>
          </a:prstGeom>
          <a:noFill/>
        </p:spPr>
        <p:txBody>
          <a:bodyPr wrap="square" rtlCol="0">
            <a:spAutoFit/>
          </a:bodyPr>
          <a:lstStyle/>
          <a:p>
            <a:pPr algn="r"/>
            <a:r>
              <a:rPr lang="en-IN" dirty="0">
                <a:solidFill>
                  <a:schemeClr val="bg1"/>
                </a:solidFill>
              </a:rPr>
              <a:t>Power Grid RCA</a:t>
            </a:r>
            <a:endParaRPr lang="en-US" dirty="0">
              <a:solidFill>
                <a:schemeClr val="bg1"/>
              </a:solidFill>
            </a:endParaRPr>
          </a:p>
          <a:p>
            <a:pPr algn="r"/>
            <a:endParaRPr lang="en-US" dirty="0"/>
          </a:p>
        </p:txBody>
      </p:sp>
    </p:spTree>
    <p:extLst>
      <p:ext uri="{BB962C8B-B14F-4D97-AF65-F5344CB8AC3E}">
        <p14:creationId xmlns:p14="http://schemas.microsoft.com/office/powerpoint/2010/main" val="36039172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1D813-71FB-F806-AC13-8A288990F78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A8DE6AB-41E6-F2AA-38DD-512A73EED707}"/>
              </a:ext>
            </a:extLst>
          </p:cNvPr>
          <p:cNvSpPr>
            <a:spLocks noGrp="1"/>
          </p:cNvSpPr>
          <p:nvPr>
            <p:ph type="body" sz="quarter" idx="13"/>
          </p:nvPr>
        </p:nvSpPr>
        <p:spPr>
          <a:xfrm>
            <a:off x="255996" y="1523255"/>
            <a:ext cx="10968264" cy="4142989"/>
          </a:xfrm>
        </p:spPr>
        <p:txBody>
          <a:bodyPr/>
          <a:lstStyle/>
          <a:p>
            <a:pPr lvl="0"/>
            <a:r>
              <a:rPr lang="en-IN" dirty="0"/>
              <a:t>Power-grid disturbances can affect multiple connected components.</a:t>
            </a:r>
          </a:p>
          <a:p>
            <a:pPr lvl="0"/>
            <a:r>
              <a:rPr lang="en-IN" dirty="0"/>
              <a:t>Abnormal telemetry does not always reveal the root cause.</a:t>
            </a:r>
          </a:p>
          <a:p>
            <a:pPr lvl="0"/>
            <a:r>
              <a:rPr lang="en-IN" dirty="0"/>
              <a:t>A single model prediction may not provide sufficient evidence.</a:t>
            </a:r>
          </a:p>
          <a:p>
            <a:pPr lvl="0"/>
            <a:r>
              <a:rPr lang="en-IN" dirty="0"/>
              <a:t>A system is needed to rank likely causes and explain its decisions using telemetry, topology and technical knowledge.</a:t>
            </a:r>
          </a:p>
        </p:txBody>
      </p:sp>
      <p:sp>
        <p:nvSpPr>
          <p:cNvPr id="3" name="TextBox 2">
            <a:extLst>
              <a:ext uri="{FF2B5EF4-FFF2-40B4-BE49-F238E27FC236}">
                <a16:creationId xmlns:a16="http://schemas.microsoft.com/office/drawing/2014/main" id="{1BDB443C-9AB9-864A-8D09-F2C6CE41BE93}"/>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Problem Statement</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E7FED85B-D841-89F8-67B1-2965F79BFA13}"/>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493F92E-8E32-ED10-2267-01D6AEE49D8E}"/>
              </a:ext>
            </a:extLst>
          </p:cNvPr>
          <p:cNvSpPr txBox="1"/>
          <p:nvPr/>
        </p:nvSpPr>
        <p:spPr>
          <a:xfrm>
            <a:off x="6093893" y="57036"/>
            <a:ext cx="6098107" cy="646331"/>
          </a:xfrm>
          <a:prstGeom prst="rect">
            <a:avLst/>
          </a:prstGeom>
          <a:noFill/>
        </p:spPr>
        <p:txBody>
          <a:bodyPr wrap="square" rtlCol="0">
            <a:spAutoFit/>
          </a:bodyPr>
          <a:lstStyle/>
          <a:p>
            <a:pPr algn="r"/>
            <a:r>
              <a:rPr lang="en-IN" dirty="0">
                <a:solidFill>
                  <a:schemeClr val="bg1"/>
                </a:solidFill>
              </a:rPr>
              <a:t>Power Grid RCA</a:t>
            </a:r>
            <a:endParaRPr lang="en-US" dirty="0">
              <a:solidFill>
                <a:schemeClr val="bg1"/>
              </a:solidFill>
            </a:endParaRPr>
          </a:p>
          <a:p>
            <a:pPr algn="r"/>
            <a:endParaRPr lang="en-US" dirty="0"/>
          </a:p>
        </p:txBody>
      </p:sp>
    </p:spTree>
    <p:extLst>
      <p:ext uri="{BB962C8B-B14F-4D97-AF65-F5344CB8AC3E}">
        <p14:creationId xmlns:p14="http://schemas.microsoft.com/office/powerpoint/2010/main" val="37023078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1F048-1A6C-CED3-4B8F-E1E5F5BED09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DDE1FF6-7717-7393-3207-89E65515F635}"/>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Methodology</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31605FF0-E4F7-5384-5790-FC3EE81FD4FF}"/>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8B3276E-F752-65FD-0854-9B2509A1A888}"/>
              </a:ext>
            </a:extLst>
          </p:cNvPr>
          <p:cNvSpPr txBox="1"/>
          <p:nvPr/>
        </p:nvSpPr>
        <p:spPr>
          <a:xfrm>
            <a:off x="6093893" y="57036"/>
            <a:ext cx="6098107" cy="646331"/>
          </a:xfrm>
          <a:prstGeom prst="rect">
            <a:avLst/>
          </a:prstGeom>
          <a:noFill/>
        </p:spPr>
        <p:txBody>
          <a:bodyPr wrap="square" rtlCol="0">
            <a:spAutoFit/>
          </a:bodyPr>
          <a:lstStyle/>
          <a:p>
            <a:pPr algn="r"/>
            <a:r>
              <a:rPr lang="en-IN" dirty="0">
                <a:solidFill>
                  <a:schemeClr val="bg1"/>
                </a:solidFill>
              </a:rPr>
              <a:t>Power Grid RCA</a:t>
            </a:r>
            <a:endParaRPr lang="en-US" dirty="0">
              <a:solidFill>
                <a:schemeClr val="bg1"/>
              </a:solidFill>
            </a:endParaRPr>
          </a:p>
          <a:p>
            <a:pPr algn="r"/>
            <a:endParaRPr lang="en-US" dirty="0"/>
          </a:p>
        </p:txBody>
      </p:sp>
      <p:pic>
        <p:nvPicPr>
          <p:cNvPr id="6" name="Picture 5">
            <a:extLst>
              <a:ext uri="{FF2B5EF4-FFF2-40B4-BE49-F238E27FC236}">
                <a16:creationId xmlns:a16="http://schemas.microsoft.com/office/drawing/2014/main" id="{A23403D3-DC51-95BF-19F4-DB58E4BA4E9C}"/>
              </a:ext>
            </a:extLst>
          </p:cNvPr>
          <p:cNvPicPr>
            <a:picLocks noChangeAspect="1"/>
          </p:cNvPicPr>
          <p:nvPr/>
        </p:nvPicPr>
        <p:blipFill>
          <a:blip r:embed="rId2">
            <a:extLst>
              <a:ext uri="{28A0092B-C50C-407E-A947-70E740481C1C}">
                <a14:useLocalDpi xmlns:a14="http://schemas.microsoft.com/office/drawing/2010/main" val="0"/>
              </a:ext>
            </a:extLst>
          </a:blip>
          <a:srcRect t="23743" b="4113"/>
          <a:stretch>
            <a:fillRect/>
          </a:stretch>
        </p:blipFill>
        <p:spPr>
          <a:xfrm>
            <a:off x="434340" y="1594385"/>
            <a:ext cx="11757660" cy="4071859"/>
          </a:xfrm>
          <a:prstGeom prst="rect">
            <a:avLst/>
          </a:prstGeom>
        </p:spPr>
      </p:pic>
    </p:spTree>
    <p:extLst>
      <p:ext uri="{BB962C8B-B14F-4D97-AF65-F5344CB8AC3E}">
        <p14:creationId xmlns:p14="http://schemas.microsoft.com/office/powerpoint/2010/main" val="2517304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BD875-AF69-C7DD-F172-A6C7404749E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2D8F197-7186-78EC-2DF9-9D2F9C2456FB}"/>
              </a:ext>
            </a:extLst>
          </p:cNvPr>
          <p:cNvSpPr>
            <a:spLocks noGrp="1"/>
          </p:cNvSpPr>
          <p:nvPr>
            <p:ph type="body" sz="quarter" idx="13"/>
          </p:nvPr>
        </p:nvSpPr>
        <p:spPr>
          <a:xfrm>
            <a:off x="255996" y="1357505"/>
            <a:ext cx="10624338" cy="4142989"/>
          </a:xfrm>
        </p:spPr>
        <p:txBody>
          <a:bodyPr/>
          <a:lstStyle/>
          <a:p>
            <a:r>
              <a:rPr lang="en-IN" sz="2700" dirty="0">
                <a:latin typeface="+mn-lt"/>
              </a:rPr>
              <a:t>Algorithms</a:t>
            </a:r>
          </a:p>
          <a:p>
            <a:pPr lvl="1"/>
            <a:r>
              <a:rPr lang="en-IN" sz="2700" b="1" dirty="0">
                <a:solidFill>
                  <a:schemeClr val="accent1"/>
                </a:solidFill>
              </a:rPr>
              <a:t>Random Forest</a:t>
            </a:r>
          </a:p>
          <a:p>
            <a:pPr lvl="1"/>
            <a:r>
              <a:rPr lang="en-IN" sz="2700" b="1" dirty="0">
                <a:solidFill>
                  <a:schemeClr val="accent1"/>
                </a:solidFill>
              </a:rPr>
              <a:t>1D CNN, </a:t>
            </a:r>
            <a:r>
              <a:rPr lang="en-IN" sz="2700" b="1" dirty="0" err="1">
                <a:solidFill>
                  <a:schemeClr val="accent1"/>
                </a:solidFill>
              </a:rPr>
              <a:t>BiGRU</a:t>
            </a:r>
            <a:r>
              <a:rPr lang="en-IN" sz="2700" b="1" dirty="0">
                <a:solidFill>
                  <a:schemeClr val="accent1"/>
                </a:solidFill>
              </a:rPr>
              <a:t>, </a:t>
            </a:r>
            <a:r>
              <a:rPr lang="en-IN" sz="2700" b="1" dirty="0" err="1">
                <a:solidFill>
                  <a:schemeClr val="accent1"/>
                </a:solidFill>
              </a:rPr>
              <a:t>InceptionTime</a:t>
            </a:r>
            <a:endParaRPr lang="en-IN" sz="2700" b="1" dirty="0">
              <a:solidFill>
                <a:schemeClr val="accent1"/>
              </a:solidFill>
            </a:endParaRPr>
          </a:p>
          <a:p>
            <a:pPr lvl="1"/>
            <a:r>
              <a:rPr lang="en-IN" sz="2700" b="1" dirty="0">
                <a:solidFill>
                  <a:schemeClr val="accent1"/>
                </a:solidFill>
              </a:rPr>
              <a:t>ResNet1D and Hybrid Fusion</a:t>
            </a:r>
          </a:p>
          <a:p>
            <a:pPr lvl="1"/>
            <a:r>
              <a:rPr lang="en-IN" sz="2700" b="1" dirty="0">
                <a:solidFill>
                  <a:schemeClr val="accent1"/>
                </a:solidFill>
              </a:rPr>
              <a:t>Graph-based and multi-evidence RCA</a:t>
            </a:r>
          </a:p>
          <a:p>
            <a:r>
              <a:rPr lang="en-IN" sz="2700" dirty="0">
                <a:latin typeface="+mn-lt"/>
              </a:rPr>
              <a:t>RAG</a:t>
            </a:r>
          </a:p>
          <a:p>
            <a:pPr lvl="1"/>
            <a:r>
              <a:rPr lang="en-IN" sz="2700" b="1" dirty="0">
                <a:solidFill>
                  <a:schemeClr val="accent1"/>
                </a:solidFill>
              </a:rPr>
              <a:t>Sentence Transformers</a:t>
            </a:r>
          </a:p>
          <a:p>
            <a:pPr lvl="1"/>
            <a:r>
              <a:rPr lang="en-IN" sz="2700" b="1" dirty="0" err="1">
                <a:solidFill>
                  <a:schemeClr val="accent1"/>
                </a:solidFill>
              </a:rPr>
              <a:t>ChromaDB</a:t>
            </a:r>
            <a:r>
              <a:rPr lang="en-IN" sz="2700" b="1" dirty="0">
                <a:solidFill>
                  <a:schemeClr val="accent1"/>
                </a:solidFill>
              </a:rPr>
              <a:t> and semantic search</a:t>
            </a:r>
          </a:p>
          <a:p>
            <a:r>
              <a:rPr lang="en-IN" sz="2700" dirty="0">
                <a:latin typeface="+mn-lt"/>
              </a:rPr>
              <a:t>Technology Stack</a:t>
            </a:r>
          </a:p>
          <a:p>
            <a:pPr lvl="1"/>
            <a:r>
              <a:rPr lang="en-IN" sz="2700" b="1" dirty="0">
                <a:solidFill>
                  <a:schemeClr val="accent1"/>
                </a:solidFill>
              </a:rPr>
              <a:t>Python, </a:t>
            </a:r>
            <a:r>
              <a:rPr lang="en-IN" sz="2700" b="1" dirty="0" err="1">
                <a:solidFill>
                  <a:schemeClr val="accent1"/>
                </a:solidFill>
              </a:rPr>
              <a:t>FastAPI</a:t>
            </a:r>
            <a:r>
              <a:rPr lang="en-IN" sz="2700" b="1" dirty="0">
                <a:solidFill>
                  <a:schemeClr val="accent1"/>
                </a:solidFill>
              </a:rPr>
              <a:t>, React + Vite</a:t>
            </a:r>
          </a:p>
          <a:p>
            <a:pPr lvl="1"/>
            <a:r>
              <a:rPr lang="en-IN" sz="2700" b="1" dirty="0">
                <a:solidFill>
                  <a:schemeClr val="accent1"/>
                </a:solidFill>
              </a:rPr>
              <a:t>PostgreSQL, </a:t>
            </a:r>
            <a:r>
              <a:rPr lang="en-IN" sz="2700" b="1" dirty="0" err="1">
                <a:solidFill>
                  <a:schemeClr val="accent1"/>
                </a:solidFill>
              </a:rPr>
              <a:t>PyTorch</a:t>
            </a:r>
            <a:r>
              <a:rPr lang="en-IN" sz="2700" b="1" dirty="0">
                <a:solidFill>
                  <a:schemeClr val="accent1"/>
                </a:solidFill>
              </a:rPr>
              <a:t>, Scikit-learn</a:t>
            </a:r>
          </a:p>
        </p:txBody>
      </p:sp>
      <p:sp>
        <p:nvSpPr>
          <p:cNvPr id="3" name="TextBox 2">
            <a:extLst>
              <a:ext uri="{FF2B5EF4-FFF2-40B4-BE49-F238E27FC236}">
                <a16:creationId xmlns:a16="http://schemas.microsoft.com/office/drawing/2014/main" id="{BF139C03-855B-BB94-D223-4EF8F393BF71}"/>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Approach</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9567CE5B-FD4C-BEFE-476F-50C6C9DD7380}"/>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075EFA75-D396-EC86-BD8D-E43190FDF90E}"/>
              </a:ext>
            </a:extLst>
          </p:cNvPr>
          <p:cNvSpPr txBox="1"/>
          <p:nvPr/>
        </p:nvSpPr>
        <p:spPr>
          <a:xfrm>
            <a:off x="6093893" y="57036"/>
            <a:ext cx="6098107" cy="646331"/>
          </a:xfrm>
          <a:prstGeom prst="rect">
            <a:avLst/>
          </a:prstGeom>
          <a:noFill/>
        </p:spPr>
        <p:txBody>
          <a:bodyPr wrap="square" rtlCol="0">
            <a:spAutoFit/>
          </a:bodyPr>
          <a:lstStyle/>
          <a:p>
            <a:pPr algn="r"/>
            <a:r>
              <a:rPr lang="en-IN" dirty="0">
                <a:solidFill>
                  <a:schemeClr val="bg1"/>
                </a:solidFill>
              </a:rPr>
              <a:t>Power Grid RCA</a:t>
            </a:r>
            <a:endParaRPr lang="en-US" dirty="0">
              <a:solidFill>
                <a:schemeClr val="bg1"/>
              </a:solidFill>
            </a:endParaRPr>
          </a:p>
          <a:p>
            <a:pPr algn="r"/>
            <a:endParaRPr lang="en-US" dirty="0"/>
          </a:p>
        </p:txBody>
      </p:sp>
    </p:spTree>
    <p:extLst>
      <p:ext uri="{BB962C8B-B14F-4D97-AF65-F5344CB8AC3E}">
        <p14:creationId xmlns:p14="http://schemas.microsoft.com/office/powerpoint/2010/main" val="3297155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0D9DB-20F7-F6AB-E7F4-F172173E241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1D33178-70FC-0394-A322-050BC0C1BA78}"/>
              </a:ext>
            </a:extLst>
          </p:cNvPr>
          <p:cNvSpPr>
            <a:spLocks noGrp="1"/>
          </p:cNvSpPr>
          <p:nvPr>
            <p:ph type="body" sz="quarter" idx="13"/>
          </p:nvPr>
        </p:nvSpPr>
        <p:spPr>
          <a:xfrm>
            <a:off x="255996" y="1506271"/>
            <a:ext cx="11265444" cy="4142989"/>
          </a:xfrm>
        </p:spPr>
        <p:txBody>
          <a:bodyPr/>
          <a:lstStyle/>
          <a:p>
            <a:pPr lvl="0"/>
            <a:r>
              <a:rPr lang="en-IN" dirty="0">
                <a:latin typeface="+mn-lt"/>
              </a:rPr>
              <a:t>799 PSML event records identified.</a:t>
            </a:r>
          </a:p>
          <a:p>
            <a:pPr lvl="0"/>
            <a:r>
              <a:rPr lang="en-IN" dirty="0">
                <a:latin typeface="+mn-lt"/>
              </a:rPr>
              <a:t>23 nodes and 34 branches in the grid topology.</a:t>
            </a:r>
          </a:p>
          <a:p>
            <a:pPr lvl="0"/>
            <a:r>
              <a:rPr lang="en-IN" dirty="0">
                <a:latin typeface="+mn-lt"/>
              </a:rPr>
              <a:t>830,400 telemetry records loaded into PostgreSQL.</a:t>
            </a:r>
          </a:p>
          <a:p>
            <a:pPr lvl="0"/>
            <a:r>
              <a:rPr lang="en-IN" dirty="0">
                <a:latin typeface="+mn-lt"/>
              </a:rPr>
              <a:t>Random Forest baseline accuracy: 88.24%.</a:t>
            </a:r>
          </a:p>
          <a:p>
            <a:pPr lvl="0"/>
            <a:r>
              <a:rPr lang="en-IN" dirty="0">
                <a:latin typeface="+mn-lt"/>
              </a:rPr>
              <a:t>ResNet1D temporal model accuracy: 89.92%.</a:t>
            </a:r>
          </a:p>
          <a:p>
            <a:pPr lvl="0"/>
            <a:r>
              <a:rPr lang="en-IN" dirty="0">
                <a:latin typeface="+mn-lt"/>
              </a:rPr>
              <a:t>RAG knowledge base: 6 documents and 34 semantic chunks.</a:t>
            </a:r>
          </a:p>
          <a:p>
            <a:pPr lvl="0"/>
            <a:r>
              <a:rPr lang="en-IN" dirty="0">
                <a:latin typeface="+mn-lt"/>
              </a:rPr>
              <a:t>Event #550: top RCA candidate is Branch 102–151, CKT 1.</a:t>
            </a:r>
          </a:p>
          <a:p>
            <a:pPr lvl="0"/>
            <a:r>
              <a:rPr lang="en-IN" dirty="0">
                <a:latin typeface="+mn-lt"/>
              </a:rPr>
              <a:t>15/15 integration tests passed; frontend production build succeeded.</a:t>
            </a:r>
          </a:p>
        </p:txBody>
      </p:sp>
      <p:sp>
        <p:nvSpPr>
          <p:cNvPr id="3" name="TextBox 2">
            <a:extLst>
              <a:ext uri="{FF2B5EF4-FFF2-40B4-BE49-F238E27FC236}">
                <a16:creationId xmlns:a16="http://schemas.microsoft.com/office/drawing/2014/main" id="{922E1F6D-65D6-899B-29C5-7767D8E109BF}"/>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Findings and Results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5DD0D405-3EB7-639A-181B-A70160960A5D}"/>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8E699CC0-C6FE-766D-087A-F2809A0C1D19}"/>
              </a:ext>
            </a:extLst>
          </p:cNvPr>
          <p:cNvSpPr txBox="1"/>
          <p:nvPr/>
        </p:nvSpPr>
        <p:spPr>
          <a:xfrm>
            <a:off x="6093893" y="57036"/>
            <a:ext cx="6098107" cy="646331"/>
          </a:xfrm>
          <a:prstGeom prst="rect">
            <a:avLst/>
          </a:prstGeom>
          <a:noFill/>
        </p:spPr>
        <p:txBody>
          <a:bodyPr wrap="square" rtlCol="0">
            <a:spAutoFit/>
          </a:bodyPr>
          <a:lstStyle/>
          <a:p>
            <a:pPr algn="r"/>
            <a:r>
              <a:rPr lang="en-IN" dirty="0">
                <a:solidFill>
                  <a:schemeClr val="bg1"/>
                </a:solidFill>
              </a:rPr>
              <a:t>Power Grid RCA</a:t>
            </a:r>
            <a:endParaRPr lang="en-US" dirty="0">
              <a:solidFill>
                <a:schemeClr val="bg1"/>
              </a:solidFill>
            </a:endParaRPr>
          </a:p>
          <a:p>
            <a:pPr algn="r"/>
            <a:endParaRPr lang="en-US" dirty="0"/>
          </a:p>
        </p:txBody>
      </p:sp>
    </p:spTree>
    <p:extLst>
      <p:ext uri="{BB962C8B-B14F-4D97-AF65-F5344CB8AC3E}">
        <p14:creationId xmlns:p14="http://schemas.microsoft.com/office/powerpoint/2010/main" val="28970905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68F98-B0E3-3868-AE8A-DC53EF5E782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25CE702-E875-7651-A118-0863C6D5775B}"/>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Findings and Results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8F163638-4A6E-C1AB-43C2-F66FCA71C660}"/>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B8C3D65-550C-EBC9-E48D-257E8C7E97C1}"/>
              </a:ext>
            </a:extLst>
          </p:cNvPr>
          <p:cNvSpPr txBox="1"/>
          <p:nvPr/>
        </p:nvSpPr>
        <p:spPr>
          <a:xfrm>
            <a:off x="6093893" y="57036"/>
            <a:ext cx="6098107" cy="646331"/>
          </a:xfrm>
          <a:prstGeom prst="rect">
            <a:avLst/>
          </a:prstGeom>
          <a:noFill/>
        </p:spPr>
        <p:txBody>
          <a:bodyPr wrap="square" rtlCol="0">
            <a:spAutoFit/>
          </a:bodyPr>
          <a:lstStyle/>
          <a:p>
            <a:pPr algn="r"/>
            <a:r>
              <a:rPr lang="en-IN" dirty="0">
                <a:solidFill>
                  <a:schemeClr val="bg1"/>
                </a:solidFill>
              </a:rPr>
              <a:t>Power Grid RCA</a:t>
            </a:r>
            <a:endParaRPr lang="en-US" dirty="0">
              <a:solidFill>
                <a:schemeClr val="bg1"/>
              </a:solidFill>
            </a:endParaRPr>
          </a:p>
          <a:p>
            <a:pPr algn="r"/>
            <a:endParaRPr lang="en-US" dirty="0"/>
          </a:p>
        </p:txBody>
      </p:sp>
      <p:pic>
        <p:nvPicPr>
          <p:cNvPr id="6" name="Picture 5">
            <a:extLst>
              <a:ext uri="{FF2B5EF4-FFF2-40B4-BE49-F238E27FC236}">
                <a16:creationId xmlns:a16="http://schemas.microsoft.com/office/drawing/2014/main" id="{63DC08F1-6D4A-FA88-D5BE-B3C51854C9DA}"/>
              </a:ext>
            </a:extLst>
          </p:cNvPr>
          <p:cNvPicPr>
            <a:picLocks noChangeAspect="1"/>
          </p:cNvPicPr>
          <p:nvPr/>
        </p:nvPicPr>
        <p:blipFill>
          <a:blip r:embed="rId2"/>
          <a:stretch>
            <a:fillRect/>
          </a:stretch>
        </p:blipFill>
        <p:spPr>
          <a:xfrm>
            <a:off x="1577340" y="1234637"/>
            <a:ext cx="10340340" cy="5140571"/>
          </a:xfrm>
          <a:prstGeom prst="rect">
            <a:avLst/>
          </a:prstGeom>
        </p:spPr>
      </p:pic>
    </p:spTree>
    <p:extLst>
      <p:ext uri="{BB962C8B-B14F-4D97-AF65-F5344CB8AC3E}">
        <p14:creationId xmlns:p14="http://schemas.microsoft.com/office/powerpoint/2010/main" val="371634466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19CAE-4903-348C-17F0-620B8B99968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515F0D1-916A-9DDB-D509-571CFF13BE46}"/>
              </a:ext>
            </a:extLst>
          </p:cNvPr>
          <p:cNvSpPr>
            <a:spLocks noGrp="1"/>
          </p:cNvSpPr>
          <p:nvPr>
            <p:ph type="body" sz="quarter" idx="13"/>
          </p:nvPr>
        </p:nvSpPr>
        <p:spPr>
          <a:xfrm>
            <a:off x="221274" y="1271219"/>
            <a:ext cx="11665926" cy="4142989"/>
          </a:xfrm>
        </p:spPr>
        <p:txBody>
          <a:bodyPr/>
          <a:lstStyle/>
          <a:p>
            <a:pPr lvl="0"/>
            <a:r>
              <a:rPr lang="en-IN" dirty="0" err="1">
                <a:latin typeface="+mn-lt"/>
              </a:rPr>
              <a:t>GridRCA</a:t>
            </a:r>
            <a:r>
              <a:rPr lang="en-IN" dirty="0">
                <a:latin typeface="+mn-lt"/>
              </a:rPr>
              <a:t> combines machine learning, grid topology and root-cause analysis.</a:t>
            </a:r>
          </a:p>
          <a:p>
            <a:pPr lvl="0"/>
            <a:r>
              <a:rPr lang="en-IN" dirty="0">
                <a:latin typeface="+mn-lt"/>
              </a:rPr>
              <a:t>Multiple evidence sources help rank likely grid components.</a:t>
            </a:r>
          </a:p>
          <a:p>
            <a:pPr lvl="0"/>
            <a:r>
              <a:rPr lang="en-IN" dirty="0">
                <a:latin typeface="+mn-lt"/>
              </a:rPr>
              <a:t>RAG retrieves technical knowledge to support explanations.</a:t>
            </a:r>
          </a:p>
          <a:p>
            <a:pPr lvl="0"/>
            <a:r>
              <a:rPr lang="en-IN" dirty="0">
                <a:latin typeface="+mn-lt"/>
              </a:rPr>
              <a:t>The React frontend and </a:t>
            </a:r>
            <a:r>
              <a:rPr lang="en-IN" dirty="0" err="1">
                <a:latin typeface="+mn-lt"/>
              </a:rPr>
              <a:t>FastAPI</a:t>
            </a:r>
            <a:r>
              <a:rPr lang="en-IN" dirty="0">
                <a:latin typeface="+mn-lt"/>
              </a:rPr>
              <a:t> backend provide an integrated interface.</a:t>
            </a:r>
          </a:p>
          <a:p>
            <a:pPr lvl="0"/>
            <a:r>
              <a:rPr lang="en-IN" dirty="0">
                <a:latin typeface="+mn-lt"/>
              </a:rPr>
              <a:t>System health checks passed for the tested components.</a:t>
            </a:r>
          </a:p>
          <a:p>
            <a:pPr lvl="0"/>
            <a:r>
              <a:rPr lang="en-IN" dirty="0">
                <a:latin typeface="+mn-lt"/>
              </a:rPr>
              <a:t>Further benchmark validation and advanced experiments remain future work.</a:t>
            </a:r>
          </a:p>
        </p:txBody>
      </p:sp>
      <p:sp>
        <p:nvSpPr>
          <p:cNvPr id="3" name="TextBox 2">
            <a:extLst>
              <a:ext uri="{FF2B5EF4-FFF2-40B4-BE49-F238E27FC236}">
                <a16:creationId xmlns:a16="http://schemas.microsoft.com/office/drawing/2014/main" id="{BBD60C42-9F55-E25B-4BD8-7CEA82581609}"/>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Conclusion</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883283A8-EADD-9396-3C39-72C15A09486A}"/>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C57E0813-0510-2199-47EA-C39F4B0F3271}"/>
              </a:ext>
            </a:extLst>
          </p:cNvPr>
          <p:cNvSpPr txBox="1"/>
          <p:nvPr/>
        </p:nvSpPr>
        <p:spPr>
          <a:xfrm>
            <a:off x="6093893" y="57036"/>
            <a:ext cx="6098107" cy="646331"/>
          </a:xfrm>
          <a:prstGeom prst="rect">
            <a:avLst/>
          </a:prstGeom>
          <a:noFill/>
        </p:spPr>
        <p:txBody>
          <a:bodyPr wrap="square" rtlCol="0">
            <a:spAutoFit/>
          </a:bodyPr>
          <a:lstStyle/>
          <a:p>
            <a:pPr algn="r"/>
            <a:r>
              <a:rPr lang="en-IN" dirty="0">
                <a:solidFill>
                  <a:schemeClr val="bg1"/>
                </a:solidFill>
              </a:rPr>
              <a:t>Power Grid RCA</a:t>
            </a:r>
            <a:endParaRPr lang="en-US" dirty="0">
              <a:solidFill>
                <a:schemeClr val="bg1"/>
              </a:solidFill>
            </a:endParaRPr>
          </a:p>
          <a:p>
            <a:pPr algn="r"/>
            <a:endParaRPr lang="en-US" dirty="0"/>
          </a:p>
        </p:txBody>
      </p:sp>
    </p:spTree>
    <p:extLst>
      <p:ext uri="{BB962C8B-B14F-4D97-AF65-F5344CB8AC3E}">
        <p14:creationId xmlns:p14="http://schemas.microsoft.com/office/powerpoint/2010/main" val="2739492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AA21D-0707-73D6-9C06-742871D67F6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E8830AD-D620-3273-DF68-B4894F108B17}"/>
              </a:ext>
            </a:extLst>
          </p:cNvPr>
          <p:cNvSpPr>
            <a:spLocks noGrp="1"/>
          </p:cNvSpPr>
          <p:nvPr>
            <p:ph type="body" sz="quarter" idx="13"/>
          </p:nvPr>
        </p:nvSpPr>
        <p:spPr>
          <a:xfrm>
            <a:off x="255996" y="1271219"/>
            <a:ext cx="11608344" cy="4142989"/>
          </a:xfrm>
        </p:spPr>
        <p:txBody>
          <a:bodyPr/>
          <a:lstStyle/>
          <a:p>
            <a:pPr lvl="0"/>
            <a:r>
              <a:rPr lang="en-IN" sz="2400" b="0" dirty="0">
                <a:latin typeface="+mn-lt"/>
              </a:rPr>
              <a:t>Shi, </a:t>
            </a:r>
            <a:r>
              <a:rPr lang="en-IN" sz="2400" b="0" dirty="0" err="1">
                <a:latin typeface="+mn-lt"/>
              </a:rPr>
              <a:t>Jinquan</a:t>
            </a:r>
            <a:r>
              <a:rPr lang="en-IN" sz="2400" b="0" dirty="0">
                <a:latin typeface="+mn-lt"/>
              </a:rPr>
              <a:t> &amp; Cheng, Yingying &amp; Zhang, Fan &amp; Jiang, Miao &amp; Lin, Jun &amp; Shen, </a:t>
            </a:r>
            <a:r>
              <a:rPr lang="en-IN" sz="2400" b="0" dirty="0" err="1">
                <a:latin typeface="+mn-lt"/>
              </a:rPr>
              <a:t>Yanbai</a:t>
            </a:r>
            <a:r>
              <a:rPr lang="en-IN" sz="2400" b="0" dirty="0">
                <a:latin typeface="+mn-lt"/>
              </a:rPr>
              <a:t>. (2025). </a:t>
            </a:r>
            <a:r>
              <a:rPr lang="en-IN" sz="2400" b="0" dirty="0" err="1">
                <a:latin typeface="+mn-lt"/>
              </a:rPr>
              <a:t>GridCodex</a:t>
            </a:r>
            <a:r>
              <a:rPr lang="en-IN" sz="2400" b="0" dirty="0">
                <a:latin typeface="+mn-lt"/>
              </a:rPr>
              <a:t>: A RAG-Driven AI Framework for Power Grid Code Reasoning and Compliance. 10.48550/arXiv.2508.12682. </a:t>
            </a:r>
          </a:p>
          <a:p>
            <a:pPr lvl="0"/>
            <a:r>
              <a:rPr lang="en-IN" sz="2400" b="0" dirty="0">
                <a:latin typeface="+mn-lt"/>
              </a:rPr>
              <a:t>Zheng, X., Xu, N., Trinh, L. </a:t>
            </a:r>
            <a:r>
              <a:rPr lang="en-IN" sz="2400" b="0" i="1" dirty="0">
                <a:latin typeface="+mn-lt"/>
              </a:rPr>
              <a:t>et al.</a:t>
            </a:r>
            <a:r>
              <a:rPr lang="en-IN" sz="2400" b="0" dirty="0">
                <a:latin typeface="+mn-lt"/>
              </a:rPr>
              <a:t> A multi-scale time-series dataset with benchmark for machine learning in decarbonized energy grids. </a:t>
            </a:r>
            <a:r>
              <a:rPr lang="en-IN" sz="2400" b="0" i="1" dirty="0">
                <a:latin typeface="+mn-lt"/>
              </a:rPr>
              <a:t>Sci Data</a:t>
            </a:r>
            <a:r>
              <a:rPr lang="en-IN" sz="2400" b="0" dirty="0">
                <a:latin typeface="+mn-lt"/>
              </a:rPr>
              <a:t> 9, 359 (2022). </a:t>
            </a:r>
            <a:r>
              <a:rPr lang="en-IN" sz="2400" b="0" dirty="0">
                <a:latin typeface="+mn-lt"/>
                <a:hlinkClick r:id="rId2"/>
              </a:rPr>
              <a:t>https://doi.org/10.1038/s41597-022-01455-7</a:t>
            </a:r>
            <a:r>
              <a:rPr lang="en-IN" sz="2400" b="0" dirty="0">
                <a:latin typeface="+mn-lt"/>
              </a:rPr>
              <a:t>’</a:t>
            </a:r>
          </a:p>
          <a:p>
            <a:r>
              <a:rPr lang="en-IN" sz="2400" b="0" dirty="0">
                <a:latin typeface="+mn-lt"/>
              </a:rPr>
              <a:t>Tanveer Ahmad, Hongcai Zhang, and Biao Yan. A review on renewable energy and electricity requirement forecasting models for smart grid and buildings. Sustainable Cities and Society, 55:102052, 2020.</a:t>
            </a:r>
          </a:p>
          <a:p>
            <a:r>
              <a:rPr lang="en-IN" sz="2400" b="0" dirty="0">
                <a:latin typeface="+mn-lt"/>
              </a:rPr>
              <a:t>Abdulaziz Almalaq and George Edwards. A review of deep learning methods applied on load forecasting. In 2017 16th IEEE international conference on machine learning and applications (ICMLA)</a:t>
            </a:r>
          </a:p>
        </p:txBody>
      </p:sp>
      <p:sp>
        <p:nvSpPr>
          <p:cNvPr id="3" name="TextBox 2">
            <a:extLst>
              <a:ext uri="{FF2B5EF4-FFF2-40B4-BE49-F238E27FC236}">
                <a16:creationId xmlns:a16="http://schemas.microsoft.com/office/drawing/2014/main" id="{A4191BFC-DFE8-1402-99ED-A731CDE1FEAA}"/>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Reference</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6C1A2B86-5C12-B0AA-071D-610501ECA701}"/>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F3028CFC-30EF-0587-636A-4265A2E243E7}"/>
              </a:ext>
            </a:extLst>
          </p:cNvPr>
          <p:cNvSpPr txBox="1"/>
          <p:nvPr/>
        </p:nvSpPr>
        <p:spPr>
          <a:xfrm>
            <a:off x="6093893" y="57036"/>
            <a:ext cx="6098107" cy="646331"/>
          </a:xfrm>
          <a:prstGeom prst="rect">
            <a:avLst/>
          </a:prstGeom>
          <a:noFill/>
        </p:spPr>
        <p:txBody>
          <a:bodyPr wrap="square" rtlCol="0">
            <a:spAutoFit/>
          </a:bodyPr>
          <a:lstStyle/>
          <a:p>
            <a:pPr algn="r"/>
            <a:r>
              <a:rPr lang="en-IN" dirty="0">
                <a:solidFill>
                  <a:schemeClr val="bg1"/>
                </a:solidFill>
              </a:rPr>
              <a:t>Power Grid RCA</a:t>
            </a:r>
            <a:endParaRPr lang="en-US" dirty="0">
              <a:solidFill>
                <a:schemeClr val="bg1"/>
              </a:solidFill>
            </a:endParaRPr>
          </a:p>
          <a:p>
            <a:pPr algn="r"/>
            <a:endParaRPr lang="en-US" dirty="0"/>
          </a:p>
        </p:txBody>
      </p:sp>
    </p:spTree>
    <p:extLst>
      <p:ext uri="{BB962C8B-B14F-4D97-AF65-F5344CB8AC3E}">
        <p14:creationId xmlns:p14="http://schemas.microsoft.com/office/powerpoint/2010/main" val="3111242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8D30BC0-07A3-DCDA-0D0B-DD40C2178A62}"/>
              </a:ext>
            </a:extLst>
          </p:cNvPr>
          <p:cNvSpPr/>
          <p:nvPr/>
        </p:nvSpPr>
        <p:spPr>
          <a:xfrm>
            <a:off x="-31269" y="29737"/>
            <a:ext cx="12254538" cy="6868389"/>
          </a:xfrm>
          <a:prstGeom prst="rect">
            <a:avLst/>
          </a:prstGeom>
          <a:gradFill>
            <a:gsLst>
              <a:gs pos="0">
                <a:srgbClr val="47BDAF"/>
              </a:gs>
              <a:gs pos="100000">
                <a:srgbClr val="3793A6"/>
              </a:gs>
              <a:gs pos="39000">
                <a:srgbClr val="1C4D98"/>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utiger LT Pro 45 Light" panose="020B0403030504020204" pitchFamily="34" charset="0"/>
              <a:ea typeface="+mn-ea"/>
              <a:cs typeface="+mn-cs"/>
            </a:endParaRPr>
          </a:p>
        </p:txBody>
      </p:sp>
      <p:sp>
        <p:nvSpPr>
          <p:cNvPr id="14" name="Text Placeholder 1">
            <a:extLst>
              <a:ext uri="{FF2B5EF4-FFF2-40B4-BE49-F238E27FC236}">
                <a16:creationId xmlns:a16="http://schemas.microsoft.com/office/drawing/2014/main" id="{0741E81D-922F-23FE-07A9-320FA2B27E3A}"/>
              </a:ext>
            </a:extLst>
          </p:cNvPr>
          <p:cNvSpPr>
            <a:spLocks noGrp="1"/>
          </p:cNvSpPr>
          <p:nvPr>
            <p:ph type="body" sz="quarter" idx="13"/>
          </p:nvPr>
        </p:nvSpPr>
        <p:spPr>
          <a:xfrm>
            <a:off x="2289635" y="17705"/>
            <a:ext cx="6910121" cy="1058125"/>
          </a:xfrm>
        </p:spPr>
        <p:txBody>
          <a:bodyPr/>
          <a:lstStyle/>
          <a:p>
            <a:pPr marL="0" indent="0" algn="ctr">
              <a:buNone/>
            </a:pPr>
            <a:r>
              <a:rPr lang="en-US" sz="4400" dirty="0" err="1">
                <a:solidFill>
                  <a:schemeClr val="bg1"/>
                </a:solidFill>
              </a:rPr>
              <a:t>M.Tech</a:t>
            </a:r>
            <a:r>
              <a:rPr lang="en-US" sz="4400" dirty="0">
                <a:solidFill>
                  <a:schemeClr val="bg1"/>
                </a:solidFill>
              </a:rPr>
              <a:t> Program </a:t>
            </a:r>
          </a:p>
          <a:p>
            <a:pPr marL="0" indent="0" algn="ctr">
              <a:buNone/>
            </a:pPr>
            <a:r>
              <a:rPr lang="en-US" sz="2000" dirty="0">
                <a:solidFill>
                  <a:schemeClr val="bg1"/>
                </a:solidFill>
              </a:rPr>
              <a:t>Advanced Industry Integrated Programs</a:t>
            </a:r>
          </a:p>
        </p:txBody>
      </p:sp>
      <p:cxnSp>
        <p:nvCxnSpPr>
          <p:cNvPr id="15" name="Straight Connector 14">
            <a:extLst>
              <a:ext uri="{FF2B5EF4-FFF2-40B4-BE49-F238E27FC236}">
                <a16:creationId xmlns:a16="http://schemas.microsoft.com/office/drawing/2014/main" id="{ED19DFA2-C55E-F4D5-C53A-B5ECEB442DC1}"/>
              </a:ext>
            </a:extLst>
          </p:cNvPr>
          <p:cNvCxnSpPr/>
          <p:nvPr/>
        </p:nvCxnSpPr>
        <p:spPr>
          <a:xfrm>
            <a:off x="2977350" y="1120307"/>
            <a:ext cx="58662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41AA452C-B3E6-7A79-FD46-04E813851A85}"/>
              </a:ext>
            </a:extLst>
          </p:cNvPr>
          <p:cNvSpPr/>
          <p:nvPr/>
        </p:nvSpPr>
        <p:spPr>
          <a:xfrm>
            <a:off x="4125951" y="1177578"/>
            <a:ext cx="3033131" cy="286036"/>
          </a:xfrm>
          <a:prstGeom prst="roundRect">
            <a:avLst/>
          </a:prstGeom>
          <a:solidFill>
            <a:schemeClr val="accent6">
              <a:lumMod val="20000"/>
              <a:lumOff val="80000"/>
            </a:schemeClr>
          </a:solid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dirty="0">
                <a:ln>
                  <a:noFill/>
                </a:ln>
                <a:solidFill>
                  <a:srgbClr val="595959"/>
                </a:solidFill>
                <a:effectLst/>
                <a:uLnTx/>
                <a:uFillTx/>
                <a:latin typeface="Frutiger 45 bold"/>
                <a:ea typeface="+mn-ea"/>
                <a:cs typeface="Calibri" panose="020F0502020204030204" pitchFamily="34" charset="0"/>
              </a:rPr>
              <a:t>Jointly offered by University and LTIMindTree</a:t>
            </a:r>
          </a:p>
        </p:txBody>
      </p:sp>
      <p:sp>
        <p:nvSpPr>
          <p:cNvPr id="4" name="TextBox 3">
            <a:extLst>
              <a:ext uri="{FF2B5EF4-FFF2-40B4-BE49-F238E27FC236}">
                <a16:creationId xmlns:a16="http://schemas.microsoft.com/office/drawing/2014/main" id="{598A8852-79FE-2D69-0530-D7712358063B}"/>
              </a:ext>
            </a:extLst>
          </p:cNvPr>
          <p:cNvSpPr txBox="1"/>
          <p:nvPr/>
        </p:nvSpPr>
        <p:spPr>
          <a:xfrm>
            <a:off x="180236" y="1659822"/>
            <a:ext cx="11428184" cy="553997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dirty="0">
                <a:solidFill>
                  <a:prstClr val="white"/>
                </a:solidFill>
                <a:cs typeface="Calibri" panose="020F0502020204030204" pitchFamily="34" charset="0"/>
              </a:rPr>
              <a:t>Review III</a:t>
            </a:r>
          </a:p>
          <a:p>
            <a:pPr lvl="0" algn="ctr">
              <a:defRPr/>
            </a:pPr>
            <a:r>
              <a:rPr lang="en-IN" sz="3600" b="1" dirty="0">
                <a:solidFill>
                  <a:schemeClr val="bg1"/>
                </a:solidFill>
              </a:rPr>
              <a:t>Agentic AI Framework for Continuous Cross-Domain </a:t>
            </a:r>
          </a:p>
          <a:p>
            <a:pPr lvl="0" algn="ctr">
              <a:defRPr/>
            </a:pPr>
            <a:r>
              <a:rPr lang="en-IN" sz="3600" b="1" dirty="0">
                <a:solidFill>
                  <a:schemeClr val="bg1"/>
                </a:solidFill>
              </a:rPr>
              <a:t>Urban Infrastructure Monitoring, Diagnosis and </a:t>
            </a:r>
          </a:p>
          <a:p>
            <a:pPr lvl="0" algn="ctr">
              <a:defRPr/>
            </a:pPr>
            <a:r>
              <a:rPr lang="en-IN" sz="3600" b="1" dirty="0">
                <a:solidFill>
                  <a:schemeClr val="bg1"/>
                </a:solidFill>
              </a:rPr>
              <a:t>Decision Support</a:t>
            </a: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a:p>
            <a:pPr lvl="0" algn="ctr">
              <a:defRPr/>
            </a:pPr>
            <a:r>
              <a:rPr lang="en-US" sz="2400" b="1" dirty="0">
                <a:solidFill>
                  <a:prstClr val="white"/>
                </a:solidFill>
                <a:cs typeface="Calibri" panose="020F0502020204030204" pitchFamily="34" charset="0"/>
              </a:rPr>
              <a:t>Team Member</a:t>
            </a:r>
          </a:p>
          <a:p>
            <a:pPr algn="ctr">
              <a:defRPr/>
            </a:pPr>
            <a:r>
              <a:rPr lang="en-US" sz="2400" b="1" dirty="0">
                <a:solidFill>
                  <a:prstClr val="white"/>
                </a:solidFill>
                <a:cs typeface="Calibri" panose="020F0502020204030204" pitchFamily="34" charset="0"/>
              </a:rPr>
              <a:t>Sanika Gaikwad (T9996)</a:t>
            </a:r>
          </a:p>
          <a:p>
            <a:pPr lvl="0" algn="ctr">
              <a:defRPr/>
            </a:pPr>
            <a:endParaRPr lang="en-US" sz="5400" b="1" dirty="0">
              <a:solidFill>
                <a:prstClr val="white"/>
              </a:solidFill>
              <a:latin typeface="Frutiger 45 bold"/>
              <a:cs typeface="Calibri" panose="020F0502020204030204" pitchFamily="34" charset="0"/>
            </a:endParaRP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p:txBody>
      </p:sp>
      <p:graphicFrame>
        <p:nvGraphicFramePr>
          <p:cNvPr id="3" name="Table 2">
            <a:extLst>
              <a:ext uri="{FF2B5EF4-FFF2-40B4-BE49-F238E27FC236}">
                <a16:creationId xmlns:a16="http://schemas.microsoft.com/office/drawing/2014/main" id="{0E7F5D19-19F4-F87F-17C2-8520612BCFEC}"/>
              </a:ext>
            </a:extLst>
          </p:cNvPr>
          <p:cNvGraphicFramePr>
            <a:graphicFrameLocks noGrp="1"/>
          </p:cNvGraphicFramePr>
          <p:nvPr/>
        </p:nvGraphicFramePr>
        <p:xfrm>
          <a:off x="-47290" y="5501244"/>
          <a:ext cx="12239216" cy="3264833"/>
        </p:xfrm>
        <a:graphic>
          <a:graphicData uri="http://schemas.openxmlformats.org/drawingml/2006/table">
            <a:tbl>
              <a:tblPr firstRow="1" bandRow="1">
                <a:tableStyleId>{5940675A-B579-460E-94D1-54222C63F5DA}</a:tableStyleId>
              </a:tblPr>
              <a:tblGrid>
                <a:gridCol w="6119608">
                  <a:extLst>
                    <a:ext uri="{9D8B030D-6E8A-4147-A177-3AD203B41FA5}">
                      <a16:colId xmlns:a16="http://schemas.microsoft.com/office/drawing/2014/main" val="586572480"/>
                    </a:ext>
                  </a:extLst>
                </a:gridCol>
                <a:gridCol w="6119608">
                  <a:extLst>
                    <a:ext uri="{9D8B030D-6E8A-4147-A177-3AD203B41FA5}">
                      <a16:colId xmlns:a16="http://schemas.microsoft.com/office/drawing/2014/main" val="157907922"/>
                    </a:ext>
                  </a:extLst>
                </a:gridCol>
              </a:tblGrid>
              <a:tr h="15274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Knowledge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                                                                     Implementation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3668230"/>
                  </a:ext>
                </a:extLst>
              </a:tr>
              <a:tr h="1184198">
                <a:tc>
                  <a:txBody>
                    <a:bodyPr/>
                    <a:lstStyle/>
                    <a:p>
                      <a:endParaRPr lang="en-US" dirty="0"/>
                    </a:p>
                    <a:p>
                      <a:endParaRPr lang="en-US" dirty="0"/>
                    </a:p>
                    <a:p>
                      <a:endParaRPr lang="en-US" dirty="0"/>
                    </a:p>
                    <a:p>
                      <a:endParaRPr lang="en-US" dirty="0"/>
                    </a:p>
                    <a:p>
                      <a:endParaRPr lang="en-US" dirty="0"/>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66263768"/>
                  </a:ext>
                </a:extLst>
              </a:tr>
            </a:tbl>
          </a:graphicData>
        </a:graphic>
      </p:graphicFrame>
      <p:pic>
        <p:nvPicPr>
          <p:cNvPr id="8" name="Picture 7">
            <a:extLst>
              <a:ext uri="{FF2B5EF4-FFF2-40B4-BE49-F238E27FC236}">
                <a16:creationId xmlns:a16="http://schemas.microsoft.com/office/drawing/2014/main" id="{2715C658-0B94-5B63-55F1-B9B6F645F0D0}"/>
              </a:ext>
            </a:extLst>
          </p:cNvPr>
          <p:cNvPicPr>
            <a:picLocks noChangeAspect="1"/>
          </p:cNvPicPr>
          <p:nvPr/>
        </p:nvPicPr>
        <p:blipFill>
          <a:blip r:embed="rId2"/>
          <a:stretch>
            <a:fillRect/>
          </a:stretch>
        </p:blipFill>
        <p:spPr>
          <a:xfrm>
            <a:off x="9775332" y="5852667"/>
            <a:ext cx="1987468" cy="847417"/>
          </a:xfrm>
          <a:prstGeom prst="rect">
            <a:avLst/>
          </a:prstGeom>
        </p:spPr>
      </p:pic>
      <p:pic>
        <p:nvPicPr>
          <p:cNvPr id="5" name="Picture 4">
            <a:extLst>
              <a:ext uri="{FF2B5EF4-FFF2-40B4-BE49-F238E27FC236}">
                <a16:creationId xmlns:a16="http://schemas.microsoft.com/office/drawing/2014/main" id="{36644243-7B1D-B0E7-D4B2-F38C4799192D}"/>
              </a:ext>
            </a:extLst>
          </p:cNvPr>
          <p:cNvPicPr>
            <a:picLocks noChangeAspect="1"/>
          </p:cNvPicPr>
          <p:nvPr/>
        </p:nvPicPr>
        <p:blipFill>
          <a:blip r:embed="rId3"/>
          <a:srcRect t="30608" b="28733"/>
          <a:stretch>
            <a:fillRect/>
          </a:stretch>
        </p:blipFill>
        <p:spPr>
          <a:xfrm>
            <a:off x="148893" y="5926906"/>
            <a:ext cx="3064026" cy="730928"/>
          </a:xfrm>
          <a:prstGeom prst="rect">
            <a:avLst/>
          </a:prstGeom>
        </p:spPr>
      </p:pic>
    </p:spTree>
    <p:extLst>
      <p:ext uri="{BB962C8B-B14F-4D97-AF65-F5344CB8AC3E}">
        <p14:creationId xmlns:p14="http://schemas.microsoft.com/office/powerpoint/2010/main" val="34495075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18EFD-13D1-118F-A8E4-F9E2D3695A6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7726612-73E0-5A94-F635-3A742DD5BA94}"/>
              </a:ext>
            </a:extLst>
          </p:cNvPr>
          <p:cNvSpPr>
            <a:spLocks noGrp="1"/>
          </p:cNvSpPr>
          <p:nvPr>
            <p:ph type="body" sz="quarter" idx="13"/>
          </p:nvPr>
        </p:nvSpPr>
        <p:spPr>
          <a:xfrm>
            <a:off x="255996" y="1357505"/>
            <a:ext cx="11379744" cy="4142989"/>
          </a:xfrm>
        </p:spPr>
        <p:txBody>
          <a:bodyPr/>
          <a:lstStyle/>
          <a:p>
            <a:pPr lvl="0"/>
            <a:r>
              <a:rPr lang="en-IN" dirty="0">
                <a:latin typeface="+mn-lt"/>
              </a:rPr>
              <a:t>Urban infrastructure includes water resources, drainage, transportation and weather-dependent services.</a:t>
            </a:r>
          </a:p>
          <a:p>
            <a:pPr lvl="0"/>
            <a:r>
              <a:rPr lang="en-IN" dirty="0">
                <a:latin typeface="+mn-lt"/>
              </a:rPr>
              <a:t>Problems in one domain can affect other infrastructure systems.</a:t>
            </a:r>
          </a:p>
          <a:p>
            <a:pPr lvl="0"/>
            <a:r>
              <a:rPr lang="en-IN" dirty="0">
                <a:latin typeface="+mn-lt"/>
              </a:rPr>
              <a:t>Existing monitoring systems often analyse infrastructure domains separately.</a:t>
            </a:r>
          </a:p>
          <a:p>
            <a:pPr lvl="0"/>
            <a:r>
              <a:rPr lang="en-IN" dirty="0">
                <a:latin typeface="+mn-lt"/>
              </a:rPr>
              <a:t>This project develops a multi-agent AI framework for cross-domain monitoring, investigation and decision support in Chennai.</a:t>
            </a:r>
          </a:p>
          <a:p>
            <a:pPr lvl="0"/>
            <a:r>
              <a:rPr lang="en-IN" dirty="0">
                <a:latin typeface="+mn-lt"/>
              </a:rPr>
              <a:t>The system combines real historical datasets, anomaly detection, knowledge retrieval and simulation.</a:t>
            </a:r>
          </a:p>
        </p:txBody>
      </p:sp>
      <p:sp>
        <p:nvSpPr>
          <p:cNvPr id="3" name="TextBox 2">
            <a:extLst>
              <a:ext uri="{FF2B5EF4-FFF2-40B4-BE49-F238E27FC236}">
                <a16:creationId xmlns:a16="http://schemas.microsoft.com/office/drawing/2014/main" id="{AB4E3812-AF2F-9DD8-6ECF-C3425146B38F}"/>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Introduction</a:t>
            </a:r>
          </a:p>
        </p:txBody>
      </p:sp>
      <p:cxnSp>
        <p:nvCxnSpPr>
          <p:cNvPr id="5" name="Straight Connector 4">
            <a:extLst>
              <a:ext uri="{FF2B5EF4-FFF2-40B4-BE49-F238E27FC236}">
                <a16:creationId xmlns:a16="http://schemas.microsoft.com/office/drawing/2014/main" id="{A295426A-3395-FE92-30C7-C8A6AC62DE62}"/>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D91B1D4-191E-E882-BD37-9FBAED57B57F}"/>
              </a:ext>
            </a:extLst>
          </p:cNvPr>
          <p:cNvSpPr txBox="1"/>
          <p:nvPr/>
        </p:nvSpPr>
        <p:spPr>
          <a:xfrm>
            <a:off x="6093893" y="57036"/>
            <a:ext cx="6098107" cy="369332"/>
          </a:xfrm>
          <a:prstGeom prst="rect">
            <a:avLst/>
          </a:prstGeom>
          <a:noFill/>
        </p:spPr>
        <p:txBody>
          <a:bodyPr wrap="square" rtlCol="0">
            <a:spAutoFit/>
          </a:bodyPr>
          <a:lstStyle/>
          <a:p>
            <a:pPr algn="r"/>
            <a:r>
              <a:rPr lang="en-IN" dirty="0">
                <a:solidFill>
                  <a:schemeClr val="bg1"/>
                </a:solidFill>
              </a:rPr>
              <a:t>AGENTIC AI FOR URBAN INFRASTRUCTURE</a:t>
            </a:r>
            <a:endParaRPr lang="en-US" b="1" i="1" dirty="0">
              <a:solidFill>
                <a:schemeClr val="bg1"/>
              </a:solidFill>
            </a:endParaRPr>
          </a:p>
        </p:txBody>
      </p:sp>
    </p:spTree>
    <p:extLst>
      <p:ext uri="{BB962C8B-B14F-4D97-AF65-F5344CB8AC3E}">
        <p14:creationId xmlns:p14="http://schemas.microsoft.com/office/powerpoint/2010/main" val="2088180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1235D-73A1-0B84-0745-6B97432CB07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4D551BF-43EB-C049-6D3B-4D17D5775294}"/>
              </a:ext>
            </a:extLst>
          </p:cNvPr>
          <p:cNvSpPr>
            <a:spLocks noGrp="1"/>
          </p:cNvSpPr>
          <p:nvPr>
            <p:ph type="body" sz="quarter" idx="13"/>
          </p:nvPr>
        </p:nvSpPr>
        <p:spPr>
          <a:xfrm>
            <a:off x="255996" y="1457711"/>
            <a:ext cx="11539764" cy="4142989"/>
          </a:xfrm>
        </p:spPr>
        <p:txBody>
          <a:bodyPr/>
          <a:lstStyle/>
          <a:p>
            <a:pPr lvl="0"/>
            <a:r>
              <a:rPr lang="en-IN" dirty="0">
                <a:latin typeface="+mn-lt"/>
              </a:rPr>
              <a:t>Develop specialized AI agents for five urban infrastructure domains.</a:t>
            </a:r>
          </a:p>
          <a:p>
            <a:pPr lvl="0"/>
            <a:r>
              <a:rPr lang="en-IN" dirty="0">
                <a:latin typeface="+mn-lt"/>
              </a:rPr>
              <a:t>Detect abnormal conditions using historical data and statistical/ML models.</a:t>
            </a:r>
          </a:p>
          <a:p>
            <a:pPr lvl="0"/>
            <a:r>
              <a:rPr lang="en-IN" dirty="0">
                <a:latin typeface="+mn-lt"/>
              </a:rPr>
              <a:t>Investigate potential cross-domain impacts using evidence and domain knowledge.</a:t>
            </a:r>
          </a:p>
          <a:p>
            <a:pPr lvl="0"/>
            <a:r>
              <a:rPr lang="en-IN" dirty="0">
                <a:latin typeface="+mn-lt"/>
              </a:rPr>
              <a:t>Compare mitigation options through scenario-based simulation.</a:t>
            </a:r>
          </a:p>
          <a:p>
            <a:pPr lvl="0"/>
            <a:r>
              <a:rPr lang="en-IN" dirty="0">
                <a:latin typeface="+mn-lt"/>
              </a:rPr>
              <a:t>Generate ranked recommendations with explanations.</a:t>
            </a:r>
          </a:p>
          <a:p>
            <a:pPr lvl="0"/>
            <a:r>
              <a:rPr lang="en-IN" dirty="0">
                <a:latin typeface="+mn-lt"/>
              </a:rPr>
              <a:t>Maintain human approval before operational actions.</a:t>
            </a:r>
          </a:p>
        </p:txBody>
      </p:sp>
      <p:sp>
        <p:nvSpPr>
          <p:cNvPr id="3" name="TextBox 2">
            <a:extLst>
              <a:ext uri="{FF2B5EF4-FFF2-40B4-BE49-F238E27FC236}">
                <a16:creationId xmlns:a16="http://schemas.microsoft.com/office/drawing/2014/main" id="{72FF40D3-B05A-88C3-591F-882A93FC9918}"/>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Objective</a:t>
            </a:r>
          </a:p>
        </p:txBody>
      </p:sp>
      <p:cxnSp>
        <p:nvCxnSpPr>
          <p:cNvPr id="5" name="Straight Connector 4">
            <a:extLst>
              <a:ext uri="{FF2B5EF4-FFF2-40B4-BE49-F238E27FC236}">
                <a16:creationId xmlns:a16="http://schemas.microsoft.com/office/drawing/2014/main" id="{12740D4D-2363-70E1-0E6E-1BDDA8C33C8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4452DD5-D934-4955-F39B-2109AC72692F}"/>
              </a:ext>
            </a:extLst>
          </p:cNvPr>
          <p:cNvSpPr txBox="1"/>
          <p:nvPr/>
        </p:nvSpPr>
        <p:spPr>
          <a:xfrm>
            <a:off x="6093893" y="57036"/>
            <a:ext cx="6098107" cy="369332"/>
          </a:xfrm>
          <a:prstGeom prst="rect">
            <a:avLst/>
          </a:prstGeom>
          <a:noFill/>
        </p:spPr>
        <p:txBody>
          <a:bodyPr wrap="square" rtlCol="0">
            <a:spAutoFit/>
          </a:bodyPr>
          <a:lstStyle/>
          <a:p>
            <a:pPr algn="r"/>
            <a:r>
              <a:rPr lang="en-IN" dirty="0">
                <a:solidFill>
                  <a:schemeClr val="bg1"/>
                </a:solidFill>
              </a:rPr>
              <a:t>AGENTIC AI FOR URBAN INFRASTRUCTURE</a:t>
            </a:r>
            <a:endParaRPr lang="en-US" b="1" i="1" dirty="0">
              <a:solidFill>
                <a:schemeClr val="bg1"/>
              </a:solidFill>
            </a:endParaRPr>
          </a:p>
        </p:txBody>
      </p:sp>
    </p:spTree>
    <p:extLst>
      <p:ext uri="{BB962C8B-B14F-4D97-AF65-F5344CB8AC3E}">
        <p14:creationId xmlns:p14="http://schemas.microsoft.com/office/powerpoint/2010/main" val="1739450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F24291B-7EDA-4E3D-40F5-03FDC22C3364}"/>
              </a:ext>
            </a:extLst>
          </p:cNvPr>
          <p:cNvSpPr>
            <a:spLocks noGrp="1"/>
          </p:cNvSpPr>
          <p:nvPr>
            <p:ph type="body" sz="quarter" idx="13"/>
          </p:nvPr>
        </p:nvSpPr>
        <p:spPr>
          <a:xfrm>
            <a:off x="416016" y="1271221"/>
            <a:ext cx="10624338" cy="4395023"/>
          </a:xfrm>
        </p:spPr>
        <p:txBody>
          <a:bodyPr/>
          <a:lstStyle/>
          <a:p>
            <a:pPr marL="0" indent="0">
              <a:buNone/>
            </a:pPr>
            <a:r>
              <a:rPr lang="en-IN" dirty="0">
                <a:latin typeface="+mn-lt"/>
              </a:rPr>
              <a:t>1. Weather Intelligence Agent</a:t>
            </a:r>
          </a:p>
          <a:p>
            <a:pPr lvl="1"/>
            <a:r>
              <a:rPr lang="en-IN" sz="2800" dirty="0">
                <a:solidFill>
                  <a:schemeClr val="accent1"/>
                </a:solidFill>
              </a:rPr>
              <a:t>Rainfall monitoring and anomaly detection.</a:t>
            </a:r>
          </a:p>
          <a:p>
            <a:pPr lvl="1"/>
            <a:r>
              <a:rPr lang="en-IN" sz="2800" dirty="0">
                <a:solidFill>
                  <a:schemeClr val="accent1"/>
                </a:solidFill>
              </a:rPr>
              <a:t>Historical rainfall and extreme-event analysis.</a:t>
            </a:r>
          </a:p>
          <a:p>
            <a:pPr marL="0" indent="0">
              <a:buNone/>
            </a:pPr>
            <a:r>
              <a:rPr lang="en-IN" dirty="0">
                <a:latin typeface="+mn-lt"/>
              </a:rPr>
              <a:t>2. Water Infrastructure Agent</a:t>
            </a:r>
          </a:p>
          <a:p>
            <a:pPr lvl="1"/>
            <a:r>
              <a:rPr lang="en-IN" sz="2800" dirty="0">
                <a:solidFill>
                  <a:schemeClr val="accent1"/>
                </a:solidFill>
              </a:rPr>
              <a:t>Reservoir storage and lake inflow/outflow analysis.</a:t>
            </a:r>
          </a:p>
          <a:p>
            <a:pPr lvl="1"/>
            <a:r>
              <a:rPr lang="en-IN" sz="2800" dirty="0">
                <a:solidFill>
                  <a:schemeClr val="accent1"/>
                </a:solidFill>
              </a:rPr>
              <a:t>Water-resource stress assessment.</a:t>
            </a:r>
          </a:p>
          <a:p>
            <a:pPr marL="0" indent="0">
              <a:buNone/>
            </a:pPr>
            <a:r>
              <a:rPr lang="en-IN" dirty="0">
                <a:latin typeface="+mn-lt"/>
              </a:rPr>
              <a:t>3. Drainage Infrastructure Agent</a:t>
            </a:r>
          </a:p>
          <a:p>
            <a:pPr lvl="1"/>
            <a:r>
              <a:rPr lang="en-IN" sz="2800" dirty="0">
                <a:solidFill>
                  <a:schemeClr val="accent1"/>
                </a:solidFill>
              </a:rPr>
              <a:t>Pumping motor and sewage flow-meter analysis.</a:t>
            </a:r>
          </a:p>
          <a:p>
            <a:pPr lvl="1"/>
            <a:r>
              <a:rPr lang="en-IN" sz="2800" dirty="0">
                <a:solidFill>
                  <a:schemeClr val="accent1"/>
                </a:solidFill>
              </a:rPr>
              <a:t>Historical flood exposure assessment.</a:t>
            </a:r>
          </a:p>
          <a:p>
            <a:pPr lvl="1"/>
            <a:endParaRPr lang="en-US" sz="2800" dirty="0">
              <a:solidFill>
                <a:srgbClr val="1C3898"/>
              </a:solidFill>
            </a:endParaRPr>
          </a:p>
        </p:txBody>
      </p:sp>
      <p:sp>
        <p:nvSpPr>
          <p:cNvPr id="3" name="TextBox 2">
            <a:extLst>
              <a:ext uri="{FF2B5EF4-FFF2-40B4-BE49-F238E27FC236}">
                <a16:creationId xmlns:a16="http://schemas.microsoft.com/office/drawing/2014/main" id="{25EA9B7F-B60D-6297-DC95-0FDA7E6D7C7C}"/>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Modules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06F77F89-4F98-73F2-FD5A-5DD416A6F12F}"/>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5221164-7940-3B34-A613-28A74A63E0F7}"/>
              </a:ext>
            </a:extLst>
          </p:cNvPr>
          <p:cNvSpPr txBox="1"/>
          <p:nvPr/>
        </p:nvSpPr>
        <p:spPr>
          <a:xfrm>
            <a:off x="6093893" y="57036"/>
            <a:ext cx="6098107" cy="369332"/>
          </a:xfrm>
          <a:prstGeom prst="rect">
            <a:avLst/>
          </a:prstGeom>
          <a:noFill/>
        </p:spPr>
        <p:txBody>
          <a:bodyPr wrap="square" rtlCol="0">
            <a:spAutoFit/>
          </a:bodyPr>
          <a:lstStyle/>
          <a:p>
            <a:pPr algn="r"/>
            <a:r>
              <a:rPr lang="en-IN" dirty="0">
                <a:solidFill>
                  <a:schemeClr val="bg1"/>
                </a:solidFill>
              </a:rPr>
              <a:t>AGENTIC AI FOR URBAN INFRASTRUCTURE</a:t>
            </a:r>
            <a:endParaRPr lang="en-US" b="1" i="1" dirty="0">
              <a:solidFill>
                <a:schemeClr val="bg1"/>
              </a:solidFill>
            </a:endParaRPr>
          </a:p>
        </p:txBody>
      </p:sp>
    </p:spTree>
    <p:extLst>
      <p:ext uri="{BB962C8B-B14F-4D97-AF65-F5344CB8AC3E}">
        <p14:creationId xmlns:p14="http://schemas.microsoft.com/office/powerpoint/2010/main" val="33775862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4ADE8-070A-2711-8AEA-019B3A54941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C57144F-5CAC-E9B7-6497-21631EF2CF38}"/>
              </a:ext>
            </a:extLst>
          </p:cNvPr>
          <p:cNvSpPr>
            <a:spLocks noGrp="1"/>
          </p:cNvSpPr>
          <p:nvPr>
            <p:ph type="body" sz="quarter" idx="13"/>
          </p:nvPr>
        </p:nvSpPr>
        <p:spPr>
          <a:xfrm>
            <a:off x="255996" y="1545539"/>
            <a:ext cx="10624338" cy="4395023"/>
          </a:xfrm>
        </p:spPr>
        <p:txBody>
          <a:bodyPr/>
          <a:lstStyle/>
          <a:p>
            <a:pPr marL="0" indent="0">
              <a:buNone/>
            </a:pPr>
            <a:r>
              <a:rPr lang="en-IN" dirty="0">
                <a:latin typeface="+mn-lt"/>
              </a:rPr>
              <a:t>4. Train Infrastructure Agent</a:t>
            </a:r>
          </a:p>
          <a:p>
            <a:pPr lvl="1"/>
            <a:r>
              <a:rPr lang="en-IN" sz="2800" dirty="0">
                <a:solidFill>
                  <a:schemeClr val="accent1"/>
                </a:solidFill>
              </a:rPr>
              <a:t>Metro/MRTS station locations and flood exposure.</a:t>
            </a:r>
          </a:p>
          <a:p>
            <a:pPr lvl="1"/>
            <a:r>
              <a:rPr lang="en-IN" sz="2800" dirty="0">
                <a:solidFill>
                  <a:schemeClr val="accent1"/>
                </a:solidFill>
              </a:rPr>
              <a:t>Escalator, lift and train telemetry marked as data required.</a:t>
            </a:r>
          </a:p>
          <a:p>
            <a:pPr marL="0" indent="0">
              <a:buNone/>
            </a:pPr>
            <a:r>
              <a:rPr lang="en-IN" dirty="0">
                <a:latin typeface="+mn-lt"/>
              </a:rPr>
              <a:t>5. Traffic Safety Agent</a:t>
            </a:r>
          </a:p>
          <a:p>
            <a:pPr lvl="1"/>
            <a:r>
              <a:rPr lang="en-IN" sz="2800" dirty="0">
                <a:solidFill>
                  <a:schemeClr val="accent1"/>
                </a:solidFill>
              </a:rPr>
              <a:t>Historical road accidents, fatalities and injuries.</a:t>
            </a:r>
          </a:p>
          <a:p>
            <a:pPr lvl="1"/>
            <a:r>
              <a:rPr lang="en-IN" sz="2800" dirty="0">
                <a:solidFill>
                  <a:schemeClr val="accent1"/>
                </a:solidFill>
              </a:rPr>
              <a:t>Live traffic monitoring marked as data required.</a:t>
            </a:r>
          </a:p>
        </p:txBody>
      </p:sp>
      <p:sp>
        <p:nvSpPr>
          <p:cNvPr id="3" name="TextBox 2">
            <a:extLst>
              <a:ext uri="{FF2B5EF4-FFF2-40B4-BE49-F238E27FC236}">
                <a16:creationId xmlns:a16="http://schemas.microsoft.com/office/drawing/2014/main" id="{8EBBF94A-D866-615B-3D97-F50E862E77A8}"/>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Modules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14BD5C26-0F58-ADC6-172F-58B547B30D03}"/>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B15A46C4-87AD-F061-2769-DB96D6E10933}"/>
              </a:ext>
            </a:extLst>
          </p:cNvPr>
          <p:cNvSpPr txBox="1"/>
          <p:nvPr/>
        </p:nvSpPr>
        <p:spPr>
          <a:xfrm>
            <a:off x="6093893" y="57036"/>
            <a:ext cx="6098107" cy="369332"/>
          </a:xfrm>
          <a:prstGeom prst="rect">
            <a:avLst/>
          </a:prstGeom>
          <a:noFill/>
        </p:spPr>
        <p:txBody>
          <a:bodyPr wrap="square" rtlCol="0">
            <a:spAutoFit/>
          </a:bodyPr>
          <a:lstStyle/>
          <a:p>
            <a:pPr algn="r"/>
            <a:r>
              <a:rPr lang="en-IN" dirty="0">
                <a:solidFill>
                  <a:schemeClr val="bg1"/>
                </a:solidFill>
              </a:rPr>
              <a:t>AGENTIC AI FOR URBAN INFRASTRUCTURE</a:t>
            </a:r>
            <a:endParaRPr lang="en-US" b="1" i="1" dirty="0">
              <a:solidFill>
                <a:schemeClr val="bg1"/>
              </a:solidFill>
            </a:endParaRPr>
          </a:p>
        </p:txBody>
      </p:sp>
    </p:spTree>
    <p:extLst>
      <p:ext uri="{BB962C8B-B14F-4D97-AF65-F5344CB8AC3E}">
        <p14:creationId xmlns:p14="http://schemas.microsoft.com/office/powerpoint/2010/main" val="211743190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2D7CD-C158-6FC1-06C7-09444D2DE02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325C8EF-A5DD-AB22-0372-51B9ABE63526}"/>
              </a:ext>
            </a:extLst>
          </p:cNvPr>
          <p:cNvSpPr>
            <a:spLocks noGrp="1"/>
          </p:cNvSpPr>
          <p:nvPr>
            <p:ph type="body" sz="quarter" idx="13"/>
          </p:nvPr>
        </p:nvSpPr>
        <p:spPr>
          <a:xfrm>
            <a:off x="255996" y="1523255"/>
            <a:ext cx="10624338" cy="4142989"/>
          </a:xfrm>
        </p:spPr>
        <p:txBody>
          <a:bodyPr/>
          <a:lstStyle/>
          <a:p>
            <a:pPr lvl="0"/>
            <a:r>
              <a:rPr lang="en-IN" dirty="0">
                <a:latin typeface="+mn-lt"/>
              </a:rPr>
              <a:t>Urban infrastructure data is distributed across multiple domains and datasets.</a:t>
            </a:r>
          </a:p>
          <a:p>
            <a:pPr lvl="0"/>
            <a:r>
              <a:rPr lang="en-IN" dirty="0">
                <a:latin typeface="+mn-lt"/>
              </a:rPr>
              <a:t>Isolated monitoring makes cross-domain impact assessment difficult.</a:t>
            </a:r>
          </a:p>
          <a:p>
            <a:pPr lvl="0"/>
            <a:r>
              <a:rPr lang="en-IN" dirty="0">
                <a:latin typeface="+mn-lt"/>
              </a:rPr>
              <a:t>Historical data alone cannot establish current operational conditions.</a:t>
            </a:r>
          </a:p>
          <a:p>
            <a:pPr lvl="0"/>
            <a:r>
              <a:rPr lang="en-IN" dirty="0">
                <a:latin typeface="+mn-lt"/>
              </a:rPr>
              <a:t>Infrastructure operators need evidence-based diagnosis and comparison of mitigation options.</a:t>
            </a:r>
          </a:p>
          <a:p>
            <a:pPr lvl="0"/>
            <a:r>
              <a:rPr lang="en-IN" dirty="0">
                <a:latin typeface="+mn-lt"/>
              </a:rPr>
              <a:t>A unified system is required to combine domain intelligence, explainable findings and human-controlled decisions.</a:t>
            </a:r>
          </a:p>
        </p:txBody>
      </p:sp>
      <p:sp>
        <p:nvSpPr>
          <p:cNvPr id="3" name="TextBox 2">
            <a:extLst>
              <a:ext uri="{FF2B5EF4-FFF2-40B4-BE49-F238E27FC236}">
                <a16:creationId xmlns:a16="http://schemas.microsoft.com/office/drawing/2014/main" id="{CB15F4B8-EED0-F7BE-96C7-D7AAE989A251}"/>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Problem Statement</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5A882B44-FCE4-BF93-E951-46CF2238FB7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CE164B1-01DD-BF3B-88E8-DF2DEDBFA9EB}"/>
              </a:ext>
            </a:extLst>
          </p:cNvPr>
          <p:cNvSpPr txBox="1"/>
          <p:nvPr/>
        </p:nvSpPr>
        <p:spPr>
          <a:xfrm>
            <a:off x="6093893" y="57036"/>
            <a:ext cx="6098107" cy="369332"/>
          </a:xfrm>
          <a:prstGeom prst="rect">
            <a:avLst/>
          </a:prstGeom>
          <a:noFill/>
        </p:spPr>
        <p:txBody>
          <a:bodyPr wrap="square" rtlCol="0">
            <a:spAutoFit/>
          </a:bodyPr>
          <a:lstStyle/>
          <a:p>
            <a:pPr algn="r"/>
            <a:r>
              <a:rPr lang="en-IN" dirty="0">
                <a:solidFill>
                  <a:schemeClr val="bg1"/>
                </a:solidFill>
              </a:rPr>
              <a:t>AGENTIC AI FOR URBAN INFRASTRUCTURE</a:t>
            </a:r>
            <a:endParaRPr lang="en-US" b="1" i="1" dirty="0">
              <a:solidFill>
                <a:schemeClr val="bg1"/>
              </a:solidFill>
            </a:endParaRPr>
          </a:p>
        </p:txBody>
      </p:sp>
    </p:spTree>
    <p:extLst>
      <p:ext uri="{BB962C8B-B14F-4D97-AF65-F5344CB8AC3E}">
        <p14:creationId xmlns:p14="http://schemas.microsoft.com/office/powerpoint/2010/main" val="2034681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3BE5C-251C-23E3-8F19-EE2DB3009E5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4ABB59C-76FD-5246-4EEE-72212BF64AE4}"/>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Methodology</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04BC82A4-B382-2A00-3070-17B2B47F169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8E73589-106E-E0B7-D90D-C7E75D0CB2B6}"/>
              </a:ext>
            </a:extLst>
          </p:cNvPr>
          <p:cNvSpPr txBox="1"/>
          <p:nvPr/>
        </p:nvSpPr>
        <p:spPr>
          <a:xfrm>
            <a:off x="6093893" y="57036"/>
            <a:ext cx="6098107" cy="369332"/>
          </a:xfrm>
          <a:prstGeom prst="rect">
            <a:avLst/>
          </a:prstGeom>
          <a:noFill/>
        </p:spPr>
        <p:txBody>
          <a:bodyPr wrap="square" rtlCol="0">
            <a:spAutoFit/>
          </a:bodyPr>
          <a:lstStyle/>
          <a:p>
            <a:pPr algn="r"/>
            <a:r>
              <a:rPr lang="en-IN" dirty="0">
                <a:solidFill>
                  <a:schemeClr val="bg1"/>
                </a:solidFill>
              </a:rPr>
              <a:t>AGENTIC AI FOR URBAN INFRASTRUCTURE</a:t>
            </a:r>
            <a:endParaRPr lang="en-US" b="1" i="1" dirty="0">
              <a:solidFill>
                <a:schemeClr val="bg1"/>
              </a:solidFill>
            </a:endParaRPr>
          </a:p>
        </p:txBody>
      </p:sp>
      <p:pic>
        <p:nvPicPr>
          <p:cNvPr id="9" name="Picture 8">
            <a:extLst>
              <a:ext uri="{FF2B5EF4-FFF2-40B4-BE49-F238E27FC236}">
                <a16:creationId xmlns:a16="http://schemas.microsoft.com/office/drawing/2014/main" id="{C8F6C8EC-1B15-4BC3-40C4-2F5FB4327908}"/>
              </a:ext>
            </a:extLst>
          </p:cNvPr>
          <p:cNvPicPr>
            <a:picLocks noChangeAspect="1"/>
          </p:cNvPicPr>
          <p:nvPr/>
        </p:nvPicPr>
        <p:blipFill>
          <a:blip r:embed="rId2">
            <a:extLst>
              <a:ext uri="{28A0092B-C50C-407E-A947-70E740481C1C}">
                <a14:useLocalDpi xmlns:a14="http://schemas.microsoft.com/office/drawing/2010/main" val="0"/>
              </a:ext>
            </a:extLst>
          </a:blip>
          <a:srcRect t="10999" b="4409"/>
          <a:stretch>
            <a:fillRect/>
          </a:stretch>
        </p:blipFill>
        <p:spPr>
          <a:xfrm>
            <a:off x="1012238" y="1424068"/>
            <a:ext cx="10880334" cy="4601969"/>
          </a:xfrm>
          <a:prstGeom prst="rect">
            <a:avLst/>
          </a:prstGeom>
        </p:spPr>
      </p:pic>
    </p:spTree>
    <p:extLst>
      <p:ext uri="{BB962C8B-B14F-4D97-AF65-F5344CB8AC3E}">
        <p14:creationId xmlns:p14="http://schemas.microsoft.com/office/powerpoint/2010/main" val="2015818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7B675-E694-7663-D55C-2461C40B8B8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E433592-8155-CD6F-B5E3-78AB52F31DE6}"/>
              </a:ext>
            </a:extLst>
          </p:cNvPr>
          <p:cNvSpPr>
            <a:spLocks noGrp="1"/>
          </p:cNvSpPr>
          <p:nvPr>
            <p:ph type="body" sz="quarter" idx="13"/>
          </p:nvPr>
        </p:nvSpPr>
        <p:spPr>
          <a:xfrm>
            <a:off x="255996" y="1523255"/>
            <a:ext cx="10624338" cy="4142989"/>
          </a:xfrm>
        </p:spPr>
        <p:txBody>
          <a:bodyPr/>
          <a:lstStyle/>
          <a:p>
            <a:pPr lvl="0"/>
            <a:r>
              <a:rPr lang="en-IN" dirty="0">
                <a:latin typeface="+mn-lt"/>
              </a:rPr>
              <a:t>Isolation Forest for rainfall and lake-flow anomaly detection.</a:t>
            </a:r>
          </a:p>
          <a:p>
            <a:pPr lvl="0"/>
            <a:r>
              <a:rPr lang="en-IN" dirty="0">
                <a:latin typeface="+mn-lt"/>
              </a:rPr>
              <a:t>Statistical correlation for reservoir storage and rainfall analysis.</a:t>
            </a:r>
          </a:p>
          <a:p>
            <a:pPr lvl="0"/>
            <a:r>
              <a:rPr lang="en-IN" dirty="0">
                <a:latin typeface="+mn-lt"/>
              </a:rPr>
              <a:t>Haversine distance for infrastructure proximity assessment.</a:t>
            </a:r>
          </a:p>
          <a:p>
            <a:pPr lvl="0"/>
            <a:r>
              <a:rPr lang="en-IN" dirty="0">
                <a:latin typeface="+mn-lt"/>
              </a:rPr>
              <a:t>RAG for retrieving supporting domain knowledge.</a:t>
            </a:r>
          </a:p>
          <a:p>
            <a:pPr lvl="0"/>
            <a:r>
              <a:rPr lang="en-IN" dirty="0">
                <a:latin typeface="+mn-lt"/>
              </a:rPr>
              <a:t>Rule-based composite risk scoring.</a:t>
            </a:r>
          </a:p>
          <a:p>
            <a:pPr lvl="0"/>
            <a:r>
              <a:rPr lang="en-IN" dirty="0">
                <a:latin typeface="+mn-lt"/>
              </a:rPr>
              <a:t>Multi-criteria decision ranking and scenario comparison.</a:t>
            </a:r>
          </a:p>
        </p:txBody>
      </p:sp>
      <p:sp>
        <p:nvSpPr>
          <p:cNvPr id="3" name="TextBox 2">
            <a:extLst>
              <a:ext uri="{FF2B5EF4-FFF2-40B4-BE49-F238E27FC236}">
                <a16:creationId xmlns:a16="http://schemas.microsoft.com/office/drawing/2014/main" id="{3D243BDD-B44E-04F0-FA93-336DD2FFA770}"/>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Approach</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14963133-FFA1-7CF4-9FAD-E6A120EF4238}"/>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FEA3EC9D-D5AF-E54C-A3D0-5E42F32DC03B}"/>
              </a:ext>
            </a:extLst>
          </p:cNvPr>
          <p:cNvSpPr txBox="1"/>
          <p:nvPr/>
        </p:nvSpPr>
        <p:spPr>
          <a:xfrm>
            <a:off x="6093893" y="57036"/>
            <a:ext cx="6098107" cy="369332"/>
          </a:xfrm>
          <a:prstGeom prst="rect">
            <a:avLst/>
          </a:prstGeom>
          <a:noFill/>
        </p:spPr>
        <p:txBody>
          <a:bodyPr wrap="square" rtlCol="0">
            <a:spAutoFit/>
          </a:bodyPr>
          <a:lstStyle/>
          <a:p>
            <a:pPr algn="r"/>
            <a:r>
              <a:rPr lang="en-IN" dirty="0">
                <a:solidFill>
                  <a:schemeClr val="bg1"/>
                </a:solidFill>
              </a:rPr>
              <a:t>AGENTIC AI FOR URBAN INFRASTRUCTURE</a:t>
            </a:r>
            <a:endParaRPr lang="en-US" b="1" i="1" dirty="0">
              <a:solidFill>
                <a:schemeClr val="bg1"/>
              </a:solidFill>
            </a:endParaRPr>
          </a:p>
        </p:txBody>
      </p:sp>
    </p:spTree>
    <p:extLst>
      <p:ext uri="{BB962C8B-B14F-4D97-AF65-F5344CB8AC3E}">
        <p14:creationId xmlns:p14="http://schemas.microsoft.com/office/powerpoint/2010/main" val="107944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CEA2B-384E-F256-4734-5578EDB524A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0F88864-2E71-2992-AD53-E8948837272B}"/>
              </a:ext>
            </a:extLst>
          </p:cNvPr>
          <p:cNvSpPr>
            <a:spLocks noGrp="1"/>
          </p:cNvSpPr>
          <p:nvPr>
            <p:ph type="body" sz="quarter" idx="13"/>
          </p:nvPr>
        </p:nvSpPr>
        <p:spPr>
          <a:xfrm>
            <a:off x="255996" y="1506271"/>
            <a:ext cx="11265444" cy="4142989"/>
          </a:xfrm>
        </p:spPr>
        <p:txBody>
          <a:bodyPr/>
          <a:lstStyle/>
          <a:p>
            <a:pPr marL="0" indent="0">
              <a:buNone/>
            </a:pPr>
            <a:r>
              <a:rPr lang="en-IN" dirty="0">
                <a:latin typeface="+mn-lt"/>
              </a:rPr>
              <a:t>Dataset Findings</a:t>
            </a:r>
          </a:p>
          <a:p>
            <a:pPr marL="0" indent="0">
              <a:buNone/>
            </a:pPr>
            <a:endParaRPr lang="en-IN" sz="1000" dirty="0">
              <a:latin typeface="+mn-lt"/>
            </a:endParaRPr>
          </a:p>
          <a:p>
            <a:pPr lvl="1"/>
            <a:r>
              <a:rPr lang="en-IN" sz="2800" dirty="0">
                <a:solidFill>
                  <a:schemeClr val="accent1"/>
                </a:solidFill>
              </a:rPr>
              <a:t>Rainfall: 20,055 cleaned station-day records reported across 62 stations.</a:t>
            </a:r>
          </a:p>
          <a:p>
            <a:pPr lvl="1"/>
            <a:r>
              <a:rPr lang="en-IN" sz="2800" dirty="0">
                <a:solidFill>
                  <a:schemeClr val="accent1"/>
                </a:solidFill>
              </a:rPr>
              <a:t>Water: Four major reservoirs with a combined capacity of 9,065 MCFT.</a:t>
            </a:r>
          </a:p>
          <a:p>
            <a:pPr lvl="1"/>
            <a:r>
              <a:rPr lang="en-IN" sz="2800" dirty="0">
                <a:solidFill>
                  <a:schemeClr val="accent1"/>
                </a:solidFill>
              </a:rPr>
              <a:t>Drainage: 1,208 pumping motors and 42 sewage flow meters.</a:t>
            </a:r>
          </a:p>
          <a:p>
            <a:pPr lvl="1"/>
            <a:r>
              <a:rPr lang="en-IN" sz="2800" dirty="0">
                <a:solidFill>
                  <a:schemeClr val="accent1"/>
                </a:solidFill>
              </a:rPr>
              <a:t>Flood data: 945 historical inundation observations.</a:t>
            </a:r>
          </a:p>
          <a:p>
            <a:pPr lvl="1"/>
            <a:r>
              <a:rPr lang="en-IN" sz="2800" dirty="0">
                <a:solidFill>
                  <a:schemeClr val="accent1"/>
                </a:solidFill>
              </a:rPr>
              <a:t>Train infrastructure: 118 station locations.</a:t>
            </a:r>
          </a:p>
          <a:p>
            <a:pPr lvl="1"/>
            <a:r>
              <a:rPr lang="en-IN" sz="2800" dirty="0">
                <a:solidFill>
                  <a:schemeClr val="accent1"/>
                </a:solidFill>
              </a:rPr>
              <a:t>Traffic: 28 annual records covering 1998–2025, with 165,289 reported accidents.</a:t>
            </a:r>
          </a:p>
        </p:txBody>
      </p:sp>
      <p:sp>
        <p:nvSpPr>
          <p:cNvPr id="3" name="TextBox 2">
            <a:extLst>
              <a:ext uri="{FF2B5EF4-FFF2-40B4-BE49-F238E27FC236}">
                <a16:creationId xmlns:a16="http://schemas.microsoft.com/office/drawing/2014/main" id="{3411E118-0427-BF72-3B78-1707B0D6E382}"/>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Findings and Results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7A5618F6-CE69-311A-F79A-D12C7E917449}"/>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4F7A196-7B69-DD68-52A5-39CD9B799F7D}"/>
              </a:ext>
            </a:extLst>
          </p:cNvPr>
          <p:cNvSpPr txBox="1"/>
          <p:nvPr/>
        </p:nvSpPr>
        <p:spPr>
          <a:xfrm>
            <a:off x="6093893" y="57036"/>
            <a:ext cx="6098107" cy="369332"/>
          </a:xfrm>
          <a:prstGeom prst="rect">
            <a:avLst/>
          </a:prstGeom>
          <a:noFill/>
        </p:spPr>
        <p:txBody>
          <a:bodyPr wrap="square" rtlCol="0">
            <a:spAutoFit/>
          </a:bodyPr>
          <a:lstStyle/>
          <a:p>
            <a:pPr algn="r"/>
            <a:r>
              <a:rPr lang="en-IN" dirty="0">
                <a:solidFill>
                  <a:schemeClr val="bg1"/>
                </a:solidFill>
              </a:rPr>
              <a:t>AGENTIC AI FOR URBAN INFRASTRUCTURE</a:t>
            </a:r>
            <a:endParaRPr lang="en-US" b="1" i="1" dirty="0">
              <a:solidFill>
                <a:schemeClr val="bg1"/>
              </a:solidFill>
            </a:endParaRPr>
          </a:p>
        </p:txBody>
      </p:sp>
    </p:spTree>
    <p:extLst>
      <p:ext uri="{BB962C8B-B14F-4D97-AF65-F5344CB8AC3E}">
        <p14:creationId xmlns:p14="http://schemas.microsoft.com/office/powerpoint/2010/main" val="679362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0164-E81E-A9F8-A3A4-C04F97290E0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375CEE8-7ED5-B98E-542A-EFF3FB5F3340}"/>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Findings and Results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0D4076CF-1765-7025-6308-02D50971644F}"/>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C16292A-C29B-FB81-4220-45C61F992800}"/>
              </a:ext>
            </a:extLst>
          </p:cNvPr>
          <p:cNvSpPr txBox="1"/>
          <p:nvPr/>
        </p:nvSpPr>
        <p:spPr>
          <a:xfrm>
            <a:off x="6093893" y="57036"/>
            <a:ext cx="6098107" cy="369332"/>
          </a:xfrm>
          <a:prstGeom prst="rect">
            <a:avLst/>
          </a:prstGeom>
          <a:noFill/>
        </p:spPr>
        <p:txBody>
          <a:bodyPr wrap="square" rtlCol="0">
            <a:spAutoFit/>
          </a:bodyPr>
          <a:lstStyle/>
          <a:p>
            <a:pPr algn="r"/>
            <a:r>
              <a:rPr lang="en-IN" dirty="0">
                <a:solidFill>
                  <a:schemeClr val="bg1"/>
                </a:solidFill>
              </a:rPr>
              <a:t>AGENTIC AI FOR URBAN INFRASTRUCTURE</a:t>
            </a:r>
            <a:endParaRPr lang="en-US" b="1" i="1" dirty="0">
              <a:solidFill>
                <a:schemeClr val="bg1"/>
              </a:solidFill>
            </a:endParaRPr>
          </a:p>
        </p:txBody>
      </p:sp>
      <p:pic>
        <p:nvPicPr>
          <p:cNvPr id="9" name="Picture 8">
            <a:extLst>
              <a:ext uri="{FF2B5EF4-FFF2-40B4-BE49-F238E27FC236}">
                <a16:creationId xmlns:a16="http://schemas.microsoft.com/office/drawing/2014/main" id="{4A8E7E25-2003-CFE3-403F-A2A7E1518BE6}"/>
              </a:ext>
            </a:extLst>
          </p:cNvPr>
          <p:cNvPicPr>
            <a:picLocks noChangeAspect="1"/>
          </p:cNvPicPr>
          <p:nvPr/>
        </p:nvPicPr>
        <p:blipFill>
          <a:blip r:embed="rId2"/>
          <a:stretch>
            <a:fillRect/>
          </a:stretch>
        </p:blipFill>
        <p:spPr>
          <a:xfrm>
            <a:off x="1234440" y="1362213"/>
            <a:ext cx="10430114" cy="4786238"/>
          </a:xfrm>
          <a:prstGeom prst="rect">
            <a:avLst/>
          </a:prstGeom>
        </p:spPr>
      </p:pic>
    </p:spTree>
    <p:extLst>
      <p:ext uri="{BB962C8B-B14F-4D97-AF65-F5344CB8AC3E}">
        <p14:creationId xmlns:p14="http://schemas.microsoft.com/office/powerpoint/2010/main" val="90934553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5BBC5-46B5-0DF4-A2AC-5289D295735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7872131-A6C0-4ECF-9994-EA002B6EAD86}"/>
              </a:ext>
            </a:extLst>
          </p:cNvPr>
          <p:cNvSpPr>
            <a:spLocks noGrp="1"/>
          </p:cNvSpPr>
          <p:nvPr>
            <p:ph type="body" sz="quarter" idx="13"/>
          </p:nvPr>
        </p:nvSpPr>
        <p:spPr>
          <a:xfrm>
            <a:off x="221274" y="1271219"/>
            <a:ext cx="11665926" cy="4142989"/>
          </a:xfrm>
        </p:spPr>
        <p:txBody>
          <a:bodyPr/>
          <a:lstStyle/>
          <a:p>
            <a:pPr lvl="0"/>
            <a:r>
              <a:rPr lang="en-IN" sz="2500" dirty="0">
                <a:latin typeface="+mn-lt"/>
              </a:rPr>
              <a:t>Developed a multi-agent framework for Chennai's urban infrastructure intelligence.</a:t>
            </a:r>
          </a:p>
          <a:p>
            <a:pPr lvl="0"/>
            <a:r>
              <a:rPr lang="en-IN" sz="2500" dirty="0">
                <a:latin typeface="+mn-lt"/>
              </a:rPr>
              <a:t>Integrated historical datasets, anomaly detection, RAG-based evidence and cross-domain diagnosis.</a:t>
            </a:r>
          </a:p>
          <a:p>
            <a:pPr lvl="0"/>
            <a:r>
              <a:rPr lang="en-IN" sz="2500" dirty="0">
                <a:latin typeface="+mn-lt"/>
              </a:rPr>
              <a:t>Enabled scenario comparison and ranked mitigation recommendations.</a:t>
            </a:r>
          </a:p>
          <a:p>
            <a:pPr lvl="0"/>
            <a:r>
              <a:rPr lang="en-IN" sz="2500" dirty="0">
                <a:latin typeface="+mn-lt"/>
              </a:rPr>
              <a:t>Implemented human approval for operational decisions.</a:t>
            </a:r>
          </a:p>
          <a:p>
            <a:pPr lvl="0"/>
            <a:r>
              <a:rPr lang="en-IN" sz="2500" dirty="0">
                <a:latin typeface="+mn-lt"/>
              </a:rPr>
              <a:t>Backend tests and frontend build passed successfully.</a:t>
            </a:r>
          </a:p>
          <a:p>
            <a:pPr lvl="0"/>
            <a:endParaRPr lang="en-IN" sz="2500" dirty="0">
              <a:latin typeface="+mn-lt"/>
            </a:endParaRPr>
          </a:p>
          <a:p>
            <a:pPr marL="0" indent="0">
              <a:buNone/>
            </a:pPr>
            <a:r>
              <a:rPr lang="en-IN" sz="2500" dirty="0">
                <a:latin typeface="+mn-lt"/>
              </a:rPr>
              <a:t>Current Limitation: </a:t>
            </a:r>
            <a:r>
              <a:rPr lang="en-IN" sz="2500" b="0" dirty="0">
                <a:solidFill>
                  <a:schemeClr val="accent1"/>
                </a:solidFill>
                <a:latin typeface="+mn-lt"/>
              </a:rPr>
              <a:t>Live weather feeds, water/drainage SCADA, train GPS, escalator/lift 	telemetry and live traffic feeds are not connected.</a:t>
            </a:r>
          </a:p>
          <a:p>
            <a:pPr marL="0" indent="0">
              <a:buNone/>
            </a:pPr>
            <a:r>
              <a:rPr lang="en-IN" sz="2500" dirty="0">
                <a:latin typeface="+mn-lt"/>
              </a:rPr>
              <a:t>Future Scope: </a:t>
            </a:r>
            <a:r>
              <a:rPr lang="en-IN" sz="2500" b="0" dirty="0">
                <a:solidFill>
                  <a:schemeClr val="accent1"/>
                </a:solidFill>
                <a:latin typeface="+mn-lt"/>
              </a:rPr>
              <a:t>Integrate verified real-time data, improve model validation and evaluate   	the framework across additional historical events</a:t>
            </a:r>
            <a:r>
              <a:rPr lang="en-IN" sz="2500" dirty="0">
                <a:latin typeface="+mn-lt"/>
              </a:rPr>
              <a:t>.</a:t>
            </a:r>
          </a:p>
          <a:p>
            <a:pPr marL="0" indent="0">
              <a:lnSpc>
                <a:spcPct val="150000"/>
              </a:lnSpc>
              <a:buNone/>
            </a:pPr>
            <a:endParaRPr lang="en-US" sz="2400" b="0" dirty="0">
              <a:solidFill>
                <a:srgbClr val="5583D1"/>
              </a:solidFill>
            </a:endParaRPr>
          </a:p>
        </p:txBody>
      </p:sp>
      <p:sp>
        <p:nvSpPr>
          <p:cNvPr id="3" name="TextBox 2">
            <a:extLst>
              <a:ext uri="{FF2B5EF4-FFF2-40B4-BE49-F238E27FC236}">
                <a16:creationId xmlns:a16="http://schemas.microsoft.com/office/drawing/2014/main" id="{DBEA9949-295E-B2C7-8E3A-639B0AD48F51}"/>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Conclusion</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1C3477A6-BED1-8211-5527-9030F1E86940}"/>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AB5AC1E1-8B68-1019-1B7A-0CF7BDC8B3EC}"/>
              </a:ext>
            </a:extLst>
          </p:cNvPr>
          <p:cNvSpPr txBox="1"/>
          <p:nvPr/>
        </p:nvSpPr>
        <p:spPr>
          <a:xfrm>
            <a:off x="6093893" y="57036"/>
            <a:ext cx="6098107" cy="369332"/>
          </a:xfrm>
          <a:prstGeom prst="rect">
            <a:avLst/>
          </a:prstGeom>
          <a:noFill/>
        </p:spPr>
        <p:txBody>
          <a:bodyPr wrap="square" rtlCol="0">
            <a:spAutoFit/>
          </a:bodyPr>
          <a:lstStyle/>
          <a:p>
            <a:pPr algn="r"/>
            <a:r>
              <a:rPr lang="en-IN" dirty="0">
                <a:solidFill>
                  <a:schemeClr val="bg1"/>
                </a:solidFill>
              </a:rPr>
              <a:t>AGENTIC AI FOR URBAN INFRASTRUCTURE</a:t>
            </a:r>
            <a:endParaRPr lang="en-US" b="1" i="1" dirty="0">
              <a:solidFill>
                <a:schemeClr val="bg1"/>
              </a:solidFill>
            </a:endParaRPr>
          </a:p>
        </p:txBody>
      </p:sp>
    </p:spTree>
    <p:extLst>
      <p:ext uri="{BB962C8B-B14F-4D97-AF65-F5344CB8AC3E}">
        <p14:creationId xmlns:p14="http://schemas.microsoft.com/office/powerpoint/2010/main" val="2198371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C1BA9-EED8-0553-15DB-7AC5ADC07E0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1E11D5E-73A6-DACE-A314-51CBCF3D39FA}"/>
              </a:ext>
            </a:extLst>
          </p:cNvPr>
          <p:cNvSpPr>
            <a:spLocks noGrp="1"/>
          </p:cNvSpPr>
          <p:nvPr>
            <p:ph type="body" sz="quarter" idx="13"/>
          </p:nvPr>
        </p:nvSpPr>
        <p:spPr>
          <a:xfrm>
            <a:off x="255996" y="1271219"/>
            <a:ext cx="10624338" cy="4142989"/>
          </a:xfrm>
        </p:spPr>
        <p:txBody>
          <a:bodyPr/>
          <a:lstStyle/>
          <a:p>
            <a:pPr lvl="0"/>
            <a:r>
              <a:rPr lang="en-IN" sz="2400" dirty="0" err="1"/>
              <a:t>OpenCity</a:t>
            </a:r>
            <a:r>
              <a:rPr lang="en-IN" sz="2400" dirty="0"/>
              <a:t> — Chennai urban infrastructure datasets.</a:t>
            </a:r>
          </a:p>
          <a:p>
            <a:pPr lvl="0"/>
            <a:r>
              <a:rPr lang="en-IN" sz="2400" dirty="0"/>
              <a:t>NASA / relevant public meteorological data sources, where applicable to the collected datasets.</a:t>
            </a:r>
          </a:p>
          <a:p>
            <a:pPr lvl="0"/>
            <a:r>
              <a:rPr lang="en-IN" sz="2400" dirty="0"/>
              <a:t>Jones, Castiel &amp; Olsen, Sophia &amp; Gallegos, Skyler. (2026). Agentic AI Consensus Framework for Continuous Monitoring and Autonomous Governance of Shadow Networking in Hybrid Cloud Ecosystems</a:t>
            </a:r>
          </a:p>
          <a:p>
            <a:pPr lvl="0"/>
            <a:r>
              <a:rPr lang="en-IN" sz="2400" dirty="0"/>
              <a:t>Syam Kumar, </a:t>
            </a:r>
            <a:r>
              <a:rPr lang="en-IN" sz="2400" dirty="0" err="1"/>
              <a:t>Palagummi</a:t>
            </a:r>
            <a:r>
              <a:rPr lang="en-IN" sz="2400" dirty="0"/>
              <a:t> &amp; DHEEPA, N &amp; Havilah, </a:t>
            </a:r>
            <a:r>
              <a:rPr lang="en-IN" sz="2400" dirty="0" err="1"/>
              <a:t>Geddam</a:t>
            </a:r>
            <a:r>
              <a:rPr lang="en-IN" sz="2400" dirty="0"/>
              <a:t> &amp; SRAVANI, KOYYALA. (2026). Agentic AI and Geospatial Intelligence Framework for Smart Government Infrastructure Monitoring, Predictive Analytics, and Decision Support Systems. Intelligent Government Infrastructure Monitoring and Prediction using Agentic AI and Geospatial Intelligence. International Journal for Research Trends and Innovation. 11. 18. </a:t>
            </a:r>
          </a:p>
          <a:p>
            <a:pPr lvl="0"/>
            <a:endParaRPr lang="en-IN" sz="2400" dirty="0"/>
          </a:p>
        </p:txBody>
      </p:sp>
      <p:sp>
        <p:nvSpPr>
          <p:cNvPr id="3" name="TextBox 2">
            <a:extLst>
              <a:ext uri="{FF2B5EF4-FFF2-40B4-BE49-F238E27FC236}">
                <a16:creationId xmlns:a16="http://schemas.microsoft.com/office/drawing/2014/main" id="{776CD0F3-77A2-E482-9F59-462941CA9EFC}"/>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Reference</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0EF328B9-B5B2-A4C8-C436-49616B481A7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9E96C34-B06E-814D-72EC-EF1F6BBFAAF7}"/>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v</a:t>
            </a:r>
            <a:r>
              <a:rPr lang="en-IN" dirty="0">
                <a:solidFill>
                  <a:schemeClr val="bg1"/>
                </a:solidFill>
              </a:rPr>
              <a:t>AGENTIC AI FOR URBAN INFRASTRUCTURE</a:t>
            </a:r>
            <a:endParaRPr lang="en-US" b="1" i="1" dirty="0">
              <a:solidFill>
                <a:schemeClr val="bg1"/>
              </a:solidFill>
            </a:endParaRPr>
          </a:p>
          <a:p>
            <a:pPr algn="r"/>
            <a:endParaRPr lang="en-US" dirty="0"/>
          </a:p>
        </p:txBody>
      </p:sp>
    </p:spTree>
    <p:extLst>
      <p:ext uri="{BB962C8B-B14F-4D97-AF65-F5344CB8AC3E}">
        <p14:creationId xmlns:p14="http://schemas.microsoft.com/office/powerpoint/2010/main" val="1659890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7256</TotalTime>
  <Words>1310</Words>
  <Application>Microsoft Office PowerPoint</Application>
  <PresentationFormat>Widescreen</PresentationFormat>
  <Paragraphs>182</Paragraphs>
  <Slides>23</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Aptos</vt:lpstr>
      <vt:lpstr>Arial</vt:lpstr>
      <vt:lpstr>Calibri</vt:lpstr>
      <vt:lpstr>Calibri (Body)</vt:lpstr>
      <vt:lpstr>Frutiger 45 bold</vt:lpstr>
      <vt:lpstr>Frutiger LT Pro 45 Light</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HARI PRASATH</dc:creator>
  <cp:lastModifiedBy>Sanika Yashwant Gaikwad</cp:lastModifiedBy>
  <cp:revision>18</cp:revision>
  <dcterms:created xsi:type="dcterms:W3CDTF">2024-05-13T10:33:11Z</dcterms:created>
  <dcterms:modified xsi:type="dcterms:W3CDTF">2026-10-14T01:19:34Z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c52bb50-aef2-4dc8-bb7f-e0da22648362_Enabled">
    <vt:lpwstr>true</vt:lpwstr>
  </property>
  <property fmtid="{D5CDD505-2E9C-101B-9397-08002B2CF9AE}" pid="3" name="MSIP_Label_ac52bb50-aef2-4dc8-bb7f-e0da22648362_SetDate">
    <vt:lpwstr>2025-08-25T08:11:33Z</vt:lpwstr>
  </property>
  <property fmtid="{D5CDD505-2E9C-101B-9397-08002B2CF9AE}" pid="4" name="MSIP_Label_ac52bb50-aef2-4dc8-bb7f-e0da22648362_Method">
    <vt:lpwstr>Standard</vt:lpwstr>
  </property>
  <property fmtid="{D5CDD505-2E9C-101B-9397-08002B2CF9AE}" pid="5" name="MSIP_Label_ac52bb50-aef2-4dc8-bb7f-e0da22648362_Name">
    <vt:lpwstr>ac52bb50-aef2-4dc8-bb7f-e0da22648362</vt:lpwstr>
  </property>
  <property fmtid="{D5CDD505-2E9C-101B-9397-08002B2CF9AE}" pid="6" name="MSIP_Label_ac52bb50-aef2-4dc8-bb7f-e0da22648362_SiteId">
    <vt:lpwstr>264b9899-fe1b-430b-9509-2154878d5774</vt:lpwstr>
  </property>
  <property fmtid="{D5CDD505-2E9C-101B-9397-08002B2CF9AE}" pid="7" name="MSIP_Label_ac52bb50-aef2-4dc8-bb7f-e0da22648362_ActionId">
    <vt:lpwstr>5a5317b9-6049-4f38-9ea6-5786aca62bc4</vt:lpwstr>
  </property>
  <property fmtid="{D5CDD505-2E9C-101B-9397-08002B2CF9AE}" pid="8" name="MSIP_Label_ac52bb50-aef2-4dc8-bb7f-e0da22648362_ContentBits">
    <vt:lpwstr>2</vt:lpwstr>
  </property>
  <property fmtid="{D5CDD505-2E9C-101B-9397-08002B2CF9AE}" pid="9" name="MSIP_Label_ac52bb50-aef2-4dc8-bb7f-e0da22648362_Tag">
    <vt:lpwstr>10, 3, 0, 1</vt:lpwstr>
  </property>
  <property fmtid="{D5CDD505-2E9C-101B-9397-08002B2CF9AE}" pid="10" name="ClassificationContentMarkingFooterLocations">
    <vt:lpwstr>1_Office Theme:8</vt:lpwstr>
  </property>
  <property fmtid="{D5CDD505-2E9C-101B-9397-08002B2CF9AE}" pid="11" name="ClassificationContentMarkingFooterText">
    <vt:lpwstr>Sensitivity: LNT Construction Internal Use</vt:lpwstr>
  </property>
</Properties>
</file>