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9" r:id="rId3"/>
    <p:sldId id="260" r:id="rId4"/>
    <p:sldId id="257" r:id="rId5"/>
    <p:sldId id="258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56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04CB-FAFF-45D1-0E5D-3AE0210A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66DDC-7556-051E-1F4A-5E0DA448A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E73BE-B81F-2423-506A-1C9FF23C3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DD2FD-ED35-33DC-2FB6-043205933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3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0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D226-CCB5-99F2-6FCA-5DB8F508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933F112-136C-068E-DC8E-B5532038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7" y="-1079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2D0BC53-1D88-EF8C-80FB-795332C28448}"/>
              </a:ext>
            </a:extLst>
          </p:cNvPr>
          <p:cNvSpPr/>
          <p:nvPr/>
        </p:nvSpPr>
        <p:spPr>
          <a:xfrm>
            <a:off x="-967" y="-1079"/>
            <a:ext cx="119062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0">
            <a:extLst>
              <a:ext uri="{FF2B5EF4-FFF2-40B4-BE49-F238E27FC236}">
                <a16:creationId xmlns:a16="http://schemas.microsoft.com/office/drawing/2014/main" id="{5F16D685-C556-FB8A-3495-097F936AFEDB}"/>
              </a:ext>
            </a:extLst>
          </p:cNvPr>
          <p:cNvSpPr/>
          <p:nvPr/>
        </p:nvSpPr>
        <p:spPr>
          <a:xfrm>
            <a:off x="-967" y="-1079"/>
            <a:ext cx="164782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4">
            <a:extLst>
              <a:ext uri="{FF2B5EF4-FFF2-40B4-BE49-F238E27FC236}">
                <a16:creationId xmlns:a16="http://schemas.microsoft.com/office/drawing/2014/main" id="{A713018C-14B1-22FA-3FEF-0032FB26C452}"/>
              </a:ext>
            </a:extLst>
          </p:cNvPr>
          <p:cNvSpPr/>
          <p:nvPr/>
        </p:nvSpPr>
        <p:spPr>
          <a:xfrm>
            <a:off x="549027" y="554087"/>
            <a:ext cx="1004887" cy="9525"/>
          </a:xfrm>
          <a:prstGeom prst="rect">
            <a:avLst/>
          </a:prstGeom>
          <a:solidFill>
            <a:srgbClr val="2C4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6">
            <a:extLst>
              <a:ext uri="{FF2B5EF4-FFF2-40B4-BE49-F238E27FC236}">
                <a16:creationId xmlns:a16="http://schemas.microsoft.com/office/drawing/2014/main" id="{BA5A53EF-54F7-19F6-A4A9-9512D185B8F4}"/>
              </a:ext>
            </a:extLst>
          </p:cNvPr>
          <p:cNvSpPr/>
          <p:nvPr/>
        </p:nvSpPr>
        <p:spPr>
          <a:xfrm>
            <a:off x="549511" y="1040085"/>
            <a:ext cx="5210175" cy="1133475"/>
          </a:xfrm>
          <a:prstGeom prst="rect">
            <a:avLst/>
          </a:prstGeom>
          <a:solidFill>
            <a:srgbClr val="142539">
              <a:alpha val="80000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7E774044-7A71-1EF2-FD66-F72384F8F1B4}"/>
              </a:ext>
            </a:extLst>
          </p:cNvPr>
          <p:cNvSpPr/>
          <p:nvPr/>
        </p:nvSpPr>
        <p:spPr>
          <a:xfrm>
            <a:off x="736178" y="1147390"/>
            <a:ext cx="1238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1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F30C5DC7-E37B-1029-14C6-F7464AA24346}"/>
              </a:ext>
            </a:extLst>
          </p:cNvPr>
          <p:cNvSpPr/>
          <p:nvPr/>
        </p:nvSpPr>
        <p:spPr>
          <a:xfrm>
            <a:off x="736178" y="1365572"/>
            <a:ext cx="49089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 err="1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GridRCA</a:t>
            </a:r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: A RAG-Driven Framework for Data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30262330-F0AD-3BFE-DB14-B72F8A07664B}"/>
              </a:ext>
            </a:extLst>
          </p:cNvPr>
          <p:cNvSpPr/>
          <p:nvPr/>
        </p:nvSpPr>
        <p:spPr>
          <a:xfrm>
            <a:off x="736178" y="1595958"/>
            <a:ext cx="606130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Lineage-Aware Root-Cause Investigation in Power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10">
            <a:extLst>
              <a:ext uri="{FF2B5EF4-FFF2-40B4-BE49-F238E27FC236}">
                <a16:creationId xmlns:a16="http://schemas.microsoft.com/office/drawing/2014/main" id="{B160025D-E734-3AD3-4E63-FA402DD29477}"/>
              </a:ext>
            </a:extLst>
          </p:cNvPr>
          <p:cNvSpPr/>
          <p:nvPr/>
        </p:nvSpPr>
        <p:spPr>
          <a:xfrm>
            <a:off x="736178" y="1826344"/>
            <a:ext cx="25737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Operations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Shape 11">
            <a:extLst>
              <a:ext uri="{FF2B5EF4-FFF2-40B4-BE49-F238E27FC236}">
                <a16:creationId xmlns:a16="http://schemas.microsoft.com/office/drawing/2014/main" id="{EECE828A-C8F2-AA12-C563-8F2BE43AA1A4}"/>
              </a:ext>
            </a:extLst>
          </p:cNvPr>
          <p:cNvSpPr/>
          <p:nvPr/>
        </p:nvSpPr>
        <p:spPr>
          <a:xfrm>
            <a:off x="549511" y="2260104"/>
            <a:ext cx="5210175" cy="1133475"/>
          </a:xfrm>
          <a:prstGeom prst="rect">
            <a:avLst/>
          </a:prstGeom>
          <a:solidFill>
            <a:srgbClr val="142539">
              <a:alpha val="80000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0713D277-271E-2B26-11A7-E20FB5E37995}"/>
              </a:ext>
            </a:extLst>
          </p:cNvPr>
          <p:cNvSpPr/>
          <p:nvPr/>
        </p:nvSpPr>
        <p:spPr>
          <a:xfrm>
            <a:off x="736178" y="2367409"/>
            <a:ext cx="1238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2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 13">
            <a:extLst>
              <a:ext uri="{FF2B5EF4-FFF2-40B4-BE49-F238E27FC236}">
                <a16:creationId xmlns:a16="http://schemas.microsoft.com/office/drawing/2014/main" id="{D330AD7C-F4E6-7C4E-2147-2B3A081245D0}"/>
              </a:ext>
            </a:extLst>
          </p:cNvPr>
          <p:cNvSpPr/>
          <p:nvPr/>
        </p:nvSpPr>
        <p:spPr>
          <a:xfrm>
            <a:off x="736178" y="2585591"/>
            <a:ext cx="521920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 Agentic AI Framework for Continuous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 14">
            <a:extLst>
              <a:ext uri="{FF2B5EF4-FFF2-40B4-BE49-F238E27FC236}">
                <a16:creationId xmlns:a16="http://schemas.microsoft.com/office/drawing/2014/main" id="{170A4D45-8947-455A-5071-C240E47E9AF9}"/>
              </a:ext>
            </a:extLst>
          </p:cNvPr>
          <p:cNvSpPr/>
          <p:nvPr/>
        </p:nvSpPr>
        <p:spPr>
          <a:xfrm>
            <a:off x="736178" y="2815977"/>
            <a:ext cx="594986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Cross-Domain Urban Infrastructure Monitoring,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 15">
            <a:extLst>
              <a:ext uri="{FF2B5EF4-FFF2-40B4-BE49-F238E27FC236}">
                <a16:creationId xmlns:a16="http://schemas.microsoft.com/office/drawing/2014/main" id="{EAF165CC-90AB-7D02-4FC2-7572B1655F33}"/>
              </a:ext>
            </a:extLst>
          </p:cNvPr>
          <p:cNvSpPr/>
          <p:nvPr/>
        </p:nvSpPr>
        <p:spPr>
          <a:xfrm>
            <a:off x="736178" y="3046363"/>
            <a:ext cx="19146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Operations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hape 16">
            <a:extLst>
              <a:ext uri="{FF2B5EF4-FFF2-40B4-BE49-F238E27FC236}">
                <a16:creationId xmlns:a16="http://schemas.microsoft.com/office/drawing/2014/main" id="{6B4B05B0-2A43-9897-0CB2-EA047ABD8C53}"/>
              </a:ext>
            </a:extLst>
          </p:cNvPr>
          <p:cNvSpPr/>
          <p:nvPr/>
        </p:nvSpPr>
        <p:spPr>
          <a:xfrm>
            <a:off x="549511" y="3416722"/>
            <a:ext cx="5210175" cy="12049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7">
            <a:extLst>
              <a:ext uri="{FF2B5EF4-FFF2-40B4-BE49-F238E27FC236}">
                <a16:creationId xmlns:a16="http://schemas.microsoft.com/office/drawing/2014/main" id="{7D131E64-2F79-7FD9-E2D8-3DE96374A742}"/>
              </a:ext>
            </a:extLst>
          </p:cNvPr>
          <p:cNvSpPr/>
          <p:nvPr/>
        </p:nvSpPr>
        <p:spPr>
          <a:xfrm>
            <a:off x="548580" y="3533105"/>
            <a:ext cx="150251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STUDENT NAME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 18">
            <a:extLst>
              <a:ext uri="{FF2B5EF4-FFF2-40B4-BE49-F238E27FC236}">
                <a16:creationId xmlns:a16="http://schemas.microsoft.com/office/drawing/2014/main" id="{D40E799D-F8C0-939E-9DEA-05AD331297F7}"/>
              </a:ext>
            </a:extLst>
          </p:cNvPr>
          <p:cNvSpPr/>
          <p:nvPr/>
        </p:nvSpPr>
        <p:spPr>
          <a:xfrm>
            <a:off x="548580" y="3743920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0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Sanika Yashwant Gaikwad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944AC17E-63EE-AA6F-6F98-D09123E409E9}"/>
              </a:ext>
            </a:extLst>
          </p:cNvPr>
          <p:cNvSpPr/>
          <p:nvPr/>
        </p:nvSpPr>
        <p:spPr>
          <a:xfrm>
            <a:off x="3234542" y="3551995"/>
            <a:ext cx="205092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REGISTER NO.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EF87ACC0-D4E0-B33A-3889-49756B6CBD5C}"/>
              </a:ext>
            </a:extLst>
          </p:cNvPr>
          <p:cNvSpPr/>
          <p:nvPr/>
        </p:nvSpPr>
        <p:spPr>
          <a:xfrm>
            <a:off x="3264992" y="3732996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25MML1004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 21">
            <a:extLst>
              <a:ext uri="{FF2B5EF4-FFF2-40B4-BE49-F238E27FC236}">
                <a16:creationId xmlns:a16="http://schemas.microsoft.com/office/drawing/2014/main" id="{3456C275-68D4-1E16-4F43-2345722520C7}"/>
              </a:ext>
            </a:extLst>
          </p:cNvPr>
          <p:cNvSpPr/>
          <p:nvPr/>
        </p:nvSpPr>
        <p:spPr>
          <a:xfrm>
            <a:off x="2270435" y="4182193"/>
            <a:ext cx="1295207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PROGRAM 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22">
            <a:extLst>
              <a:ext uri="{FF2B5EF4-FFF2-40B4-BE49-F238E27FC236}">
                <a16:creationId xmlns:a16="http://schemas.microsoft.com/office/drawing/2014/main" id="{E699C788-B178-3B7D-9D7E-71B37070BE9D}"/>
              </a:ext>
            </a:extLst>
          </p:cNvPr>
          <p:cNvSpPr/>
          <p:nvPr/>
        </p:nvSpPr>
        <p:spPr>
          <a:xfrm>
            <a:off x="2259601" y="4416821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MTech AIML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 23">
            <a:extLst>
              <a:ext uri="{FF2B5EF4-FFF2-40B4-BE49-F238E27FC236}">
                <a16:creationId xmlns:a16="http://schemas.microsoft.com/office/drawing/2014/main" id="{2A29B569-0CCD-E5F7-B672-8D98A9C4B292}"/>
              </a:ext>
            </a:extLst>
          </p:cNvPr>
          <p:cNvSpPr/>
          <p:nvPr/>
        </p:nvSpPr>
        <p:spPr>
          <a:xfrm>
            <a:off x="548580" y="4208487"/>
            <a:ext cx="130884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INSTITUTION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 24">
            <a:extLst>
              <a:ext uri="{FF2B5EF4-FFF2-40B4-BE49-F238E27FC236}">
                <a16:creationId xmlns:a16="http://schemas.microsoft.com/office/drawing/2014/main" id="{D714B89C-8987-E200-E957-FB88C49D5D70}"/>
              </a:ext>
            </a:extLst>
          </p:cNvPr>
          <p:cNvSpPr/>
          <p:nvPr/>
        </p:nvSpPr>
        <p:spPr>
          <a:xfrm>
            <a:off x="548580" y="4419302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 Chennai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 27">
            <a:extLst>
              <a:ext uri="{FF2B5EF4-FFF2-40B4-BE49-F238E27FC236}">
                <a16:creationId xmlns:a16="http://schemas.microsoft.com/office/drawing/2014/main" id="{1C541AB1-CC88-0CEF-B31E-175F3403D05F}"/>
              </a:ext>
            </a:extLst>
          </p:cNvPr>
          <p:cNvSpPr/>
          <p:nvPr/>
        </p:nvSpPr>
        <p:spPr>
          <a:xfrm>
            <a:off x="4157365" y="4208487"/>
            <a:ext cx="53039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DATE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28">
            <a:extLst>
              <a:ext uri="{FF2B5EF4-FFF2-40B4-BE49-F238E27FC236}">
                <a16:creationId xmlns:a16="http://schemas.microsoft.com/office/drawing/2014/main" id="{A0EF542B-29BB-54FB-36AD-CBD224930599}"/>
              </a:ext>
            </a:extLst>
          </p:cNvPr>
          <p:cNvSpPr/>
          <p:nvPr/>
        </p:nvSpPr>
        <p:spPr>
          <a:xfrm>
            <a:off x="4157365" y="4419302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Aug 2026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Shape 29">
            <a:extLst>
              <a:ext uri="{FF2B5EF4-FFF2-40B4-BE49-F238E27FC236}">
                <a16:creationId xmlns:a16="http://schemas.microsoft.com/office/drawing/2014/main" id="{4546F3E9-3AF4-4BDE-210F-927CBF3BD345}"/>
              </a:ext>
            </a:extLst>
          </p:cNvPr>
          <p:cNvSpPr/>
          <p:nvPr/>
        </p:nvSpPr>
        <p:spPr>
          <a:xfrm>
            <a:off x="6127403" y="769590"/>
            <a:ext cx="2466975" cy="3852862"/>
          </a:xfrm>
          <a:prstGeom prst="rect">
            <a:avLst/>
          </a:prstGeom>
          <a:solidFill>
            <a:srgbClr val="101D3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9" name="Image 1" descr="preencoded.png">
            <a:extLst>
              <a:ext uri="{FF2B5EF4-FFF2-40B4-BE49-F238E27FC236}">
                <a16:creationId xmlns:a16="http://schemas.microsoft.com/office/drawing/2014/main" id="{40980D5A-1BDC-C977-773A-C7033F0DD1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222653" y="864840"/>
            <a:ext cx="2276475" cy="3662362"/>
          </a:xfrm>
          <a:prstGeom prst="rect">
            <a:avLst/>
          </a:prstGeom>
        </p:spPr>
      </p:pic>
      <p:pic>
        <p:nvPicPr>
          <p:cNvPr id="151" name="Image 2" descr="preencoded.png">
            <a:extLst>
              <a:ext uri="{FF2B5EF4-FFF2-40B4-BE49-F238E27FC236}">
                <a16:creationId xmlns:a16="http://schemas.microsoft.com/office/drawing/2014/main" id="{EA5CB605-F137-7EAA-F8D3-56B545AEC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653" y="864840"/>
            <a:ext cx="2276475" cy="3662362"/>
          </a:xfrm>
          <a:prstGeom prst="rect">
            <a:avLst/>
          </a:prstGeom>
        </p:spPr>
      </p:pic>
      <p:sp>
        <p:nvSpPr>
          <p:cNvPr id="153" name="Text 30">
            <a:extLst>
              <a:ext uri="{FF2B5EF4-FFF2-40B4-BE49-F238E27FC236}">
                <a16:creationId xmlns:a16="http://schemas.microsoft.com/office/drawing/2014/main" id="{7AF2A8CB-C4EB-6D75-1F1B-3E33664D8443}"/>
              </a:ext>
            </a:extLst>
          </p:cNvPr>
          <p:cNvSpPr/>
          <p:nvPr/>
        </p:nvSpPr>
        <p:spPr>
          <a:xfrm>
            <a:off x="6313959" y="4087192"/>
            <a:ext cx="206089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kern="0" spc="162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URBAN SYSTEMS /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b="1" kern="0" spc="162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OPERATIONS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Shape 31">
            <a:extLst>
              <a:ext uri="{FF2B5EF4-FFF2-40B4-BE49-F238E27FC236}">
                <a16:creationId xmlns:a16="http://schemas.microsoft.com/office/drawing/2014/main" id="{DC552625-3437-FCB9-C528-11CA884A7D68}"/>
              </a:ext>
            </a:extLst>
          </p:cNvPr>
          <p:cNvSpPr/>
          <p:nvPr/>
        </p:nvSpPr>
        <p:spPr>
          <a:xfrm>
            <a:off x="8260296" y="4260428"/>
            <a:ext cx="147637" cy="228600"/>
          </a:xfrm>
          <a:prstGeom prst="rect">
            <a:avLst/>
          </a:prstGeom>
          <a:ln w="4763">
            <a:solidFill>
              <a:srgbClr val="7BB8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1" name="Image 3" descr="preencoded.png">
            <a:extLst>
              <a:ext uri="{FF2B5EF4-FFF2-40B4-BE49-F238E27FC236}">
                <a16:creationId xmlns:a16="http://schemas.microsoft.com/office/drawing/2014/main" id="{C718A750-42E7-5CAD-0C8C-944B3138A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511" y="3416722"/>
            <a:ext cx="5210175" cy="120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6" y="-1079"/>
            <a:ext cx="1919287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5131"/>
            <a:ext cx="8120062" cy="1281112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92985" y="100075"/>
            <a:ext cx="7815754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1 - </a:t>
            </a:r>
            <a:r>
              <a:rPr lang="en-US" sz="2200" b="1" kern="0" spc="-86" dirty="0" err="1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GridRCA</a:t>
            </a:r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: Power Grid Root-Cause Investigation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2043" y="757758"/>
            <a:ext cx="2344140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4293" y="622229"/>
            <a:ext cx="2843712" cy="2823604"/>
          </a:xfrm>
          <a:prstGeom prst="rect">
            <a:avLst/>
          </a:prstGeom>
          <a:solidFill>
            <a:srgbClr val="14253A">
              <a:alpha val="7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533412" y="751463"/>
            <a:ext cx="42863" cy="42863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0582" y="687459"/>
            <a:ext cx="24058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PROBLEM STATEMENT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9626" y="987996"/>
            <a:ext cx="2967521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 grids generate operational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and alarms from multiple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sources.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9619" y="1420658"/>
            <a:ext cx="3058358" cy="13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 alarm can indicate what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happened, but understanding why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it happened requires connecting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information across telemetry,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equipment history, maintenance,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relationships and technical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knowledge.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9626" y="2795828"/>
            <a:ext cx="3056133" cy="783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proposed </a:t>
            </a:r>
            <a:r>
              <a:rPr lang="en-US" sz="1190" dirty="0" err="1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GridRCA</a:t>
            </a: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framework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explores the use of RAG, data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 and </a:t>
            </a:r>
          </a:p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topology for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root-cause investigation.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428664" y="612763"/>
            <a:ext cx="5253037" cy="2823604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504593" y="691369"/>
            <a:ext cx="27221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OBJECTIVES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504593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7"/>
          <p:cNvSpPr/>
          <p:nvPr/>
        </p:nvSpPr>
        <p:spPr>
          <a:xfrm>
            <a:off x="3572601" y="942196"/>
            <a:ext cx="104010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Engineering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572392" y="1151681"/>
            <a:ext cx="8032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Integrate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579093" y="1294994"/>
            <a:ext cx="12585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heterogeneous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579093" y="1430087"/>
            <a:ext cx="13121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operational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589786" y="1611512"/>
            <a:ext cx="7937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historical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602993" y="1749807"/>
            <a:ext cx="9339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power-grid data.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86822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5"/>
          <p:cNvSpPr/>
          <p:nvPr/>
        </p:nvSpPr>
        <p:spPr>
          <a:xfrm>
            <a:off x="4828642" y="966217"/>
            <a:ext cx="11288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Lineage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37636" y="1156137"/>
            <a:ext cx="12904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Track the origin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55945" y="1290978"/>
            <a:ext cx="3570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60380" y="1403526"/>
            <a:ext cx="12483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transformation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65689" y="1560361"/>
            <a:ext cx="10436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of data used during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74716" y="1721946"/>
            <a:ext cx="56725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071056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3"/>
          <p:cNvSpPr/>
          <p:nvPr/>
        </p:nvSpPr>
        <p:spPr>
          <a:xfrm>
            <a:off x="6115738" y="954808"/>
            <a:ext cx="77340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Learning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122833" y="1139715"/>
            <a:ext cx="6657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 anomaly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126281" y="1288439"/>
            <a:ext cx="11581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133481" y="1427147"/>
            <a:ext cx="13043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identification of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142360" y="1582337"/>
            <a:ext cx="7097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relevant signals.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7365166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1"/>
          <p:cNvSpPr/>
          <p:nvPr/>
        </p:nvSpPr>
        <p:spPr>
          <a:xfrm>
            <a:off x="7437781" y="981596"/>
            <a:ext cx="4177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450003" y="1159477"/>
            <a:ext cx="60865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Build a knowledge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451962" y="1309260"/>
            <a:ext cx="7824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base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463282" y="1449753"/>
            <a:ext cx="6727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Retrieve relevant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462002" y="1594816"/>
            <a:ext cx="7871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evidence.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504593" y="2062405"/>
            <a:ext cx="1185863" cy="1190756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3596885" y="2094561"/>
            <a:ext cx="800971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Graph /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Topology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3607147" y="2298660"/>
            <a:ext cx="12304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Represent grid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602993" y="2455267"/>
            <a:ext cx="10944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relationships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607147" y="2622889"/>
            <a:ext cx="685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use topology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612914" y="2812390"/>
            <a:ext cx="1075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as investigation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3619895" y="2989849"/>
            <a:ext cx="7059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context.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786822" y="2068339"/>
            <a:ext cx="1185863" cy="1174734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849999" y="2112764"/>
            <a:ext cx="97364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LLM-Based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RCA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855945" y="2318444"/>
            <a:ext cx="11238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 retrieved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4874716" y="2483551"/>
            <a:ext cx="11169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evidence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874716" y="2622889"/>
            <a:ext cx="12715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context for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4880669" y="2803512"/>
            <a:ext cx="9242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root-cause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4864517" y="2971213"/>
            <a:ext cx="8935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reasoning.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6122653" y="2061083"/>
            <a:ext cx="2452688" cy="1192078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8" name="Text 65"/>
          <p:cNvSpPr/>
          <p:nvPr/>
        </p:nvSpPr>
        <p:spPr>
          <a:xfrm>
            <a:off x="6226786" y="2112764"/>
            <a:ext cx="9327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Evaluation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226786" y="2325476"/>
            <a:ext cx="27984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 comparison of RAG-based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228136" y="2542667"/>
            <a:ext cx="22291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RCA with conventional RCA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241264" y="2739553"/>
            <a:ext cx="10420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approaches.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476948" y="3580673"/>
            <a:ext cx="8120062" cy="1462751"/>
          </a:xfrm>
          <a:prstGeom prst="rect">
            <a:avLst/>
          </a:prstGeom>
          <a:solidFill>
            <a:srgbClr val="14243A">
              <a:alpha val="54902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0"/>
          <p:cNvSpPr/>
          <p:nvPr/>
        </p:nvSpPr>
        <p:spPr>
          <a:xfrm>
            <a:off x="576275" y="3662695"/>
            <a:ext cx="10136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DATASET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653132" y="5722925"/>
            <a:ext cx="2552700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576275" y="3926996"/>
            <a:ext cx="218365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Public 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573767" y="4164172"/>
            <a:ext cx="276553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82"/>
              </a:spcBef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IEEE 30-Bus | PSML / GridSTAGE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573767" y="4358530"/>
            <a:ext cx="2591790" cy="3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Used for grid structure, electrical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information and validation.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3185438" y="3918376"/>
            <a:ext cx="2552700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6"/>
          <p:cNvSpPr/>
          <p:nvPr/>
        </p:nvSpPr>
        <p:spPr>
          <a:xfrm>
            <a:off x="3223145" y="3927180"/>
            <a:ext cx="13130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Synthetic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3214021" y="4122933"/>
            <a:ext cx="3321390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Telemetry | Faults | Equipment History |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Maintenance | Incidents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3223145" y="4547346"/>
            <a:ext cx="2688431" cy="3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Generated to represent controlled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 scenarios.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5938131" y="5722925"/>
            <a:ext cx="2552700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0"/>
          <p:cNvSpPr/>
          <p:nvPr/>
        </p:nvSpPr>
        <p:spPr>
          <a:xfrm>
            <a:off x="5957459" y="3946997"/>
            <a:ext cx="147426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 Base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5938131" y="4157882"/>
            <a:ext cx="31522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82"/>
              </a:spcBef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and operational documents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5938912" y="4358694"/>
            <a:ext cx="288471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Used as the retrieval source for RAG.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559" y="-750279"/>
            <a:ext cx="8120062" cy="1281112"/>
          </a:xfrm>
          <a:prstGeom prst="rect">
            <a:avLst/>
          </a:prstGeom>
        </p:spPr>
      </p:pic>
      <p:pic>
        <p:nvPicPr>
          <p:cNvPr id="8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549" y="1405735"/>
            <a:ext cx="2452688" cy="1371600"/>
          </a:xfrm>
          <a:prstGeom prst="rect">
            <a:avLst/>
          </a:prstGeom>
        </p:spPr>
      </p:pic>
      <p:pic>
        <p:nvPicPr>
          <p:cNvPr id="9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843" y="3918376"/>
            <a:ext cx="2552700" cy="1133475"/>
          </a:xfrm>
          <a:prstGeom prst="rect">
            <a:avLst/>
          </a:prstGeom>
        </p:spPr>
      </p:pic>
      <p:pic>
        <p:nvPicPr>
          <p:cNvPr id="9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1907" y="3923882"/>
            <a:ext cx="2552700" cy="1133475"/>
          </a:xfrm>
          <a:prstGeom prst="rect">
            <a:avLst/>
          </a:prstGeom>
        </p:spPr>
      </p:pic>
      <p:pic>
        <p:nvPicPr>
          <p:cNvPr id="9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9376" y="3918376"/>
            <a:ext cx="255270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19" y="19191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3295" y="-1079"/>
            <a:ext cx="200977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4908"/>
            <a:ext cx="8120062" cy="10191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11969" y="122671"/>
            <a:ext cx="9264893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 &amp; Expected Outcomes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2266" y="612967"/>
            <a:ext cx="8227874" cy="1114425"/>
          </a:xfrm>
          <a:prstGeom prst="rect">
            <a:avLst/>
          </a:prstGeom>
          <a:solidFill>
            <a:srgbClr val="14263A">
              <a:alpha val="5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8139" y="642998"/>
            <a:ext cx="25408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68139" y="835372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4509" y="899913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01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4528" y="1053912"/>
            <a:ext cx="10063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 Grid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4925" y="1203260"/>
            <a:ext cx="45813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728188" y="843112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810639" y="899913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02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07096" y="1040147"/>
            <a:ext cx="45813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814095" y="1171245"/>
            <a:ext cx="10726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Engineering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896187" y="841639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972369" y="892596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03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960574" y="1040147"/>
            <a:ext cx="8088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Anomaly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63893" y="1181269"/>
            <a:ext cx="8838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077615" y="839973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45309" y="892596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04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31199" y="1040147"/>
            <a:ext cx="9796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Topology +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136880" y="1157064"/>
            <a:ext cx="11643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Lineage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237664" y="833587"/>
            <a:ext cx="1066800" cy="657225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288972" y="885879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05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294909" y="1033380"/>
            <a:ext cx="104620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381170" y="823512"/>
            <a:ext cx="1066800" cy="657225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48314" y="863892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06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441866" y="1017334"/>
            <a:ext cx="10508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Root-Cause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50636" y="1157064"/>
            <a:ext cx="11834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534729" y="823973"/>
            <a:ext cx="1111411" cy="657225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620673" y="863891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07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559856" y="1017334"/>
            <a:ext cx="155920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Recommendation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5252" y="1862310"/>
            <a:ext cx="4891088" cy="2395311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606042" y="1965037"/>
            <a:ext cx="20577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STACK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54509" y="2943858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27009" y="2281742"/>
            <a:ext cx="1470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Engineering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0679" y="2442366"/>
            <a:ext cx="1910172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Python | PostgreSQL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013211" y="2943858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998284" y="2281742"/>
            <a:ext cx="20276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ML / Anomaly Detection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991658" y="2462696"/>
            <a:ext cx="2734479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 Learning | </a:t>
            </a:r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Time-Series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Analysis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54509" y="3734507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27009" y="3015167"/>
            <a:ext cx="14164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Graph &amp; Lineage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46780" y="3204083"/>
            <a:ext cx="2439717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Grid Topology |  Data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3013211" y="3734507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3041445" y="3034964"/>
            <a:ext cx="7750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 / AI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3004019" y="3194768"/>
            <a:ext cx="2978066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Vector Database | Retrieval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LLM | </a:t>
            </a:r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54509" y="4524970"/>
            <a:ext cx="2247900" cy="5143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653951" y="3768698"/>
            <a:ext cx="10037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Application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27009" y="3947378"/>
            <a:ext cx="231337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FastAPI | </a:t>
            </a:r>
            <a:r>
              <a:rPr lang="en-US" sz="1150" dirty="0" err="1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Streamlit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3013211" y="4524970"/>
            <a:ext cx="2247900" cy="5143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3004019" y="3758590"/>
            <a:ext cx="10605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Deployment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3004019" y="3908293"/>
            <a:ext cx="6581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Docker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5545774" y="1831262"/>
            <a:ext cx="3100388" cy="2426359"/>
          </a:xfrm>
          <a:prstGeom prst="rect">
            <a:avLst/>
          </a:prstGeom>
          <a:solidFill>
            <a:srgbClr val="13283A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5673477" y="1920753"/>
            <a:ext cx="24266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EXPECTED OUTCOMES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969" y="214909"/>
            <a:ext cx="8120062" cy="321580"/>
          </a:xfrm>
          <a:prstGeom prst="rect">
            <a:avLst/>
          </a:prstGeom>
        </p:spPr>
      </p:pic>
      <p:pic>
        <p:nvPicPr>
          <p:cNvPr id="6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878" y="2227845"/>
            <a:ext cx="2247900" cy="733425"/>
          </a:xfrm>
          <a:prstGeom prst="rect">
            <a:avLst/>
          </a:prstGeom>
        </p:spPr>
      </p:pic>
      <p:pic>
        <p:nvPicPr>
          <p:cNvPr id="6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0580" y="2219758"/>
            <a:ext cx="2247900" cy="733425"/>
          </a:xfrm>
          <a:prstGeom prst="rect">
            <a:avLst/>
          </a:prstGeom>
        </p:spPr>
      </p:pic>
      <p:pic>
        <p:nvPicPr>
          <p:cNvPr id="6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139" y="2959669"/>
            <a:ext cx="2247900" cy="733425"/>
          </a:xfrm>
          <a:prstGeom prst="rect">
            <a:avLst/>
          </a:prstGeom>
        </p:spPr>
      </p:pic>
      <p:pic>
        <p:nvPicPr>
          <p:cNvPr id="6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2369" y="2962498"/>
            <a:ext cx="2247900" cy="733425"/>
          </a:xfrm>
          <a:prstGeom prst="rect">
            <a:avLst/>
          </a:prstGeom>
        </p:spPr>
      </p:pic>
      <p:pic>
        <p:nvPicPr>
          <p:cNvPr id="6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368" y="3706676"/>
            <a:ext cx="2247900" cy="514350"/>
          </a:xfrm>
          <a:prstGeom prst="rect">
            <a:avLst/>
          </a:prstGeom>
        </p:spPr>
      </p:pic>
      <p:pic>
        <p:nvPicPr>
          <p:cNvPr id="6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3211" y="3685819"/>
            <a:ext cx="2247900" cy="514350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5667905" y="2205598"/>
            <a:ext cx="2814638" cy="1859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 of abnormal grid conditions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Lineage-aware investigation of operational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Topology-aware root-cause analysis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Retrieval of relevant supporting evidence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Explainable RCA through RAG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 and response </a:t>
            </a:r>
          </a:p>
          <a:p>
            <a:pPr algn="l">
              <a:lnSpc>
                <a:spcPts val="1295"/>
              </a:lnSpc>
              <a:spcAft>
                <a:spcPts val="425"/>
              </a:spcAft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     recommendations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Framework for evaluating RAG-based RCA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3" y="5655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967" y="-1079"/>
            <a:ext cx="119062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7066"/>
            <a:ext cx="8120062" cy="98583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9760" y="110081"/>
            <a:ext cx="7398038" cy="317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200" b="1" kern="0" spc="-82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2 - Urban Infrastructure Monitoring, Diagnosis &amp; Decision Support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84471" y="631955"/>
            <a:ext cx="2276475" cy="3440020"/>
          </a:xfrm>
          <a:prstGeom prst="rect">
            <a:avLst/>
          </a:prstGeom>
          <a:solidFill>
            <a:srgbClr val="14253A">
              <a:alpha val="7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302343" y="868900"/>
            <a:ext cx="42863" cy="42863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12237" y="799845"/>
            <a:ext cx="24058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PROBLEM STATEMENT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12990" y="609884"/>
            <a:ext cx="3621170" cy="4453299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3209750" y="802527"/>
            <a:ext cx="27221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OBJECTIVES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807466" y="1228235"/>
            <a:ext cx="1519238" cy="985838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925648" y="1283121"/>
            <a:ext cx="1470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Engineering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918619" y="1480528"/>
            <a:ext cx="120021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Build a unified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915141" y="1648665"/>
            <a:ext cx="16639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pipeline to integrate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925648" y="1819369"/>
            <a:ext cx="12585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heterogeneous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928919" y="1982363"/>
            <a:ext cx="16003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data.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10407" y="1208113"/>
            <a:ext cx="1519238" cy="1005960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661550" y="1283121"/>
            <a:ext cx="15104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 Learning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662450" y="1451029"/>
            <a:ext cx="17325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 anomaly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661550" y="1612063"/>
            <a:ext cx="13679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failure detection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67124" y="1786319"/>
            <a:ext cx="15713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from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669505" y="1930274"/>
            <a:ext cx="8742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telemetry.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807466" y="2285951"/>
            <a:ext cx="1519238" cy="135731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5"/>
          <p:cNvSpPr/>
          <p:nvPr/>
        </p:nvSpPr>
        <p:spPr>
          <a:xfrm>
            <a:off x="2925648" y="2337066"/>
            <a:ext cx="9218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Agentic AI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915038" y="2543520"/>
            <a:ext cx="142232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Develop domain-specific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918585" y="2701219"/>
            <a:ext cx="9360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agents and coordination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918619" y="2890242"/>
            <a:ext cx="13269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for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928919" y="3077042"/>
            <a:ext cx="1151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922009" y="3079104"/>
            <a:ext cx="1267636" cy="283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monitoring and </a:t>
            </a:r>
          </a:p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156793" y="3930997"/>
            <a:ext cx="11240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15434" y="2265862"/>
            <a:ext cx="1519238" cy="135731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615900" y="2323387"/>
            <a:ext cx="15523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 &amp; Knowledge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621510" y="2546952"/>
            <a:ext cx="12507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Build a domain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633476" y="2703660"/>
            <a:ext cx="16963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 base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633476" y="2875208"/>
            <a:ext cx="136747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retrieve relevant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633476" y="3026717"/>
            <a:ext cx="124886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information for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633476" y="3162721"/>
            <a:ext cx="11240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2807466" y="3705871"/>
            <a:ext cx="1519238" cy="1244590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2922009" y="3770236"/>
            <a:ext cx="10328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Digital Twin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920790" y="3973703"/>
            <a:ext cx="8808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Represent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915141" y="4113676"/>
            <a:ext cx="15967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state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912309" y="4251368"/>
            <a:ext cx="160738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explore what-if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920790" y="4403040"/>
            <a:ext cx="10961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simulation of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932541" y="4557942"/>
            <a:ext cx="113123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incidents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932541" y="4685173"/>
            <a:ext cx="9301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responses.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515399" y="3715219"/>
            <a:ext cx="1519238" cy="1244590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617672" y="3737996"/>
            <a:ext cx="14708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Decision Support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623902" y="3971935"/>
            <a:ext cx="79777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Generate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634239" y="4113675"/>
            <a:ext cx="16686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explainable incident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643652" y="4273287"/>
            <a:ext cx="10212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insights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649285" y="4420865"/>
            <a:ext cx="7956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response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641787" y="4564316"/>
            <a:ext cx="15597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recommendations.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385291" y="609884"/>
            <a:ext cx="2265894" cy="4453299"/>
          </a:xfrm>
          <a:prstGeom prst="rect">
            <a:avLst/>
          </a:prstGeom>
          <a:solidFill>
            <a:srgbClr val="14253A">
              <a:alpha val="7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Text 55"/>
          <p:cNvSpPr/>
          <p:nvPr/>
        </p:nvSpPr>
        <p:spPr>
          <a:xfrm>
            <a:off x="6636726" y="794444"/>
            <a:ext cx="10136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DATASET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584752" y="1702780"/>
            <a:ext cx="1905000" cy="10144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6570726" y="1242231"/>
            <a:ext cx="8546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 Data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6576521" y="1421120"/>
            <a:ext cx="2368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Weather, traffic, metro usage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573910" y="1595660"/>
            <a:ext cx="2511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infrastructure information.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564072" y="1782254"/>
            <a:ext cx="2135378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Purpose: provide real-world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contextual information.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584752" y="2776575"/>
            <a:ext cx="1905000" cy="13335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6564072" y="2216647"/>
            <a:ext cx="127276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Synthetic Data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6563860" y="2397969"/>
            <a:ext cx="15893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162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Asset telemetry for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6564072" y="2579291"/>
            <a:ext cx="17967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162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such as escalators, elevators, 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6563860" y="2753321"/>
            <a:ext cx="23524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162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pumps and roads.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560016" y="2951442"/>
            <a:ext cx="2500759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Purpose: support controlled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monitoring and failure scenarios.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6584752" y="4170201"/>
            <a:ext cx="1905000" cy="12049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6560016" y="3386590"/>
            <a:ext cx="9505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Simulation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6559461" y="3566436"/>
            <a:ext cx="20720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failure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560016" y="3746535"/>
            <a:ext cx="165178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response scenarios.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6555938" y="3931291"/>
            <a:ext cx="1817303" cy="42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Purpose: study incident</a:t>
            </a:r>
            <a:r>
              <a:rPr lang="en-US" sz="10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behavior  </a:t>
            </a:r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possible</a:t>
            </a:r>
            <a:r>
              <a:rPr lang="en-US" sz="10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consequences.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6512111" y="4348248"/>
            <a:ext cx="1905000" cy="571138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4"/>
          <p:cNvSpPr/>
          <p:nvPr/>
        </p:nvSpPr>
        <p:spPr>
          <a:xfrm>
            <a:off x="6560428" y="4375252"/>
            <a:ext cx="1761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OVERALL DATASET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6570726" y="4493527"/>
            <a:ext cx="1631639" cy="218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74"/>
              </a:lnSpc>
              <a:buNone/>
            </a:pPr>
            <a:r>
              <a:rPr lang="en-US" sz="100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 Data + Synthetic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1360900" y="6375871"/>
            <a:ext cx="4530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kern="0" spc="151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CONDITION / CAUSE / IMPACT / DEPENDENCY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6183362" y="6388298"/>
            <a:ext cx="324032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kern="0" spc="151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PROPOSED, NOT YET EVALUATED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628" y="-449014"/>
            <a:ext cx="8120062" cy="985838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382540" y="1276767"/>
            <a:ext cx="1995487" cy="270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17"/>
              </a:lnSpc>
              <a:spcAft>
                <a:spcPts val="770"/>
              </a:spcAft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Urban infrastructure such as Metro, Water, Drainage and Roads consists of interconnected assets.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17"/>
              </a:lnSpc>
              <a:spcAft>
                <a:spcPts val="770"/>
              </a:spcAft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Current systems often monitor these domains separately and mainly provide alerts when abnormal conditions or failures occur.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17"/>
              </a:lnSpc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proposed work focuses on understanding the condition, cause, impact and cross-domain dependencies of infrastructure incidents.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7739" y="1202234"/>
            <a:ext cx="1905000" cy="1014413"/>
          </a:xfrm>
          <a:prstGeom prst="rect">
            <a:avLst/>
          </a:prstGeom>
        </p:spPr>
      </p:pic>
      <p:pic>
        <p:nvPicPr>
          <p:cNvPr id="8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862" y="2192754"/>
            <a:ext cx="1905000" cy="1333500"/>
          </a:xfrm>
          <a:prstGeom prst="rect">
            <a:avLst/>
          </a:prstGeom>
        </p:spPr>
      </p:pic>
      <p:pic>
        <p:nvPicPr>
          <p:cNvPr id="8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7866" y="3356807"/>
            <a:ext cx="1905000" cy="1204913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89E8371-2E39-5F51-5446-04812452BA36}"/>
              </a:ext>
            </a:extLst>
          </p:cNvPr>
          <p:cNvSpPr txBox="1"/>
          <p:nvPr/>
        </p:nvSpPr>
        <p:spPr>
          <a:xfrm>
            <a:off x="6479022" y="4636951"/>
            <a:ext cx="1397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+ Simulation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9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90495" y="-1079"/>
            <a:ext cx="155257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6843"/>
            <a:ext cx="8120062" cy="6858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79217" y="81684"/>
            <a:ext cx="9436313" cy="293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 &amp; Expected Outcomes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27" y="613252"/>
            <a:ext cx="8120062" cy="1431812"/>
          </a:xfrm>
          <a:prstGeom prst="rect">
            <a:avLst/>
          </a:prstGeom>
          <a:solidFill>
            <a:srgbClr val="14263A">
              <a:alpha val="5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09023" y="652182"/>
            <a:ext cx="25408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6255" y="886384"/>
            <a:ext cx="1509712" cy="1064157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50094" y="967941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01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0094" y="1174810"/>
            <a:ext cx="125873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Sources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0094" y="1401179"/>
            <a:ext cx="16817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integration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1623" y="1582154"/>
            <a:ext cx="9898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preparation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235250" y="886384"/>
            <a:ext cx="1509712" cy="1064157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340857" y="974037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02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303078" y="1168870"/>
            <a:ext cx="161134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Engineering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296333" y="1402529"/>
            <a:ext cx="17627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Unified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322954" y="1575544"/>
            <a:ext cx="10971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pipeline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817144" y="894293"/>
            <a:ext cx="1509712" cy="1064157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882925" y="974037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03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88853" y="1167614"/>
            <a:ext cx="15278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Monitoring &amp; ML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903601" y="1407840"/>
            <a:ext cx="9666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Continuous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912330" y="1575543"/>
            <a:ext cx="1151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84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monitoring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913733" y="2255788"/>
            <a:ext cx="9256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416715" y="886384"/>
            <a:ext cx="1509712" cy="1072066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518091" y="1012885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04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483905" y="1145251"/>
            <a:ext cx="1256221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Agentic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01477" y="1384548"/>
            <a:ext cx="11759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Cross-domain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501760" y="1551401"/>
            <a:ext cx="15457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 using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523461" y="1725281"/>
            <a:ext cx="9360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84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agents and knowledge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495627" y="2643932"/>
            <a:ext cx="92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7017592" y="886384"/>
            <a:ext cx="1509712" cy="1072066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7101484" y="989985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05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077447" y="1162183"/>
            <a:ext cx="16120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Decision Support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77447" y="1384547"/>
            <a:ext cx="16739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What-if analysis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096198" y="1575544"/>
            <a:ext cx="1512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recommendations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58328" y="2152295"/>
            <a:ext cx="4891088" cy="2339023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37"/>
          <p:cNvSpPr/>
          <p:nvPr/>
        </p:nvSpPr>
        <p:spPr>
          <a:xfrm>
            <a:off x="643406" y="2227542"/>
            <a:ext cx="20577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STACK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54323" y="3461891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52760" y="2507768"/>
            <a:ext cx="15993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&amp; Simulation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36255" y="2693506"/>
            <a:ext cx="2376160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Python | Pandas | NumPy |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EPANET / WNTR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003872" y="3461891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2957810" y="2527093"/>
            <a:ext cx="12614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ML / Analytics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962937" y="2693506"/>
            <a:ext cx="2527555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 Learning | Anomaly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54323" y="4315867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53951" y="3253545"/>
            <a:ext cx="95052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Agentic AI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54877" y="3459109"/>
            <a:ext cx="2494955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LLM | Multi-Agent AI | RAG |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 Graph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003872" y="4315867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2962937" y="3242072"/>
            <a:ext cx="10651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Digital Twin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951947" y="3445532"/>
            <a:ext cx="2497470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State Model |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Simulation Engine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52760" y="5168578"/>
            <a:ext cx="4610100" cy="5381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643406" y="4000290"/>
            <a:ext cx="10349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Application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53951" y="4167421"/>
            <a:ext cx="203670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PostgreSQL | Streamlit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5585897" y="2152295"/>
            <a:ext cx="3105691" cy="2339024"/>
          </a:xfrm>
          <a:prstGeom prst="rect">
            <a:avLst/>
          </a:prstGeom>
          <a:solidFill>
            <a:srgbClr val="13283A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5713098" y="2197560"/>
            <a:ext cx="24266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EXPECTED OUTCOMES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52387" y="4710530"/>
            <a:ext cx="47029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kern="0" spc="151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→ MONITORING → INVESTIGATION → RESPONSE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266" y="-193389"/>
            <a:ext cx="8120062" cy="685800"/>
          </a:xfrm>
          <a:prstGeom prst="rect">
            <a:avLst/>
          </a:prstGeom>
        </p:spPr>
      </p:pic>
      <p:pic>
        <p:nvPicPr>
          <p:cNvPr id="6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023" y="2460246"/>
            <a:ext cx="2257425" cy="762000"/>
          </a:xfrm>
          <a:prstGeom prst="rect">
            <a:avLst/>
          </a:prstGeom>
        </p:spPr>
      </p:pic>
      <p:pic>
        <p:nvPicPr>
          <p:cNvPr id="6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9950" y="2460056"/>
            <a:ext cx="2257425" cy="762000"/>
          </a:xfrm>
          <a:prstGeom prst="rect">
            <a:avLst/>
          </a:prstGeom>
        </p:spPr>
      </p:pic>
      <p:pic>
        <p:nvPicPr>
          <p:cNvPr id="6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2" y="3216766"/>
            <a:ext cx="2257425" cy="1866923"/>
          </a:xfrm>
          <a:prstGeom prst="rect">
            <a:avLst/>
          </a:prstGeom>
        </p:spPr>
      </p:pic>
      <p:pic>
        <p:nvPicPr>
          <p:cNvPr id="6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39949" y="3217737"/>
            <a:ext cx="2257425" cy="762000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60" y="5168578"/>
            <a:ext cx="4610100" cy="538163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5661324" y="2447206"/>
            <a:ext cx="2814638" cy="1936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 framework for continuous infrastructure monitoring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 of abnormal infrastructure conditions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Cross-domain incident investigation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Analysis of infrastructure dependencies and impacts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What-if exploration of possible responses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Explainable decision support for operators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724</Words>
  <Application>Microsoft Office PowerPoint</Application>
  <PresentationFormat>On-screen Show (16:9)</PresentationFormat>
  <Paragraphs>246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Sanika Yashwant Gaikwad</cp:lastModifiedBy>
  <cp:revision>4</cp:revision>
  <dcterms:created xsi:type="dcterms:W3CDTF">2026-08-27T19:03:50Z</dcterms:created>
  <dcterms:modified xsi:type="dcterms:W3CDTF">2026-08-28T06:52:54Z</dcterms:modified>
</cp:coreProperties>
</file>