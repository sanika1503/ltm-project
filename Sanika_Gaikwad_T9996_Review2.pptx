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147470489" r:id="rId2"/>
    <p:sldId id="2147470492" r:id="rId3"/>
    <p:sldId id="2147470493" r:id="rId4"/>
    <p:sldId id="2147470487" r:id="rId5"/>
    <p:sldId id="2147470494" r:id="rId6"/>
    <p:sldId id="2147470497" r:id="rId7"/>
    <p:sldId id="2147470498" r:id="rId8"/>
    <p:sldId id="2147470500" r:id="rId9"/>
    <p:sldId id="2147470499" r:id="rId10"/>
    <p:sldId id="2147470501" r:id="rId11"/>
    <p:sldId id="2147470502" r:id="rId12"/>
    <p:sldId id="2147470503" r:id="rId13"/>
    <p:sldId id="2147470504" r:id="rId14"/>
    <p:sldId id="2147470505" r:id="rId15"/>
    <p:sldId id="2147470506" r:id="rId16"/>
    <p:sldId id="2147470507" r:id="rId17"/>
    <p:sldId id="2147470508" r:id="rId18"/>
    <p:sldId id="214747050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60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008C76-3816-4142-87E6-F4C51F19A460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A19261-7162-4702-953F-25BA591EBD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790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C2407-E79D-408D-B213-C8624BA58C4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8018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C2407-E79D-408D-B213-C8624BA58C4A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252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7BD45-9827-F9A0-C88C-CEA00376B9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4E0A64-22AB-32A3-FD4C-0E744890CC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D98A2-B6FD-6F9F-0FD7-465BBDA74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296DD-038C-4757-ACC2-D5D92156E562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6412E-F2A1-A3B3-167C-FB34E1B14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FA061-77FB-0629-00D7-5466732C0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9A633-3AFE-4CFB-A709-261A211653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478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F04B5-1D16-4267-9740-26277C2EE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32EA6-64D3-518D-E092-427E809A5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8C28-A906-08FF-E8F3-E9E993C42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296DD-038C-4757-ACC2-D5D92156E562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881E7-3E3C-A53A-87F6-1A379199B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87297-B001-5DE3-C217-376CD04C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9A633-3AFE-4CFB-A709-261A211653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382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54EED-1D4A-F4EA-53BE-663A17271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BB310A-3374-B537-4FB2-DD81CC86C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264CB-37E0-C77A-7E89-68B475FFE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296DD-038C-4757-ACC2-D5D92156E562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E7E75-9251-7578-421C-7C0F68444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6E66C-A2BD-DAB4-0B64-7B2855A20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9A633-3AFE-4CFB-A709-261A211653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63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7DED1-57DA-8AD4-6883-F257AB1F9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DCF8E-44D0-5CC9-7059-8B6F3763B3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1ECD92-366D-073A-F0EA-C928C37E02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EE92D-9FC5-596B-67BD-04B4D4C0A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296DD-038C-4757-ACC2-D5D92156E562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4655F-8F4B-C6A9-3C04-20211318D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52092B-4F06-01D2-33AA-44007F0F0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9A633-3AFE-4CFB-A709-261A211653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0500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530C8-00F2-6D0C-2748-3FBFC0D95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6CAB3A-A180-825C-5C02-54BD2BB35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97CF3C-55CC-2251-AC80-C5AC0A05B4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8FE366-59DA-C79F-8EC7-42739C7627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018518-2F09-0D7C-D358-79F546D3A1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290C91-D884-7D53-967D-FCF899D7F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296DD-038C-4757-ACC2-D5D92156E562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4BDC58-6533-0737-F29A-EBFBF85D2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33C888-3117-FB76-6CCA-E9ADFF73D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9A633-3AFE-4CFB-A709-261A211653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7314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9843E-D81E-ADBD-157D-81EF0476E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4E4CE6-9C5B-5729-66B5-6EA5C8C5B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296DD-038C-4757-ACC2-D5D92156E562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94C56F-D5B8-3381-D107-ED32A7572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B7492A-F724-5380-C219-AF80C29F4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9A633-3AFE-4CFB-A709-261A211653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176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985352-BD8D-D454-3CBA-345DF4CF0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296DD-038C-4757-ACC2-D5D92156E562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F86304-7AEF-317C-2D73-C8C22EF3D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098003-4607-DC34-0C5E-FE01BCA81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9A633-3AFE-4CFB-A709-261A211653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6748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53B7E-D1A8-2C0C-C257-69C0CA348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CCC42-036C-F01D-8829-C58A0D684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1B7059-0AB9-57E9-5607-C09DF3AA96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51CA69-3075-7D47-0EC2-2229DBBD0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296DD-038C-4757-ACC2-D5D92156E562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701A36-134B-5FB1-EC12-26CCCE5F6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70E348-7EFE-1D93-81A8-B75077BAB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9A633-3AFE-4CFB-A709-261A211653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193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3CD7E-C628-6EBD-8836-7B8A27CC1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63ED60-3B1B-5E95-A247-A2DDB0BC57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23BFC8-4057-15E3-AB59-516200A50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2609CE-A4C8-2337-EE1F-8D6853B4B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296DD-038C-4757-ACC2-D5D92156E562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B3B5F8-76D2-D020-EE0C-96FC11C03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49786B-40A9-74B5-B82D-758E09887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9A633-3AFE-4CFB-A709-261A211653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834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39B00-7871-D602-8484-EAF9FEFC6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0B6B6D-D45C-233F-8CC0-522E51EF04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F4B69-3517-DFA6-319E-989967950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296DD-038C-4757-ACC2-D5D92156E562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A76C1-2BFE-D4E8-DBA6-ED913DB28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0E6FD-8863-1649-6572-5E69E6166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9A633-3AFE-4CFB-A709-261A211653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7324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E4AEC0-7886-8DF1-F98E-30C4BAA906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1EFCB7-C94C-A376-14CF-95780697CB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364B7-5E93-7A58-2AE2-771B6228A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296DD-038C-4757-ACC2-D5D92156E562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85E8A-BFE9-2EC2-44D6-DD6450627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6EA91-DF5B-D756-093A-60411897D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9A633-3AFE-4CFB-A709-261A211653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0132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77363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C18429-DFD3-B97F-B4E9-9149B7556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A2170-C461-571B-AB76-A4C4A5A2C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8303A-A699-7A1D-15F7-E11D32810D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8296DD-038C-4757-ACC2-D5D92156E562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BA015-6E5D-3310-F204-12BBB8F4A1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2EC1A-B8CD-59F4-303C-6BE9042FC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19A633-3AFE-4CFB-A709-261A211653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627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 err="1">
                <a:solidFill>
                  <a:schemeClr val="bg1"/>
                </a:solidFill>
              </a:rPr>
              <a:t>M.Tech</a:t>
            </a:r>
            <a:r>
              <a:rPr lang="en-US" sz="4400" dirty="0">
                <a:solidFill>
                  <a:schemeClr val="bg1"/>
                </a:solidFill>
              </a:rPr>
              <a:t>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chemeClr val="bg1"/>
                </a:solidFill>
                <a:cs typeface="Calibri" panose="020F0502020204030204" pitchFamily="34" charset="0"/>
              </a:rPr>
              <a:t>Review II</a:t>
            </a:r>
          </a:p>
          <a:p>
            <a:pPr lvl="0" algn="ctr">
              <a:defRPr/>
            </a:pPr>
            <a:r>
              <a:rPr lang="en-IN" sz="3600" b="1" dirty="0" err="1">
                <a:solidFill>
                  <a:schemeClr val="bg1"/>
                </a:solidFill>
              </a:rPr>
              <a:t>GridRCA</a:t>
            </a:r>
            <a:r>
              <a:rPr lang="en-IN" sz="3600" b="1" dirty="0">
                <a:solidFill>
                  <a:schemeClr val="bg1"/>
                </a:solidFill>
              </a:rPr>
              <a:t>: A RAG-Driven Framework for Data Lineage-Aware Root-Cause Investigation in Power Grid Operations</a:t>
            </a:r>
            <a:endParaRPr lang="en-US" sz="3600" b="1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Sanika Gaikwad (T9996)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0FFC83-99B9-1530-E97C-8D4C6F897A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608" b="28733"/>
          <a:stretch>
            <a:fillRect/>
          </a:stretch>
        </p:blipFill>
        <p:spPr>
          <a:xfrm>
            <a:off x="148893" y="5926906"/>
            <a:ext cx="3064026" cy="73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1274" y="1523255"/>
            <a:ext cx="11631204" cy="4142989"/>
          </a:xfrm>
        </p:spPr>
        <p:txBody>
          <a:bodyPr/>
          <a:lstStyle/>
          <a:p>
            <a:pPr lvl="0"/>
            <a:r>
              <a:rPr lang="en-IN" b="0" dirty="0">
                <a:latin typeface="+mn-lt"/>
              </a:rPr>
              <a:t>Power grids generate large amounts of telemetry data. </a:t>
            </a:r>
          </a:p>
          <a:p>
            <a:pPr lvl="0"/>
            <a:r>
              <a:rPr lang="en-IN" b="0" dirty="0">
                <a:latin typeface="+mn-lt"/>
              </a:rPr>
              <a:t>Detecting an abnormal event is not enough. </a:t>
            </a:r>
          </a:p>
          <a:p>
            <a:pPr lvl="0"/>
            <a:r>
              <a:rPr lang="en-IN" b="0" dirty="0">
                <a:latin typeface="+mn-lt"/>
              </a:rPr>
              <a:t>Operators also need to know where the problem is and why it happened. </a:t>
            </a:r>
          </a:p>
          <a:p>
            <a:pPr lvl="0"/>
            <a:r>
              <a:rPr lang="en-IN" b="0" dirty="0" err="1">
                <a:latin typeface="+mn-lt"/>
              </a:rPr>
              <a:t>GridRCA</a:t>
            </a:r>
            <a:r>
              <a:rPr lang="en-IN" b="0" dirty="0">
                <a:latin typeface="+mn-lt"/>
              </a:rPr>
              <a:t> combines ML, grid topology, telemetry and technical knowledge. </a:t>
            </a:r>
          </a:p>
          <a:p>
            <a:pPr lvl="0"/>
            <a:r>
              <a:rPr lang="en-IN" b="0" dirty="0">
                <a:latin typeface="+mn-lt"/>
              </a:rPr>
              <a:t>The system provides root-cause candidates with supporting evidence.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Power Grid RCA</a:t>
            </a:r>
            <a:endParaRPr lang="en-US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523255"/>
            <a:ext cx="10624338" cy="4142989"/>
          </a:xfrm>
        </p:spPr>
        <p:txBody>
          <a:bodyPr/>
          <a:lstStyle/>
          <a:p>
            <a:pPr lvl="0"/>
            <a:r>
              <a:rPr lang="en-IN" dirty="0">
                <a:solidFill>
                  <a:schemeClr val="accent1"/>
                </a:solidFill>
                <a:latin typeface="+mn-lt"/>
              </a:rPr>
              <a:t>Detect and classify abnormal grid events. </a:t>
            </a:r>
          </a:p>
          <a:p>
            <a:pPr lvl="0"/>
            <a:r>
              <a:rPr lang="en-IN" dirty="0">
                <a:solidFill>
                  <a:schemeClr val="accent1"/>
                </a:solidFill>
                <a:latin typeface="+mn-lt"/>
              </a:rPr>
              <a:t>Identify the most likely root-cause component. </a:t>
            </a:r>
          </a:p>
          <a:p>
            <a:pPr lvl="0"/>
            <a:r>
              <a:rPr lang="en-IN" dirty="0">
                <a:solidFill>
                  <a:schemeClr val="accent1"/>
                </a:solidFill>
                <a:latin typeface="+mn-lt"/>
              </a:rPr>
              <a:t>Use grid topology to improve localization. </a:t>
            </a:r>
          </a:p>
          <a:p>
            <a:pPr lvl="0"/>
            <a:r>
              <a:rPr lang="en-IN" dirty="0">
                <a:solidFill>
                  <a:schemeClr val="accent1"/>
                </a:solidFill>
                <a:latin typeface="+mn-lt"/>
              </a:rPr>
              <a:t>Combine multiple evidence sources for RCA. </a:t>
            </a:r>
          </a:p>
          <a:p>
            <a:pPr lvl="0"/>
            <a:r>
              <a:rPr lang="en-IN" dirty="0">
                <a:solidFill>
                  <a:schemeClr val="accent1"/>
                </a:solidFill>
                <a:latin typeface="+mn-lt"/>
              </a:rPr>
              <a:t>Provide explainable and evidence-based results using RAG. </a:t>
            </a:r>
          </a:p>
          <a:p>
            <a:pPr lvl="0"/>
            <a:r>
              <a:rPr lang="en-IN" dirty="0">
                <a:solidFill>
                  <a:schemeClr val="accent1"/>
                </a:solidFill>
                <a:latin typeface="+mn-lt"/>
              </a:rPr>
              <a:t>Provide results through a web-based dashboard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Power Grid RCA</a:t>
            </a:r>
            <a:endParaRPr lang="en-US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IN" sz="3600" b="1" dirty="0">
                <a:solidFill>
                  <a:schemeClr val="tx2"/>
                </a:solidFill>
              </a:rPr>
              <a:t>System Modules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Power Grid RCA</a:t>
            </a:r>
            <a:endParaRPr lang="en-US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357365-9350-4D3A-8E2A-47309C6D6C1D}"/>
              </a:ext>
            </a:extLst>
          </p:cNvPr>
          <p:cNvSpPr txBox="1"/>
          <p:nvPr/>
        </p:nvSpPr>
        <p:spPr>
          <a:xfrm>
            <a:off x="373380" y="1300002"/>
            <a:ext cx="497586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/>
                </a:solidFill>
              </a:rPr>
              <a:t>1. Data Layer</a:t>
            </a:r>
            <a:endParaRPr lang="en-IN" sz="2800" dirty="0">
              <a:solidFill>
                <a:schemeClr val="accent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/>
                </a:solidFill>
              </a:rPr>
              <a:t>PSML events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/>
                </a:solidFill>
              </a:rPr>
              <a:t>Grid topology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/>
                </a:solidFill>
              </a:rPr>
              <a:t>PMU telemetry </a:t>
            </a:r>
          </a:p>
          <a:p>
            <a:r>
              <a:rPr lang="en-IN" sz="2800" b="1" dirty="0">
                <a:solidFill>
                  <a:schemeClr val="accent1"/>
                </a:solidFill>
              </a:rPr>
              <a:t>2. ML Layer</a:t>
            </a:r>
            <a:endParaRPr lang="en-IN" sz="2800" dirty="0">
              <a:solidFill>
                <a:schemeClr val="accent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/>
                </a:solidFill>
              </a:rPr>
              <a:t>Event classification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/>
                </a:solidFill>
              </a:rPr>
              <a:t>Temporal models </a:t>
            </a:r>
          </a:p>
          <a:p>
            <a:r>
              <a:rPr lang="en-IN" sz="2800" b="1" dirty="0">
                <a:solidFill>
                  <a:schemeClr val="accent1"/>
                </a:solidFill>
              </a:rPr>
              <a:t>3. RCA Layer</a:t>
            </a:r>
            <a:endParaRPr lang="en-IN" sz="2800" dirty="0">
              <a:solidFill>
                <a:schemeClr val="accent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/>
                </a:solidFill>
              </a:rPr>
              <a:t>Evidence scoring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/>
                </a:solidFill>
              </a:rPr>
              <a:t>Topology-based analysis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/>
                </a:solidFill>
              </a:rPr>
              <a:t>Candidate ranking </a:t>
            </a:r>
          </a:p>
          <a:p>
            <a:endParaRPr lang="en-IN" sz="2800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EA0C2F-8FDE-6A71-8BFA-4FC74CAD5F59}"/>
              </a:ext>
            </a:extLst>
          </p:cNvPr>
          <p:cNvSpPr txBox="1"/>
          <p:nvPr/>
        </p:nvSpPr>
        <p:spPr>
          <a:xfrm>
            <a:off x="6316220" y="1300002"/>
            <a:ext cx="554706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/>
                </a:solidFill>
              </a:rPr>
              <a:t>4. RAG Layer</a:t>
            </a:r>
            <a:endParaRPr lang="en-IN" sz="2800" dirty="0">
              <a:solidFill>
                <a:schemeClr val="accent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/>
                </a:solidFill>
              </a:rPr>
              <a:t>Knowledge retrieval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/>
                </a:solidFill>
              </a:rPr>
              <a:t>Grounded explanation </a:t>
            </a:r>
          </a:p>
          <a:p>
            <a:r>
              <a:rPr lang="en-IN" sz="2800" b="1" dirty="0">
                <a:solidFill>
                  <a:schemeClr val="accent1"/>
                </a:solidFill>
              </a:rPr>
              <a:t>5. Application Layer</a:t>
            </a:r>
            <a:endParaRPr lang="en-IN" sz="2800" dirty="0">
              <a:solidFill>
                <a:schemeClr val="accent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 err="1">
                <a:solidFill>
                  <a:schemeClr val="accent1"/>
                </a:solidFill>
              </a:rPr>
              <a:t>FastAPI</a:t>
            </a:r>
            <a:r>
              <a:rPr lang="en-IN" sz="2800" dirty="0">
                <a:solidFill>
                  <a:schemeClr val="accent1"/>
                </a:solidFill>
              </a:rPr>
              <a:t> backend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/>
                </a:solidFill>
              </a:rPr>
              <a:t>React dashboard</a:t>
            </a:r>
          </a:p>
          <a:p>
            <a:endParaRPr lang="en-IN" sz="2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594385"/>
            <a:ext cx="10624338" cy="4142989"/>
          </a:xfrm>
        </p:spPr>
        <p:txBody>
          <a:bodyPr/>
          <a:lstStyle/>
          <a:p>
            <a:pPr lvl="0"/>
            <a:r>
              <a:rPr lang="en-IN" b="0" dirty="0">
                <a:latin typeface="+mn-lt"/>
              </a:rPr>
              <a:t>Load PSML grid events and telemetry. </a:t>
            </a:r>
          </a:p>
          <a:p>
            <a:pPr lvl="0"/>
            <a:r>
              <a:rPr lang="en-IN" b="0" dirty="0">
                <a:latin typeface="+mn-lt"/>
              </a:rPr>
              <a:t>Build the 23-node, 34-branch grid topology. </a:t>
            </a:r>
          </a:p>
          <a:p>
            <a:pPr lvl="0"/>
            <a:r>
              <a:rPr lang="en-IN" b="0" dirty="0">
                <a:latin typeface="+mn-lt"/>
              </a:rPr>
              <a:t>Extract statistical and temporal features. </a:t>
            </a:r>
          </a:p>
          <a:p>
            <a:pPr lvl="0"/>
            <a:r>
              <a:rPr lang="en-IN" b="0" dirty="0">
                <a:latin typeface="+mn-lt"/>
              </a:rPr>
              <a:t>Classify disturbance events using ML models. </a:t>
            </a:r>
          </a:p>
          <a:p>
            <a:pPr lvl="0"/>
            <a:r>
              <a:rPr lang="en-IN" b="0" dirty="0">
                <a:latin typeface="+mn-lt"/>
              </a:rPr>
              <a:t>Generate RCA candidates using multiple evidence sources. </a:t>
            </a:r>
          </a:p>
          <a:p>
            <a:pPr lvl="0"/>
            <a:r>
              <a:rPr lang="en-IN" b="0" dirty="0">
                <a:latin typeface="+mn-lt"/>
              </a:rPr>
              <a:t>Rank candidates using topology and physical evidence. </a:t>
            </a:r>
          </a:p>
          <a:p>
            <a:pPr lvl="0"/>
            <a:r>
              <a:rPr lang="en-IN" b="0" dirty="0">
                <a:latin typeface="+mn-lt"/>
              </a:rPr>
              <a:t>Retrieve relevant technical knowledge using RAG. </a:t>
            </a:r>
          </a:p>
          <a:p>
            <a:pPr lvl="0"/>
            <a:r>
              <a:rPr lang="en-IN" b="0" dirty="0">
                <a:latin typeface="+mn-lt"/>
              </a:rPr>
              <a:t>Display RCA result and explanation to the user.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Methodology/Modeling Plan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Power Grid RCA</a:t>
            </a:r>
            <a:endParaRPr lang="en-US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57505"/>
            <a:ext cx="10624338" cy="4142989"/>
          </a:xfrm>
        </p:spPr>
        <p:txBody>
          <a:bodyPr/>
          <a:lstStyle/>
          <a:p>
            <a:pPr lvl="0"/>
            <a:r>
              <a:rPr lang="en-IN" b="0" dirty="0">
                <a:solidFill>
                  <a:schemeClr val="accent1"/>
                </a:solidFill>
                <a:latin typeface="+mn-lt"/>
              </a:rPr>
              <a:t>799 PSML events identified. </a:t>
            </a:r>
          </a:p>
          <a:p>
            <a:pPr lvl="0"/>
            <a:r>
              <a:rPr lang="en-IN" b="0" dirty="0">
                <a:solidFill>
                  <a:schemeClr val="accent1"/>
                </a:solidFill>
                <a:latin typeface="+mn-lt"/>
              </a:rPr>
              <a:t>23 buses/nodes and 34 branches extracted. </a:t>
            </a:r>
          </a:p>
          <a:p>
            <a:pPr lvl="0"/>
            <a:r>
              <a:rPr lang="en-IN" b="0" dirty="0">
                <a:solidFill>
                  <a:schemeClr val="accent1"/>
                </a:solidFill>
                <a:latin typeface="+mn-lt"/>
              </a:rPr>
              <a:t>830,400 telemetry records loaded into PostgreSQL. </a:t>
            </a:r>
          </a:p>
          <a:p>
            <a:pPr lvl="0"/>
            <a:r>
              <a:rPr lang="en-IN" b="0" dirty="0">
                <a:solidFill>
                  <a:schemeClr val="accent1"/>
                </a:solidFill>
                <a:latin typeface="+mn-lt"/>
              </a:rPr>
              <a:t>Telemetry includes voltage, power and reactive-power signals. </a:t>
            </a:r>
          </a:p>
          <a:p>
            <a:pPr lvl="0"/>
            <a:r>
              <a:rPr lang="en-IN" b="0" dirty="0">
                <a:solidFill>
                  <a:schemeClr val="accent1"/>
                </a:solidFill>
                <a:latin typeface="+mn-lt"/>
              </a:rPr>
              <a:t>Statistical features extracted from time-series data. </a:t>
            </a:r>
          </a:p>
          <a:p>
            <a:pPr lvl="0"/>
            <a:r>
              <a:rPr lang="en-IN" b="0" dirty="0">
                <a:solidFill>
                  <a:schemeClr val="accent1"/>
                </a:solidFill>
                <a:latin typeface="+mn-lt"/>
              </a:rPr>
              <a:t>Event types include: </a:t>
            </a:r>
          </a:p>
          <a:p>
            <a:pPr lvl="1"/>
            <a:r>
              <a:rPr lang="en-IN" sz="2800" dirty="0">
                <a:solidFill>
                  <a:schemeClr val="accent1"/>
                </a:solidFill>
              </a:rPr>
              <a:t>Forced Oscillation </a:t>
            </a:r>
          </a:p>
          <a:p>
            <a:pPr lvl="1"/>
            <a:r>
              <a:rPr lang="en-IN" sz="2800" dirty="0">
                <a:solidFill>
                  <a:schemeClr val="accent1"/>
                </a:solidFill>
              </a:rPr>
              <a:t>Generator Trip </a:t>
            </a:r>
          </a:p>
          <a:p>
            <a:pPr lvl="1"/>
            <a:r>
              <a:rPr lang="en-IN" sz="2800" dirty="0">
                <a:solidFill>
                  <a:schemeClr val="accent1"/>
                </a:solidFill>
              </a:rPr>
              <a:t>Branch Trip/Fault </a:t>
            </a:r>
          </a:p>
          <a:p>
            <a:pPr lvl="1"/>
            <a:r>
              <a:rPr lang="en-IN" sz="2800" dirty="0">
                <a:solidFill>
                  <a:schemeClr val="accent1"/>
                </a:solidFill>
              </a:rPr>
              <a:t>Bus Trip/Fault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Power Grid RCA</a:t>
            </a:r>
            <a:endParaRPr lang="en-US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443792"/>
            <a:ext cx="2898684" cy="4142989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+mn-lt"/>
              </a:rPr>
              <a:t>Algorithms</a:t>
            </a:r>
          </a:p>
          <a:p>
            <a:pPr lvl="0"/>
            <a:r>
              <a:rPr lang="en-IN" b="0" dirty="0">
                <a:latin typeface="+mn-lt"/>
              </a:rPr>
              <a:t>Random Forest </a:t>
            </a:r>
          </a:p>
          <a:p>
            <a:pPr lvl="0"/>
            <a:r>
              <a:rPr lang="en-IN" b="0" dirty="0">
                <a:latin typeface="+mn-lt"/>
              </a:rPr>
              <a:t>1D CNN </a:t>
            </a:r>
          </a:p>
          <a:p>
            <a:pPr lvl="0"/>
            <a:r>
              <a:rPr lang="en-IN" b="0" dirty="0" err="1">
                <a:latin typeface="+mn-lt"/>
              </a:rPr>
              <a:t>BiGRU</a:t>
            </a:r>
            <a:r>
              <a:rPr lang="en-IN" b="0" dirty="0">
                <a:latin typeface="+mn-lt"/>
              </a:rPr>
              <a:t> </a:t>
            </a:r>
          </a:p>
          <a:p>
            <a:pPr lvl="0"/>
            <a:r>
              <a:rPr lang="en-IN" b="0" dirty="0" err="1">
                <a:latin typeface="+mn-lt"/>
              </a:rPr>
              <a:t>InceptionTime</a:t>
            </a:r>
            <a:r>
              <a:rPr lang="en-IN" b="0" dirty="0">
                <a:latin typeface="+mn-lt"/>
              </a:rPr>
              <a:t> </a:t>
            </a:r>
          </a:p>
          <a:p>
            <a:pPr lvl="0"/>
            <a:r>
              <a:rPr lang="en-IN" b="0" dirty="0">
                <a:latin typeface="+mn-lt"/>
              </a:rPr>
              <a:t>ResNet1D </a:t>
            </a:r>
          </a:p>
          <a:p>
            <a:pPr lvl="0"/>
            <a:r>
              <a:rPr lang="en-IN" b="0" dirty="0">
                <a:latin typeface="+mn-lt"/>
              </a:rPr>
              <a:t>Hybrid Fusion </a:t>
            </a:r>
          </a:p>
          <a:p>
            <a:pPr lvl="0"/>
            <a:r>
              <a:rPr lang="en-IN" b="0" dirty="0">
                <a:latin typeface="+mn-lt"/>
              </a:rPr>
              <a:t>Graph-based RCA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Power Grid RCA</a:t>
            </a:r>
            <a:endParaRPr lang="en-US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2340AC-6F9F-8BBC-31AD-B5A8DA8310B6}"/>
              </a:ext>
            </a:extLst>
          </p:cNvPr>
          <p:cNvSpPr txBox="1"/>
          <p:nvPr/>
        </p:nvSpPr>
        <p:spPr>
          <a:xfrm>
            <a:off x="4209021" y="1447404"/>
            <a:ext cx="415773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/>
                </a:solidFill>
              </a:rPr>
              <a:t>RAG</a:t>
            </a:r>
            <a:endParaRPr lang="en-IN" sz="2800" dirty="0">
              <a:solidFill>
                <a:schemeClr val="accent1"/>
              </a:solidFill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/>
                </a:solidFill>
              </a:rPr>
              <a:t>Sentence Transformers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 err="1">
                <a:solidFill>
                  <a:schemeClr val="accent1"/>
                </a:solidFill>
              </a:rPr>
              <a:t>ChromaDB</a:t>
            </a:r>
            <a:r>
              <a:rPr lang="en-IN" sz="2800" dirty="0">
                <a:solidFill>
                  <a:schemeClr val="accent1"/>
                </a:solidFill>
              </a:rPr>
              <a:t>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/>
                </a:solidFill>
              </a:rPr>
              <a:t>Semantic Search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174209-3FC9-49A1-37D0-300619023721}"/>
              </a:ext>
            </a:extLst>
          </p:cNvPr>
          <p:cNvSpPr txBox="1"/>
          <p:nvPr/>
        </p:nvSpPr>
        <p:spPr>
          <a:xfrm>
            <a:off x="8877300" y="1443792"/>
            <a:ext cx="33147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/>
                </a:solidFill>
              </a:rPr>
              <a:t>Technology</a:t>
            </a:r>
            <a:endParaRPr lang="en-IN" sz="2800" dirty="0">
              <a:solidFill>
                <a:schemeClr val="accent1"/>
              </a:solidFill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/>
                </a:solidFill>
              </a:rPr>
              <a:t>Python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 err="1">
                <a:solidFill>
                  <a:schemeClr val="accent1"/>
                </a:solidFill>
              </a:rPr>
              <a:t>FastAPI</a:t>
            </a:r>
            <a:r>
              <a:rPr lang="en-IN" sz="2800" dirty="0">
                <a:solidFill>
                  <a:schemeClr val="accent1"/>
                </a:solidFill>
              </a:rPr>
              <a:t>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/>
                </a:solidFill>
              </a:rPr>
              <a:t>React + Vite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/>
                </a:solidFill>
              </a:rPr>
              <a:t>PostgreSQL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 err="1">
                <a:solidFill>
                  <a:schemeClr val="accent1"/>
                </a:solidFill>
              </a:rPr>
              <a:t>PyTorch</a:t>
            </a:r>
            <a:r>
              <a:rPr lang="en-IN" sz="2800" dirty="0">
                <a:solidFill>
                  <a:schemeClr val="accent1"/>
                </a:solidFill>
              </a:rPr>
              <a:t>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/>
                </a:solidFill>
              </a:rPr>
              <a:t>Scikit-learn</a:t>
            </a:r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Project plan/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milestones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progress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Power Grid RCA</a:t>
            </a:r>
            <a:endParaRPr lang="en-US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703A445-40C8-D93E-653B-50A719E1895F}"/>
              </a:ext>
            </a:extLst>
          </p:cNvPr>
          <p:cNvGraphicFramePr>
            <a:graphicFrameLocks noGrp="1"/>
          </p:cNvGraphicFramePr>
          <p:nvPr/>
        </p:nvGraphicFramePr>
        <p:xfrm>
          <a:off x="1803250" y="1326255"/>
          <a:ext cx="9352430" cy="502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76215">
                  <a:extLst>
                    <a:ext uri="{9D8B030D-6E8A-4147-A177-3AD203B41FA5}">
                      <a16:colId xmlns:a16="http://schemas.microsoft.com/office/drawing/2014/main" val="4008391796"/>
                    </a:ext>
                  </a:extLst>
                </a:gridCol>
                <a:gridCol w="4676215">
                  <a:extLst>
                    <a:ext uri="{9D8B030D-6E8A-4147-A177-3AD203B41FA5}">
                      <a16:colId xmlns:a16="http://schemas.microsoft.com/office/drawing/2014/main" val="17132635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Milestone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4703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PSML data &amp; topology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✅ 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09756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PostgreSQL 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✅ 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9129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Feature engineering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✅ 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5681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Event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✅ 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5548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RCA engine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✅ 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0680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Evidence &amp; lineage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✅ 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9794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RAG knowledge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✅ 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824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Temporal &amp; graph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✅ 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2514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React + FastAPI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✅ 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8906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System health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✅ 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63073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Pipeline structure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Power Grid RCA</a:t>
            </a:r>
            <a:endParaRPr lang="en-US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190854-F0A6-73F7-257A-1961423EB8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13" b="18932"/>
          <a:stretch>
            <a:fillRect/>
          </a:stretch>
        </p:blipFill>
        <p:spPr>
          <a:xfrm>
            <a:off x="512905" y="1948726"/>
            <a:ext cx="11239384" cy="3282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 err="1">
                <a:solidFill>
                  <a:schemeClr val="bg1"/>
                </a:solidFill>
              </a:rPr>
              <a:t>M.Tech</a:t>
            </a:r>
            <a:r>
              <a:rPr lang="en-US" sz="4400" dirty="0">
                <a:solidFill>
                  <a:schemeClr val="bg1"/>
                </a:solidFill>
              </a:rPr>
              <a:t>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</a:t>
            </a:r>
          </a:p>
          <a:p>
            <a:pPr lvl="0" algn="ctr">
              <a:defRPr/>
            </a:pPr>
            <a:r>
              <a:rPr lang="en-IN" sz="3600" dirty="0">
                <a:solidFill>
                  <a:schemeClr val="bg1"/>
                </a:solidFill>
              </a:rPr>
              <a:t>Agentic AI Framework for Continuous Cross-Domain </a:t>
            </a:r>
          </a:p>
          <a:p>
            <a:pPr lvl="0" algn="ctr">
              <a:defRPr/>
            </a:pPr>
            <a:r>
              <a:rPr lang="en-IN" sz="3600" dirty="0">
                <a:solidFill>
                  <a:schemeClr val="bg1"/>
                </a:solidFill>
              </a:rPr>
              <a:t>Urban Infrastructure Monitoring, Diagnosis and </a:t>
            </a:r>
          </a:p>
          <a:p>
            <a:pPr lvl="0" algn="ctr">
              <a:defRPr/>
            </a:pPr>
            <a:r>
              <a:rPr lang="en-IN" sz="3600" dirty="0">
                <a:solidFill>
                  <a:schemeClr val="bg1"/>
                </a:solidFill>
              </a:rPr>
              <a:t>Decision Support</a:t>
            </a:r>
            <a:endParaRPr lang="en-US" sz="3600" b="1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latin typeface="Frutiger 45 bold"/>
                <a:cs typeface="Calibri" panose="020F0502020204030204" pitchFamily="34" charset="0"/>
              </a:rPr>
              <a:t>Sanika Gaikwad (T9996)</a:t>
            </a: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685DF1-B9B8-CDBB-B3BC-F9072BE6C9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608" b="28733"/>
          <a:stretch>
            <a:fillRect/>
          </a:stretch>
        </p:blipFill>
        <p:spPr>
          <a:xfrm>
            <a:off x="148893" y="5926906"/>
            <a:ext cx="3064026" cy="73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601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523255"/>
            <a:ext cx="11516904" cy="4142989"/>
          </a:xfrm>
        </p:spPr>
        <p:txBody>
          <a:bodyPr/>
          <a:lstStyle/>
          <a:p>
            <a:pPr lvl="0"/>
            <a:r>
              <a:rPr lang="en-IN" sz="2400" b="0" dirty="0">
                <a:latin typeface="+mn-lt"/>
              </a:rPr>
              <a:t>Urban infrastructure generates data across multiple domains such as weather, water, drainage and metro.</a:t>
            </a:r>
          </a:p>
          <a:p>
            <a:pPr lvl="0"/>
            <a:r>
              <a:rPr lang="en-IN" sz="2400" b="0" dirty="0">
                <a:latin typeface="+mn-lt"/>
              </a:rPr>
              <a:t>This data is often </a:t>
            </a:r>
            <a:r>
              <a:rPr lang="en-IN" sz="2400" b="0" dirty="0" err="1">
                <a:latin typeface="+mn-lt"/>
              </a:rPr>
              <a:t>analyzed</a:t>
            </a:r>
            <a:r>
              <a:rPr lang="en-IN" sz="2400" b="0" dirty="0">
                <a:latin typeface="+mn-lt"/>
              </a:rPr>
              <a:t> separately, making it difficult to understand cross-domain impacts.</a:t>
            </a:r>
          </a:p>
          <a:p>
            <a:pPr lvl="0"/>
            <a:r>
              <a:rPr lang="en-IN" sz="2400" b="0" dirty="0">
                <a:latin typeface="+mn-lt"/>
              </a:rPr>
              <a:t>Our system provides a unified Urban Infrastructure Intelligence </a:t>
            </a:r>
            <a:r>
              <a:rPr lang="en-IN" sz="2400" b="0" dirty="0" err="1">
                <a:latin typeface="+mn-lt"/>
              </a:rPr>
              <a:t>Center</a:t>
            </a:r>
            <a:r>
              <a:rPr lang="en-IN" sz="2400" b="0" dirty="0">
                <a:latin typeface="+mn-lt"/>
              </a:rPr>
              <a:t> for monitoring, anomaly detection, diagnosis and decision support.</a:t>
            </a:r>
          </a:p>
          <a:p>
            <a:pPr lvl="0"/>
            <a:r>
              <a:rPr lang="en-IN" sz="2400" b="0" dirty="0">
                <a:latin typeface="+mn-lt"/>
              </a:rPr>
              <a:t>The system currently focuses on real Chennai infrastructure data.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AGENTIC AI FOR URBAN INFRASTRUCTURE</a:t>
            </a:r>
            <a:endParaRPr lang="en-US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1188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523255"/>
            <a:ext cx="10624338" cy="4142989"/>
          </a:xfrm>
        </p:spPr>
        <p:txBody>
          <a:bodyPr/>
          <a:lstStyle/>
          <a:p>
            <a:pPr lvl="0"/>
            <a:r>
              <a:rPr lang="en-IN" b="0" dirty="0">
                <a:latin typeface="+mn-lt"/>
              </a:rPr>
              <a:t>Detect unusual conditions from real urban infrastructure data.</a:t>
            </a:r>
          </a:p>
          <a:p>
            <a:pPr lvl="0"/>
            <a:r>
              <a:rPr lang="en-IN" b="0" dirty="0">
                <a:latin typeface="+mn-lt"/>
              </a:rPr>
              <a:t>Combine information from different domains to understand possible impacts.</a:t>
            </a:r>
          </a:p>
          <a:p>
            <a:pPr lvl="0"/>
            <a:r>
              <a:rPr lang="en-IN" b="0" dirty="0">
                <a:latin typeface="+mn-lt"/>
              </a:rPr>
              <a:t>Provide evidence-based diagnosis and risk assessment.</a:t>
            </a:r>
          </a:p>
          <a:p>
            <a:pPr lvl="0"/>
            <a:r>
              <a:rPr lang="en-IN" b="0" dirty="0">
                <a:latin typeface="+mn-lt"/>
              </a:rPr>
              <a:t>Simulate possible mitigation scenarios before taking action.</a:t>
            </a:r>
          </a:p>
          <a:p>
            <a:pPr lvl="0"/>
            <a:r>
              <a:rPr lang="en-IN" b="0" dirty="0">
                <a:latin typeface="+mn-lt"/>
              </a:rPr>
              <a:t>Generate recommendations with human approval required.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AGENTIC AI FOR URBAN INFRASTRUCTURE</a:t>
            </a:r>
            <a:endParaRPr lang="en-US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9789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545914"/>
            <a:ext cx="5837897" cy="4809541"/>
          </a:xfrm>
        </p:spPr>
        <p:txBody>
          <a:bodyPr/>
          <a:lstStyle/>
          <a:p>
            <a:r>
              <a:rPr lang="en-IN" b="0" dirty="0">
                <a:solidFill>
                  <a:schemeClr val="tx2"/>
                </a:solidFill>
                <a:latin typeface="+mn-lt"/>
              </a:rPr>
              <a:t>Weather Intelligence</a:t>
            </a:r>
          </a:p>
          <a:p>
            <a:pPr lvl="1"/>
            <a:r>
              <a:rPr lang="en-IN" sz="2800" dirty="0">
                <a:solidFill>
                  <a:schemeClr val="accent1"/>
                </a:solidFill>
              </a:rPr>
              <a:t>Rainfall anomaly detection</a:t>
            </a:r>
          </a:p>
          <a:p>
            <a:pPr lvl="1"/>
            <a:r>
              <a:rPr lang="en-IN" sz="2800" dirty="0">
                <a:solidFill>
                  <a:schemeClr val="accent1"/>
                </a:solidFill>
              </a:rPr>
              <a:t>Historical rainfall analysis</a:t>
            </a:r>
          </a:p>
          <a:p>
            <a:r>
              <a:rPr lang="en-IN" b="0" dirty="0">
                <a:solidFill>
                  <a:schemeClr val="tx2"/>
                </a:solidFill>
                <a:latin typeface="+mn-lt"/>
              </a:rPr>
              <a:t>Infrastructure Intelligence</a:t>
            </a:r>
          </a:p>
          <a:p>
            <a:pPr lvl="1"/>
            <a:r>
              <a:rPr lang="en-IN" sz="2800" dirty="0">
                <a:solidFill>
                  <a:schemeClr val="accent1"/>
                </a:solidFill>
              </a:rPr>
              <a:t>Drainage pumping assets</a:t>
            </a:r>
          </a:p>
          <a:p>
            <a:pPr lvl="1"/>
            <a:r>
              <a:rPr lang="en-IN" sz="2800" dirty="0">
                <a:solidFill>
                  <a:schemeClr val="accent1"/>
                </a:solidFill>
              </a:rPr>
              <a:t>Sewage flow meters</a:t>
            </a:r>
          </a:p>
          <a:p>
            <a:pPr lvl="1"/>
            <a:r>
              <a:rPr lang="en-IN" sz="2800" dirty="0">
                <a:solidFill>
                  <a:schemeClr val="accent1"/>
                </a:solidFill>
              </a:rPr>
              <a:t>MRTS stations</a:t>
            </a:r>
          </a:p>
          <a:p>
            <a:pPr lvl="1"/>
            <a:r>
              <a:rPr lang="en-IN" sz="2800" dirty="0">
                <a:solidFill>
                  <a:schemeClr val="accent1"/>
                </a:solidFill>
              </a:rPr>
              <a:t>Historical flood/inundation points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AGENTIC AI FOR URBAN INFRASTRUCTURE</a:t>
            </a:r>
            <a:endParaRPr lang="en-US" b="1" i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BD1914-C41B-2B13-8EE2-99C0D6ABBA37}"/>
              </a:ext>
            </a:extLst>
          </p:cNvPr>
          <p:cNvSpPr txBox="1"/>
          <p:nvPr/>
        </p:nvSpPr>
        <p:spPr>
          <a:xfrm>
            <a:off x="6616916" y="1396138"/>
            <a:ext cx="5052060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2"/>
                </a:solidFill>
              </a:rPr>
              <a:t>Water Intelligence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/>
                </a:solidFill>
              </a:rPr>
              <a:t>Reservoir storage analysis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/>
                </a:solidFill>
              </a:rPr>
              <a:t>Lake inflow/outflow anomaly detection</a:t>
            </a:r>
          </a:p>
          <a:p>
            <a:endParaRPr lang="en-IN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2"/>
                </a:solidFill>
              </a:rPr>
              <a:t>Decision Support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/>
                </a:solidFill>
              </a:rPr>
              <a:t>Incident investigation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/>
                </a:solidFill>
              </a:rPr>
              <a:t>Similar historical cases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/>
                </a:solidFill>
              </a:rPr>
              <a:t>Scenario simulation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/>
                </a:solidFill>
              </a:rPr>
              <a:t>Recommendation &amp; human approval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40076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AGENTIC AI FOR URBAN INFRASTRUCTURE</a:t>
            </a:r>
            <a:endParaRPr lang="en-US" b="1" i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44FAC8-9DBB-48F5-F3D6-1A5103FB9C1E}"/>
              </a:ext>
            </a:extLst>
          </p:cNvPr>
          <p:cNvSpPr txBox="1"/>
          <p:nvPr/>
        </p:nvSpPr>
        <p:spPr>
          <a:xfrm>
            <a:off x="255996" y="1594386"/>
            <a:ext cx="1147118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/>
                </a:solidFill>
              </a:rPr>
              <a:t>Statistical and ML-based anomaly detection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/>
                </a:solidFill>
              </a:rPr>
              <a:t>Cross-domain temporal correlation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/>
                </a:solidFill>
              </a:rPr>
              <a:t>Historical case similarity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/>
                </a:solidFill>
              </a:rPr>
              <a:t>Rule-based risk and decision scoring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/>
                </a:solidFill>
              </a:rPr>
              <a:t>RAG-based operational knowledge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/>
                </a:solidFill>
              </a:rPr>
              <a:t>Human-in-the-loop governance</a:t>
            </a:r>
          </a:p>
          <a:p>
            <a:pPr lvl="0"/>
            <a:endParaRPr lang="en-IN" sz="2800" dirty="0">
              <a:solidFill>
                <a:schemeClr val="accent1"/>
              </a:solidFill>
            </a:endParaRPr>
          </a:p>
          <a:p>
            <a:pPr lvl="0"/>
            <a:r>
              <a:rPr lang="en-IN" sz="2800" dirty="0">
                <a:solidFill>
                  <a:schemeClr val="accent1"/>
                </a:solidFill>
              </a:rPr>
              <a:t>Data → Preprocessing → Anomaly Detection → Multi-Agent Analysis → Diagnosis → Simulation → Decision Support</a:t>
            </a:r>
          </a:p>
          <a:p>
            <a:endParaRPr lang="en-IN" sz="2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4413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1274" y="1523255"/>
            <a:ext cx="10624338" cy="4142989"/>
          </a:xfrm>
        </p:spPr>
        <p:txBody>
          <a:bodyPr/>
          <a:lstStyle/>
          <a:p>
            <a:pPr lvl="0"/>
            <a:r>
              <a:rPr lang="en-IN" b="0" dirty="0">
                <a:latin typeface="+mn-lt"/>
              </a:rPr>
              <a:t>20,055 Chennai rainfall records from 62 stations</a:t>
            </a:r>
          </a:p>
          <a:p>
            <a:pPr lvl="0"/>
            <a:r>
              <a:rPr lang="en-IN" b="0" dirty="0">
                <a:latin typeface="+mn-lt"/>
              </a:rPr>
              <a:t>121 years of monthly rainfall data (1901–2021)</a:t>
            </a:r>
          </a:p>
          <a:p>
            <a:pPr lvl="0"/>
            <a:r>
              <a:rPr lang="en-IN" b="0" dirty="0">
                <a:latin typeface="+mn-lt"/>
              </a:rPr>
              <a:t>912 reservoir storage records</a:t>
            </a:r>
          </a:p>
          <a:p>
            <a:pPr lvl="0"/>
            <a:r>
              <a:rPr lang="en-IN" b="0" dirty="0">
                <a:latin typeface="+mn-lt"/>
              </a:rPr>
              <a:t>1,989 lake flow records</a:t>
            </a:r>
          </a:p>
          <a:p>
            <a:pPr lvl="0"/>
            <a:r>
              <a:rPr lang="en-IN" b="0" dirty="0">
                <a:latin typeface="+mn-lt"/>
              </a:rPr>
              <a:t>1,368 infrastructure assets from KML datasets</a:t>
            </a:r>
          </a:p>
          <a:p>
            <a:pPr lvl="0"/>
            <a:r>
              <a:rPr lang="en-IN" b="0" dirty="0">
                <a:latin typeface="+mn-lt"/>
              </a:rPr>
              <a:t>945 historical flood/inundation observations</a:t>
            </a:r>
          </a:p>
          <a:p>
            <a:pPr lvl="0"/>
            <a:r>
              <a:rPr lang="en-IN" b="0" dirty="0">
                <a:latin typeface="+mn-lt"/>
              </a:rPr>
              <a:t>Cleaning, deduplication, feature engineering and exploratory analysis performed before </a:t>
            </a:r>
            <a:r>
              <a:rPr lang="en-IN" b="0" dirty="0" err="1">
                <a:latin typeface="+mn-lt"/>
              </a:rPr>
              <a:t>modeling</a:t>
            </a:r>
            <a:r>
              <a:rPr lang="en-IN" b="0" dirty="0">
                <a:latin typeface="+mn-lt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AGENTIC AI FOR URBAN INFRASTRUCTURE</a:t>
            </a:r>
            <a:endParaRPr lang="en-US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3770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5837897" cy="4142989"/>
          </a:xfrm>
        </p:spPr>
        <p:txBody>
          <a:bodyPr/>
          <a:lstStyle/>
          <a:p>
            <a:r>
              <a:rPr lang="en-IN" dirty="0">
                <a:latin typeface="+mn-lt"/>
              </a:rPr>
              <a:t>ML / Analytics</a:t>
            </a:r>
          </a:p>
          <a:p>
            <a:pPr lvl="1"/>
            <a:r>
              <a:rPr lang="en-IN" dirty="0">
                <a:solidFill>
                  <a:schemeClr val="accent1"/>
                </a:solidFill>
              </a:rPr>
              <a:t>Isolation Forest</a:t>
            </a:r>
          </a:p>
          <a:p>
            <a:pPr lvl="1"/>
            <a:r>
              <a:rPr lang="en-IN" dirty="0">
                <a:solidFill>
                  <a:schemeClr val="accent1"/>
                </a:solidFill>
              </a:rPr>
              <a:t>Pearson correlation</a:t>
            </a:r>
          </a:p>
          <a:p>
            <a:pPr lvl="1"/>
            <a:r>
              <a:rPr lang="en-IN" dirty="0">
                <a:solidFill>
                  <a:schemeClr val="accent1"/>
                </a:solidFill>
              </a:rPr>
              <a:t>Rolling &amp; seasonal rainfall features</a:t>
            </a:r>
          </a:p>
          <a:p>
            <a:pPr lvl="1"/>
            <a:r>
              <a:rPr lang="en-IN" dirty="0">
                <a:solidFill>
                  <a:schemeClr val="accent1"/>
                </a:solidFill>
              </a:rPr>
              <a:t>Haversine spatial proximity</a:t>
            </a:r>
          </a:p>
          <a:p>
            <a:r>
              <a:rPr lang="en-IN" dirty="0">
                <a:latin typeface="+mn-lt"/>
              </a:rPr>
              <a:t>AI Architecture</a:t>
            </a:r>
          </a:p>
          <a:p>
            <a:pPr lvl="1"/>
            <a:r>
              <a:rPr lang="en-IN" dirty="0">
                <a:solidFill>
                  <a:schemeClr val="accent1"/>
                </a:solidFill>
              </a:rPr>
              <a:t>Weather Agent</a:t>
            </a:r>
          </a:p>
          <a:p>
            <a:pPr lvl="1"/>
            <a:r>
              <a:rPr lang="en-IN" dirty="0">
                <a:solidFill>
                  <a:schemeClr val="accent1"/>
                </a:solidFill>
              </a:rPr>
              <a:t>Water Agent</a:t>
            </a:r>
          </a:p>
          <a:p>
            <a:pPr lvl="1"/>
            <a:r>
              <a:rPr lang="en-IN" dirty="0">
                <a:solidFill>
                  <a:schemeClr val="accent1"/>
                </a:solidFill>
              </a:rPr>
              <a:t>Drainage Agent</a:t>
            </a:r>
          </a:p>
          <a:p>
            <a:pPr lvl="1"/>
            <a:r>
              <a:rPr lang="en-IN" dirty="0">
                <a:solidFill>
                  <a:schemeClr val="accent1"/>
                </a:solidFill>
              </a:rPr>
              <a:t>Metro Agent</a:t>
            </a:r>
          </a:p>
          <a:p>
            <a:pPr lvl="1"/>
            <a:r>
              <a:rPr lang="en-IN" dirty="0">
                <a:solidFill>
                  <a:schemeClr val="accent1"/>
                </a:solidFill>
              </a:rPr>
              <a:t>Central Orchestrator</a:t>
            </a:r>
          </a:p>
          <a:p>
            <a:pPr lvl="1"/>
            <a:r>
              <a:rPr lang="en-IN" dirty="0">
                <a:solidFill>
                  <a:schemeClr val="accent1"/>
                </a:solidFill>
              </a:rPr>
              <a:t>RAG + historical case memory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AGENTIC AI FOR URBAN INFRASTRUCTURE</a:t>
            </a:r>
            <a:endParaRPr lang="en-US" b="1" i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CB9D03-4661-4812-3F8B-E948B9BA95D0}"/>
              </a:ext>
            </a:extLst>
          </p:cNvPr>
          <p:cNvSpPr txBox="1"/>
          <p:nvPr/>
        </p:nvSpPr>
        <p:spPr>
          <a:xfrm>
            <a:off x="7040880" y="1440180"/>
            <a:ext cx="489512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tx2"/>
                </a:solidFill>
              </a:rPr>
              <a:t>Technology</a:t>
            </a:r>
            <a:endParaRPr lang="en-IN" sz="2800" dirty="0">
              <a:solidFill>
                <a:schemeClr val="tx2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1"/>
                </a:solidFill>
              </a:rPr>
              <a:t>Python, </a:t>
            </a:r>
            <a:r>
              <a:rPr lang="en-IN" sz="2400" dirty="0" err="1">
                <a:solidFill>
                  <a:schemeClr val="accent1"/>
                </a:solidFill>
              </a:rPr>
              <a:t>FastAPI</a:t>
            </a:r>
            <a:endParaRPr lang="en-IN" sz="2400" dirty="0">
              <a:solidFill>
                <a:schemeClr val="accent1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1"/>
                </a:solidFill>
              </a:rPr>
              <a:t>React + Vite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1"/>
                </a:solidFill>
              </a:rPr>
              <a:t>PostgreSQL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1"/>
                </a:solidFill>
              </a:rPr>
              <a:t>Scikit-learn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1"/>
                </a:solidFill>
              </a:rPr>
              <a:t>Pandas / NumPy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542526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69BAD7-4402-029D-94EE-84728E7A1B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523255"/>
            <a:ext cx="6053364" cy="4142989"/>
          </a:xfrm>
        </p:spPr>
        <p:txBody>
          <a:bodyPr/>
          <a:lstStyle/>
          <a:p>
            <a:pPr marL="0" lvl="0" indent="0">
              <a:buNone/>
            </a:pPr>
            <a:r>
              <a:rPr lang="en-IN" b="0" dirty="0"/>
              <a:t>✓ Data collection &amp; preprocessing</a:t>
            </a:r>
          </a:p>
          <a:p>
            <a:pPr marL="0" lvl="0" indent="0">
              <a:buNone/>
            </a:pPr>
            <a:r>
              <a:rPr lang="en-IN" b="0" dirty="0"/>
              <a:t>✓ Weather and water intelligence</a:t>
            </a:r>
          </a:p>
          <a:p>
            <a:pPr marL="0" lvl="0" indent="0">
              <a:buNone/>
            </a:pPr>
            <a:r>
              <a:rPr lang="en-IN" b="0" dirty="0"/>
              <a:t>✓ ML anomaly detection</a:t>
            </a:r>
          </a:p>
          <a:p>
            <a:pPr marL="0" lvl="0" indent="0">
              <a:buNone/>
            </a:pPr>
            <a:r>
              <a:rPr lang="en-IN" b="0" dirty="0"/>
              <a:t>✓ KML infrastructure data integration</a:t>
            </a:r>
          </a:p>
          <a:p>
            <a:pPr marL="0" lvl="0" indent="0">
              <a:buNone/>
            </a:pPr>
            <a:r>
              <a:rPr lang="en-IN" b="0" dirty="0"/>
              <a:t>✓ Multi-agent architecture</a:t>
            </a:r>
          </a:p>
          <a:p>
            <a:pPr marL="0" lvl="0" indent="0">
              <a:buNone/>
            </a:pPr>
            <a:r>
              <a:rPr lang="en-IN" b="0" dirty="0"/>
              <a:t>✓ Incident diagnosis &amp; evidence</a:t>
            </a:r>
          </a:p>
          <a:p>
            <a:pPr marL="0" lvl="0" indent="0">
              <a:buNone/>
            </a:pPr>
            <a:r>
              <a:rPr lang="en-IN" b="0" dirty="0"/>
              <a:t>✓ Scenario simulation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Project plan/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milestones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progress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AGENTIC AI FOR URBAN INFRASTRUCTURE</a:t>
            </a:r>
            <a:endParaRPr lang="en-US" b="1" i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F6CD52-D53D-D097-20C6-D3EFD781EE07}"/>
              </a:ext>
            </a:extLst>
          </p:cNvPr>
          <p:cNvSpPr txBox="1"/>
          <p:nvPr/>
        </p:nvSpPr>
        <p:spPr>
          <a:xfrm>
            <a:off x="6093893" y="1523255"/>
            <a:ext cx="587683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800" dirty="0">
                <a:solidFill>
                  <a:schemeClr val="accent1"/>
                </a:solidFill>
              </a:rPr>
              <a:t>✓ Decision ranking &amp; human approval</a:t>
            </a:r>
          </a:p>
          <a:p>
            <a:pPr lvl="0"/>
            <a:r>
              <a:rPr lang="en-IN" sz="2800" dirty="0">
                <a:solidFill>
                  <a:schemeClr val="accent1"/>
                </a:solidFill>
              </a:rPr>
              <a:t>✓ Analytics dashboard</a:t>
            </a:r>
          </a:p>
          <a:p>
            <a:pPr lvl="0"/>
            <a:r>
              <a:rPr lang="en-IN" sz="2800" dirty="0">
                <a:solidFill>
                  <a:schemeClr val="accent1"/>
                </a:solidFill>
              </a:rPr>
              <a:t>✓ REST APIs + React control </a:t>
            </a:r>
            <a:r>
              <a:rPr lang="en-IN" sz="2800" dirty="0" err="1">
                <a:solidFill>
                  <a:schemeClr val="accent1"/>
                </a:solidFill>
              </a:rPr>
              <a:t>center</a:t>
            </a:r>
            <a:endParaRPr lang="en-IN" sz="2800" dirty="0">
              <a:solidFill>
                <a:schemeClr val="accent1"/>
              </a:solidFill>
            </a:endParaRPr>
          </a:p>
          <a:p>
            <a:pPr lvl="0"/>
            <a:r>
              <a:rPr lang="en-IN" sz="2800" dirty="0">
                <a:solidFill>
                  <a:schemeClr val="accent1"/>
                </a:solidFill>
              </a:rPr>
              <a:t>✓ Automated testing</a:t>
            </a:r>
          </a:p>
          <a:p>
            <a:pPr lvl="0"/>
            <a:endParaRPr lang="en-IN" sz="2800" dirty="0">
              <a:solidFill>
                <a:schemeClr val="accent1"/>
              </a:solidFill>
            </a:endParaRPr>
          </a:p>
          <a:p>
            <a:r>
              <a:rPr lang="en-IN" sz="2800" b="1" dirty="0">
                <a:solidFill>
                  <a:schemeClr val="accent1"/>
                </a:solidFill>
              </a:rPr>
              <a:t>Current Status:</a:t>
            </a:r>
            <a:br>
              <a:rPr lang="en-IN" sz="2800" b="1" dirty="0">
                <a:solidFill>
                  <a:schemeClr val="accent1"/>
                </a:solidFill>
              </a:rPr>
            </a:br>
            <a:r>
              <a:rPr lang="en-IN" sz="2800" b="1" dirty="0">
                <a:solidFill>
                  <a:schemeClr val="accent1"/>
                </a:solidFill>
              </a:rPr>
              <a:t>End-to-end intelligence pipeline operational</a:t>
            </a:r>
          </a:p>
          <a:p>
            <a:endParaRPr lang="en-IN" sz="2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514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Pipeline structure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AGENTIC AI FOR URBAN INFRASTRUCTURE</a:t>
            </a:r>
            <a:endParaRPr lang="en-US" b="1" i="1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FF50D9-FC8D-2A7E-E30C-ACFB9774D3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80" y="1234637"/>
            <a:ext cx="10938334" cy="4975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617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869</Words>
  <Application>Microsoft Office PowerPoint</Application>
  <PresentationFormat>Widescreen</PresentationFormat>
  <Paragraphs>223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Frutiger 45 bold</vt:lpstr>
      <vt:lpstr>Frutiger LT Pro 45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Sanika Yashwant Gaikwad</dc:creator>
  <cp:lastModifiedBy>Sanika Yashwant Gaikwad</cp:lastModifiedBy>
  <cp:revision>1</cp:revision>
  <dcterms:created xsi:type="dcterms:W3CDTF">2026-10-06T04:29:27Z</dcterms:created>
  <dcterms:modified xsi:type="dcterms:W3CDTF">2026-10-06T04:31:17Z</dcterms:modified>
</cp:coreProperties>
</file>