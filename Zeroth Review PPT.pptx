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7"/>
  </p:notesMasterIdLst>
  <p:sldIdLst>
    <p:sldId id="261" r:id="rId2"/>
    <p:sldId id="259" r:id="rId3"/>
    <p:sldId id="260" r:id="rId4"/>
    <p:sldId id="257" r:id="rId5"/>
    <p:sldId id="258" r:id="rId6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91" d="100"/>
          <a:sy n="91" d="100"/>
        </p:scale>
        <p:origin x="786" y="-3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0356799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8104CB-FAFF-45D1-0E5D-3AE0210A3D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B666DDC-7556-051E-1F4A-5E0DA448AC3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08E73BE-B81F-2423-506A-1C9FF23C3B7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35DD2FD-ED35-33DC-2FB6-0432059339F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223445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svg"/><Relationship Id="rId5" Type="http://schemas.openxmlformats.org/officeDocument/2006/relationships/image" Target="../media/image3.png"/><Relationship Id="rId4" Type="http://schemas.openxmlformats.org/officeDocument/2006/relationships/image" Target="../media/image2.jpe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svg"/><Relationship Id="rId3" Type="http://schemas.openxmlformats.org/officeDocument/2006/relationships/image" Target="../media/image1.jpeg"/><Relationship Id="rId7" Type="http://schemas.openxmlformats.org/officeDocument/2006/relationships/image" Target="../media/image8.sv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svg"/><Relationship Id="rId5" Type="http://schemas.openxmlformats.org/officeDocument/2006/relationships/image" Target="../media/image6.svg"/><Relationship Id="rId4" Type="http://schemas.openxmlformats.org/officeDocument/2006/relationships/image" Target="../media/image5.sv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svg"/><Relationship Id="rId3" Type="http://schemas.openxmlformats.org/officeDocument/2006/relationships/image" Target="../media/image10.jpeg"/><Relationship Id="rId7" Type="http://schemas.openxmlformats.org/officeDocument/2006/relationships/image" Target="../media/image14.sv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svg"/><Relationship Id="rId5" Type="http://schemas.openxmlformats.org/officeDocument/2006/relationships/image" Target="../media/image12.svg"/><Relationship Id="rId10" Type="http://schemas.openxmlformats.org/officeDocument/2006/relationships/image" Target="../media/image17.svg"/><Relationship Id="rId4" Type="http://schemas.openxmlformats.org/officeDocument/2006/relationships/image" Target="../media/image11.svg"/><Relationship Id="rId9" Type="http://schemas.openxmlformats.org/officeDocument/2006/relationships/image" Target="../media/image16.sv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7" Type="http://schemas.openxmlformats.org/officeDocument/2006/relationships/image" Target="../media/image21.sv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0.svg"/><Relationship Id="rId5" Type="http://schemas.openxmlformats.org/officeDocument/2006/relationships/image" Target="../media/image19.svg"/><Relationship Id="rId4" Type="http://schemas.openxmlformats.org/officeDocument/2006/relationships/image" Target="../media/image18.sv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svg"/><Relationship Id="rId3" Type="http://schemas.openxmlformats.org/officeDocument/2006/relationships/image" Target="../media/image10.jpeg"/><Relationship Id="rId7" Type="http://schemas.openxmlformats.org/officeDocument/2006/relationships/image" Target="../media/image25.sv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4.svg"/><Relationship Id="rId5" Type="http://schemas.openxmlformats.org/officeDocument/2006/relationships/image" Target="../media/image23.svg"/><Relationship Id="rId4" Type="http://schemas.openxmlformats.org/officeDocument/2006/relationships/image" Target="../media/image22.svg"/><Relationship Id="rId9" Type="http://schemas.openxmlformats.org/officeDocument/2006/relationships/image" Target="../media/image27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1DD226-CCB5-99F2-6FCA-5DB8F508DF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
            <a:extLst>
              <a:ext uri="{FF2B5EF4-FFF2-40B4-BE49-F238E27FC236}">
                <a16:creationId xmlns:a16="http://schemas.microsoft.com/office/drawing/2014/main" id="{A933F112-136C-068E-DC8E-B5532038C42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967" y="-1079"/>
            <a:ext cx="9144000" cy="5143500"/>
          </a:xfrm>
          <a:prstGeom prst="rect">
            <a:avLst/>
          </a:prstGeom>
        </p:spPr>
      </p:pic>
      <p:sp>
        <p:nvSpPr>
          <p:cNvPr id="3" name="Shape 0">
            <a:extLst>
              <a:ext uri="{FF2B5EF4-FFF2-40B4-BE49-F238E27FC236}">
                <a16:creationId xmlns:a16="http://schemas.microsoft.com/office/drawing/2014/main" id="{12D0BC53-1D88-EF8C-80FB-795332C28448}"/>
              </a:ext>
            </a:extLst>
          </p:cNvPr>
          <p:cNvSpPr/>
          <p:nvPr/>
        </p:nvSpPr>
        <p:spPr>
          <a:xfrm>
            <a:off x="-967" y="-1079"/>
            <a:ext cx="1190625" cy="38100"/>
          </a:xfrm>
          <a:prstGeom prst="rect">
            <a:avLst/>
          </a:prstGeom>
          <a:solidFill>
            <a:srgbClr val="7BB8C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9" name="Shape 0">
            <a:extLst>
              <a:ext uri="{FF2B5EF4-FFF2-40B4-BE49-F238E27FC236}">
                <a16:creationId xmlns:a16="http://schemas.microsoft.com/office/drawing/2014/main" id="{5F16D685-C556-FB8A-3495-097F936AFEDB}"/>
              </a:ext>
            </a:extLst>
          </p:cNvPr>
          <p:cNvSpPr/>
          <p:nvPr/>
        </p:nvSpPr>
        <p:spPr>
          <a:xfrm>
            <a:off x="-967" y="-1079"/>
            <a:ext cx="1647825" cy="38100"/>
          </a:xfrm>
          <a:prstGeom prst="rect">
            <a:avLst/>
          </a:prstGeom>
          <a:solidFill>
            <a:srgbClr val="7BB8C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7" name="Shape 4">
            <a:extLst>
              <a:ext uri="{FF2B5EF4-FFF2-40B4-BE49-F238E27FC236}">
                <a16:creationId xmlns:a16="http://schemas.microsoft.com/office/drawing/2014/main" id="{A713018C-14B1-22FA-3FEF-0032FB26C452}"/>
              </a:ext>
            </a:extLst>
          </p:cNvPr>
          <p:cNvSpPr/>
          <p:nvPr/>
        </p:nvSpPr>
        <p:spPr>
          <a:xfrm>
            <a:off x="549027" y="554087"/>
            <a:ext cx="1004887" cy="9525"/>
          </a:xfrm>
          <a:prstGeom prst="rect">
            <a:avLst/>
          </a:prstGeom>
          <a:solidFill>
            <a:srgbClr val="2C435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1" name="Shape 6">
            <a:extLst>
              <a:ext uri="{FF2B5EF4-FFF2-40B4-BE49-F238E27FC236}">
                <a16:creationId xmlns:a16="http://schemas.microsoft.com/office/drawing/2014/main" id="{BA5A53EF-54F7-19F6-A4A9-9512D185B8F4}"/>
              </a:ext>
            </a:extLst>
          </p:cNvPr>
          <p:cNvSpPr/>
          <p:nvPr/>
        </p:nvSpPr>
        <p:spPr>
          <a:xfrm>
            <a:off x="549511" y="1040085"/>
            <a:ext cx="5210175" cy="1133475"/>
          </a:xfrm>
          <a:prstGeom prst="rect">
            <a:avLst/>
          </a:prstGeom>
          <a:solidFill>
            <a:srgbClr val="142539">
              <a:alpha val="80000"/>
            </a:srgbClr>
          </a:solidFill>
          <a:ln w="4763">
            <a:solidFill>
              <a:srgbClr val="2C435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3" name="Text 7">
            <a:extLst>
              <a:ext uri="{FF2B5EF4-FFF2-40B4-BE49-F238E27FC236}">
                <a16:creationId xmlns:a16="http://schemas.microsoft.com/office/drawing/2014/main" id="{7E774044-7A71-1EF2-FD66-F72384F8F1B4}"/>
              </a:ext>
            </a:extLst>
          </p:cNvPr>
          <p:cNvSpPr/>
          <p:nvPr/>
        </p:nvSpPr>
        <p:spPr>
          <a:xfrm>
            <a:off x="736178" y="1147390"/>
            <a:ext cx="1238324" cy="1809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spcAft>
                <a:spcPts val="324"/>
              </a:spcAft>
              <a:buNone/>
            </a:pPr>
            <a:r>
              <a:rPr lang="en-US" sz="1080" b="1" kern="0" spc="173" dirty="0">
                <a:solidFill>
                  <a:srgbClr val="7BB8C5"/>
                </a:solidFill>
                <a:latin typeface="Times New Roman" panose="02020603050405020304" pitchFamily="18" charset="0"/>
                <a:ea typeface="IBM Plex Sans" pitchFamily="34" charset="-122"/>
                <a:cs typeface="Times New Roman" panose="02020603050405020304" pitchFamily="18" charset="0"/>
              </a:rPr>
              <a:t>PROJECT 1</a:t>
            </a:r>
            <a:endParaRPr lang="en-US" sz="108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5" name="Text 8">
            <a:extLst>
              <a:ext uri="{FF2B5EF4-FFF2-40B4-BE49-F238E27FC236}">
                <a16:creationId xmlns:a16="http://schemas.microsoft.com/office/drawing/2014/main" id="{F30C5DC7-E37B-1029-14C6-F7464AA24346}"/>
              </a:ext>
            </a:extLst>
          </p:cNvPr>
          <p:cNvSpPr/>
          <p:nvPr/>
        </p:nvSpPr>
        <p:spPr>
          <a:xfrm>
            <a:off x="736178" y="1365572"/>
            <a:ext cx="4908962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rPr lang="en-US" sz="1620" b="1" kern="0" spc="-40" dirty="0" err="1">
                <a:solidFill>
                  <a:srgbClr val="F2F5F2"/>
                </a:solidFill>
                <a:latin typeface="Times New Roman" panose="02020603050405020304" pitchFamily="18" charset="0"/>
                <a:ea typeface="IBM Plex Sans" pitchFamily="34" charset="-122"/>
                <a:cs typeface="Times New Roman" panose="02020603050405020304" pitchFamily="18" charset="0"/>
              </a:rPr>
              <a:t>GridRCA</a:t>
            </a:r>
            <a:r>
              <a:rPr lang="en-US" sz="1620" b="1" kern="0" spc="-40" dirty="0">
                <a:solidFill>
                  <a:srgbClr val="F2F5F2"/>
                </a:solidFill>
                <a:latin typeface="Times New Roman" panose="02020603050405020304" pitchFamily="18" charset="0"/>
                <a:ea typeface="IBM Plex Sans" pitchFamily="34" charset="-122"/>
                <a:cs typeface="Times New Roman" panose="02020603050405020304" pitchFamily="18" charset="0"/>
              </a:rPr>
              <a:t>: A RAG-Driven Framework for Data</a:t>
            </a:r>
            <a:endParaRPr lang="en-US" sz="162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7" name="Text 9">
            <a:extLst>
              <a:ext uri="{FF2B5EF4-FFF2-40B4-BE49-F238E27FC236}">
                <a16:creationId xmlns:a16="http://schemas.microsoft.com/office/drawing/2014/main" id="{30262330-F0AD-3BFE-DB14-B72F8A07664B}"/>
              </a:ext>
            </a:extLst>
          </p:cNvPr>
          <p:cNvSpPr/>
          <p:nvPr/>
        </p:nvSpPr>
        <p:spPr>
          <a:xfrm>
            <a:off x="736178" y="1595958"/>
            <a:ext cx="6061308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rPr lang="en-US" sz="1620" b="1" kern="0" spc="-40" dirty="0">
                <a:solidFill>
                  <a:srgbClr val="F2F5F2"/>
                </a:solidFill>
                <a:latin typeface="Times New Roman" panose="02020603050405020304" pitchFamily="18" charset="0"/>
                <a:ea typeface="IBM Plex Sans" pitchFamily="34" charset="-122"/>
                <a:cs typeface="Times New Roman" panose="02020603050405020304" pitchFamily="18" charset="0"/>
              </a:rPr>
              <a:t>Lineage-Aware Root-Cause Investigation in Power</a:t>
            </a:r>
            <a:endParaRPr lang="en-US" sz="162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9" name="Text 10">
            <a:extLst>
              <a:ext uri="{FF2B5EF4-FFF2-40B4-BE49-F238E27FC236}">
                <a16:creationId xmlns:a16="http://schemas.microsoft.com/office/drawing/2014/main" id="{B160025D-E734-3AD3-4E63-FA402DD29477}"/>
              </a:ext>
            </a:extLst>
          </p:cNvPr>
          <p:cNvSpPr/>
          <p:nvPr/>
        </p:nvSpPr>
        <p:spPr>
          <a:xfrm>
            <a:off x="736178" y="1826344"/>
            <a:ext cx="2573796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rPr lang="en-US" sz="1620" b="1" kern="0" spc="-40" dirty="0">
                <a:solidFill>
                  <a:srgbClr val="F2F5F2"/>
                </a:solidFill>
                <a:latin typeface="Times New Roman" panose="02020603050405020304" pitchFamily="18" charset="0"/>
                <a:ea typeface="IBM Plex Sans" pitchFamily="34" charset="-122"/>
                <a:cs typeface="Times New Roman" panose="02020603050405020304" pitchFamily="18" charset="0"/>
              </a:rPr>
              <a:t>Grid Operations</a:t>
            </a:r>
            <a:endParaRPr lang="en-US" sz="162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1" name="Shape 11">
            <a:extLst>
              <a:ext uri="{FF2B5EF4-FFF2-40B4-BE49-F238E27FC236}">
                <a16:creationId xmlns:a16="http://schemas.microsoft.com/office/drawing/2014/main" id="{EECE828A-C8F2-AA12-C563-8F2BE43AA1A4}"/>
              </a:ext>
            </a:extLst>
          </p:cNvPr>
          <p:cNvSpPr/>
          <p:nvPr/>
        </p:nvSpPr>
        <p:spPr>
          <a:xfrm>
            <a:off x="549511" y="2260104"/>
            <a:ext cx="5210175" cy="1133475"/>
          </a:xfrm>
          <a:prstGeom prst="rect">
            <a:avLst/>
          </a:prstGeom>
          <a:solidFill>
            <a:srgbClr val="142539">
              <a:alpha val="80000"/>
            </a:srgbClr>
          </a:solidFill>
          <a:ln w="4763">
            <a:solidFill>
              <a:srgbClr val="2C435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3" name="Text 12">
            <a:extLst>
              <a:ext uri="{FF2B5EF4-FFF2-40B4-BE49-F238E27FC236}">
                <a16:creationId xmlns:a16="http://schemas.microsoft.com/office/drawing/2014/main" id="{0713D277-271E-2B26-11A7-E20FB5E37995}"/>
              </a:ext>
            </a:extLst>
          </p:cNvPr>
          <p:cNvSpPr/>
          <p:nvPr/>
        </p:nvSpPr>
        <p:spPr>
          <a:xfrm>
            <a:off x="736178" y="2367409"/>
            <a:ext cx="1238324" cy="1809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spcAft>
                <a:spcPts val="324"/>
              </a:spcAft>
              <a:buNone/>
            </a:pPr>
            <a:r>
              <a:rPr lang="en-US" sz="1080" b="1" kern="0" spc="173" dirty="0">
                <a:solidFill>
                  <a:srgbClr val="7BB8C5"/>
                </a:solidFill>
                <a:latin typeface="Times New Roman" panose="02020603050405020304" pitchFamily="18" charset="0"/>
                <a:ea typeface="IBM Plex Sans" pitchFamily="34" charset="-122"/>
                <a:cs typeface="Times New Roman" panose="02020603050405020304" pitchFamily="18" charset="0"/>
              </a:rPr>
              <a:t>PROJECT 2</a:t>
            </a:r>
            <a:endParaRPr lang="en-US" sz="108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5" name="Text 13">
            <a:extLst>
              <a:ext uri="{FF2B5EF4-FFF2-40B4-BE49-F238E27FC236}">
                <a16:creationId xmlns:a16="http://schemas.microsoft.com/office/drawing/2014/main" id="{D330AD7C-F4E6-7C4E-2147-2B3A081245D0}"/>
              </a:ext>
            </a:extLst>
          </p:cNvPr>
          <p:cNvSpPr/>
          <p:nvPr/>
        </p:nvSpPr>
        <p:spPr>
          <a:xfrm>
            <a:off x="736178" y="2585591"/>
            <a:ext cx="5219201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rPr lang="en-US" sz="1620" b="1" kern="0" spc="-40" dirty="0">
                <a:solidFill>
                  <a:srgbClr val="F2F5F2"/>
                </a:solidFill>
                <a:latin typeface="Times New Roman" panose="02020603050405020304" pitchFamily="18" charset="0"/>
                <a:ea typeface="IBM Plex Sans" pitchFamily="34" charset="-122"/>
                <a:cs typeface="Times New Roman" panose="02020603050405020304" pitchFamily="18" charset="0"/>
              </a:rPr>
              <a:t>An Agentic AI Framework for Continuous</a:t>
            </a:r>
            <a:endParaRPr lang="en-US" sz="162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7" name="Text 14">
            <a:extLst>
              <a:ext uri="{FF2B5EF4-FFF2-40B4-BE49-F238E27FC236}">
                <a16:creationId xmlns:a16="http://schemas.microsoft.com/office/drawing/2014/main" id="{170A4D45-8947-455A-5071-C240E47E9AF9}"/>
              </a:ext>
            </a:extLst>
          </p:cNvPr>
          <p:cNvSpPr/>
          <p:nvPr/>
        </p:nvSpPr>
        <p:spPr>
          <a:xfrm>
            <a:off x="736178" y="2815977"/>
            <a:ext cx="5949866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rPr lang="en-US" sz="1620" b="1" kern="0" spc="-40" dirty="0">
                <a:solidFill>
                  <a:srgbClr val="F2F5F2"/>
                </a:solidFill>
                <a:latin typeface="Times New Roman" panose="02020603050405020304" pitchFamily="18" charset="0"/>
                <a:ea typeface="IBM Plex Sans" pitchFamily="34" charset="-122"/>
                <a:cs typeface="Times New Roman" panose="02020603050405020304" pitchFamily="18" charset="0"/>
              </a:rPr>
              <a:t>Cross-Domain Urban Infrastructure Monitoring,</a:t>
            </a:r>
            <a:endParaRPr lang="en-US" sz="162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9" name="Text 15">
            <a:extLst>
              <a:ext uri="{FF2B5EF4-FFF2-40B4-BE49-F238E27FC236}">
                <a16:creationId xmlns:a16="http://schemas.microsoft.com/office/drawing/2014/main" id="{EAF165CC-90AB-7D02-4FC2-7572B1655F33}"/>
              </a:ext>
            </a:extLst>
          </p:cNvPr>
          <p:cNvSpPr/>
          <p:nvPr/>
        </p:nvSpPr>
        <p:spPr>
          <a:xfrm>
            <a:off x="736178" y="3046363"/>
            <a:ext cx="1914622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rPr lang="en-US" sz="1620" b="1" kern="0" spc="-40" dirty="0">
                <a:solidFill>
                  <a:srgbClr val="F2F5F2"/>
                </a:solidFill>
                <a:latin typeface="Times New Roman" panose="02020603050405020304" pitchFamily="18" charset="0"/>
                <a:ea typeface="IBM Plex Sans" pitchFamily="34" charset="-122"/>
                <a:cs typeface="Times New Roman" panose="02020603050405020304" pitchFamily="18" charset="0"/>
              </a:rPr>
              <a:t>Grid Operations</a:t>
            </a:r>
            <a:endParaRPr lang="en-US" sz="162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1" name="Shape 16">
            <a:extLst>
              <a:ext uri="{FF2B5EF4-FFF2-40B4-BE49-F238E27FC236}">
                <a16:creationId xmlns:a16="http://schemas.microsoft.com/office/drawing/2014/main" id="{6B4B05B0-2A43-9897-0CB2-EA047ABD8C53}"/>
              </a:ext>
            </a:extLst>
          </p:cNvPr>
          <p:cNvSpPr/>
          <p:nvPr/>
        </p:nvSpPr>
        <p:spPr>
          <a:xfrm>
            <a:off x="549511" y="3416722"/>
            <a:ext cx="5210175" cy="1204913"/>
          </a:xfrm>
          <a:prstGeom prst="rect">
            <a:avLst/>
          </a:prstGeom>
          <a:ln/>
        </p:spPr>
        <p:txBody>
          <a:bodyPr/>
          <a:lstStyle/>
          <a:p>
            <a:endParaRPr lang="en-IN"/>
          </a:p>
        </p:txBody>
      </p:sp>
      <p:sp>
        <p:nvSpPr>
          <p:cNvPr id="123" name="Text 17">
            <a:extLst>
              <a:ext uri="{FF2B5EF4-FFF2-40B4-BE49-F238E27FC236}">
                <a16:creationId xmlns:a16="http://schemas.microsoft.com/office/drawing/2014/main" id="{7D131E64-2F79-7FD9-E2D8-3DE96374A742}"/>
              </a:ext>
            </a:extLst>
          </p:cNvPr>
          <p:cNvSpPr/>
          <p:nvPr/>
        </p:nvSpPr>
        <p:spPr>
          <a:xfrm>
            <a:off x="548580" y="3533105"/>
            <a:ext cx="1502517" cy="1619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70" kern="0" spc="136" dirty="0">
                <a:solidFill>
                  <a:srgbClr val="9AABBB"/>
                </a:solidFill>
                <a:latin typeface="Times New Roman" panose="02020603050405020304" pitchFamily="18" charset="0"/>
                <a:ea typeface="IBM Plex Sans" pitchFamily="34" charset="-122"/>
                <a:cs typeface="Times New Roman" panose="02020603050405020304" pitchFamily="18" charset="0"/>
              </a:rPr>
              <a:t>STUDENT NAME</a:t>
            </a:r>
            <a:endParaRPr lang="en-US" sz="97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5" name="Text 18">
            <a:extLst>
              <a:ext uri="{FF2B5EF4-FFF2-40B4-BE49-F238E27FC236}">
                <a16:creationId xmlns:a16="http://schemas.microsoft.com/office/drawing/2014/main" id="{D40E799D-F8C0-939E-9DEA-05AD331297F7}"/>
              </a:ext>
            </a:extLst>
          </p:cNvPr>
          <p:cNvSpPr/>
          <p:nvPr/>
        </p:nvSpPr>
        <p:spPr>
          <a:xfrm>
            <a:off x="548580" y="3743920"/>
            <a:ext cx="1306041" cy="18573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spcBef>
                <a:spcPts val="203"/>
              </a:spcBef>
              <a:buNone/>
            </a:pPr>
            <a:r>
              <a:rPr lang="en-US" sz="1100" dirty="0">
                <a:solidFill>
                  <a:srgbClr val="F2F5F2"/>
                </a:solidFill>
                <a:latin typeface="Times New Roman" panose="02020603050405020304" pitchFamily="18" charset="0"/>
                <a:ea typeface="IBM Plex Sans" pitchFamily="34" charset="-122"/>
                <a:cs typeface="Times New Roman" panose="02020603050405020304" pitchFamily="18" charset="0"/>
              </a:rPr>
              <a:t>Sanika Yashwant Gaikwad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7" name="Text 19">
            <a:extLst>
              <a:ext uri="{FF2B5EF4-FFF2-40B4-BE49-F238E27FC236}">
                <a16:creationId xmlns:a16="http://schemas.microsoft.com/office/drawing/2014/main" id="{944AC17E-63EE-AA6F-6F98-D09123E409E9}"/>
              </a:ext>
            </a:extLst>
          </p:cNvPr>
          <p:cNvSpPr/>
          <p:nvPr/>
        </p:nvSpPr>
        <p:spPr>
          <a:xfrm>
            <a:off x="3234542" y="3551995"/>
            <a:ext cx="2050926" cy="1619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70" kern="0" spc="136" dirty="0">
                <a:solidFill>
                  <a:srgbClr val="9AABBB"/>
                </a:solidFill>
                <a:latin typeface="Times New Roman" panose="02020603050405020304" pitchFamily="18" charset="0"/>
                <a:ea typeface="IBM Plex Sans" pitchFamily="34" charset="-122"/>
                <a:cs typeface="Times New Roman" panose="02020603050405020304" pitchFamily="18" charset="0"/>
              </a:rPr>
              <a:t>REGISTER NO.</a:t>
            </a:r>
            <a:endParaRPr lang="en-US" sz="97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9" name="Text 20">
            <a:extLst>
              <a:ext uri="{FF2B5EF4-FFF2-40B4-BE49-F238E27FC236}">
                <a16:creationId xmlns:a16="http://schemas.microsoft.com/office/drawing/2014/main" id="{EF87ACC0-D4E0-B33A-3889-49756B6CBD5C}"/>
              </a:ext>
            </a:extLst>
          </p:cNvPr>
          <p:cNvSpPr/>
          <p:nvPr/>
        </p:nvSpPr>
        <p:spPr>
          <a:xfrm>
            <a:off x="3264992" y="3732996"/>
            <a:ext cx="1306041" cy="18573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spcBef>
                <a:spcPts val="203"/>
              </a:spcBef>
              <a:buNone/>
            </a:pPr>
            <a:r>
              <a:rPr lang="en-US" sz="1120" dirty="0">
                <a:solidFill>
                  <a:srgbClr val="F2F5F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25MML1004</a:t>
            </a:r>
            <a:endParaRPr lang="en-US" sz="112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1" name="Text 21">
            <a:extLst>
              <a:ext uri="{FF2B5EF4-FFF2-40B4-BE49-F238E27FC236}">
                <a16:creationId xmlns:a16="http://schemas.microsoft.com/office/drawing/2014/main" id="{3456C275-68D4-1E16-4F43-2345722520C7}"/>
              </a:ext>
            </a:extLst>
          </p:cNvPr>
          <p:cNvSpPr/>
          <p:nvPr/>
        </p:nvSpPr>
        <p:spPr>
          <a:xfrm>
            <a:off x="2270435" y="4182193"/>
            <a:ext cx="1295207" cy="2108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58"/>
              </a:lnSpc>
              <a:buNone/>
            </a:pPr>
            <a:r>
              <a:rPr lang="en-US" sz="970" kern="0" spc="136" dirty="0">
                <a:solidFill>
                  <a:srgbClr val="9AABBB"/>
                </a:solidFill>
                <a:latin typeface="Times New Roman" panose="02020603050405020304" pitchFamily="18" charset="0"/>
                <a:ea typeface="IBM Plex Sans" pitchFamily="34" charset="-122"/>
                <a:cs typeface="Times New Roman" panose="02020603050405020304" pitchFamily="18" charset="0"/>
              </a:rPr>
              <a:t>PROGRAM </a:t>
            </a:r>
            <a:endParaRPr lang="en-US" sz="97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3" name="Text 22">
            <a:extLst>
              <a:ext uri="{FF2B5EF4-FFF2-40B4-BE49-F238E27FC236}">
                <a16:creationId xmlns:a16="http://schemas.microsoft.com/office/drawing/2014/main" id="{E699C788-B178-3B7D-9D7E-71B37070BE9D}"/>
              </a:ext>
            </a:extLst>
          </p:cNvPr>
          <p:cNvSpPr/>
          <p:nvPr/>
        </p:nvSpPr>
        <p:spPr>
          <a:xfrm>
            <a:off x="2259601" y="4416821"/>
            <a:ext cx="1306041" cy="18573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spcBef>
                <a:spcPts val="203"/>
              </a:spcBef>
              <a:buNone/>
            </a:pPr>
            <a:r>
              <a:rPr lang="en-US" sz="1120" dirty="0">
                <a:solidFill>
                  <a:srgbClr val="F2F5F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MTech AIML</a:t>
            </a:r>
            <a:endParaRPr lang="en-US" sz="112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5" name="Text 23">
            <a:extLst>
              <a:ext uri="{FF2B5EF4-FFF2-40B4-BE49-F238E27FC236}">
                <a16:creationId xmlns:a16="http://schemas.microsoft.com/office/drawing/2014/main" id="{2A29B569-0CCD-E5F7-B672-8D98A9C4B292}"/>
              </a:ext>
            </a:extLst>
          </p:cNvPr>
          <p:cNvSpPr/>
          <p:nvPr/>
        </p:nvSpPr>
        <p:spPr>
          <a:xfrm>
            <a:off x="548580" y="4208487"/>
            <a:ext cx="1308847" cy="1619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70" kern="0" spc="136" dirty="0">
                <a:solidFill>
                  <a:srgbClr val="9AABBB"/>
                </a:solidFill>
                <a:latin typeface="Times New Roman" panose="02020603050405020304" pitchFamily="18" charset="0"/>
                <a:ea typeface="IBM Plex Sans" pitchFamily="34" charset="-122"/>
                <a:cs typeface="Times New Roman" panose="02020603050405020304" pitchFamily="18" charset="0"/>
              </a:rPr>
              <a:t>INSTITUTION</a:t>
            </a:r>
            <a:endParaRPr lang="en-US" sz="97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7" name="Text 24">
            <a:extLst>
              <a:ext uri="{FF2B5EF4-FFF2-40B4-BE49-F238E27FC236}">
                <a16:creationId xmlns:a16="http://schemas.microsoft.com/office/drawing/2014/main" id="{D714B89C-8987-E200-E957-FB88C49D5D70}"/>
              </a:ext>
            </a:extLst>
          </p:cNvPr>
          <p:cNvSpPr/>
          <p:nvPr/>
        </p:nvSpPr>
        <p:spPr>
          <a:xfrm>
            <a:off x="548580" y="4419302"/>
            <a:ext cx="1306041" cy="18573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spcBef>
                <a:spcPts val="203"/>
              </a:spcBef>
              <a:buNone/>
            </a:pPr>
            <a:r>
              <a:rPr lang="en-US" sz="1120" dirty="0">
                <a:solidFill>
                  <a:srgbClr val="F2F5F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VIT Chennai</a:t>
            </a:r>
            <a:endParaRPr lang="en-US" sz="112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3" name="Text 27">
            <a:extLst>
              <a:ext uri="{FF2B5EF4-FFF2-40B4-BE49-F238E27FC236}">
                <a16:creationId xmlns:a16="http://schemas.microsoft.com/office/drawing/2014/main" id="{1C541AB1-CC88-0CEF-B31E-175F3403D05F}"/>
              </a:ext>
            </a:extLst>
          </p:cNvPr>
          <p:cNvSpPr/>
          <p:nvPr/>
        </p:nvSpPr>
        <p:spPr>
          <a:xfrm>
            <a:off x="4157365" y="4208487"/>
            <a:ext cx="530394" cy="1619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70" kern="0" spc="136" dirty="0">
                <a:solidFill>
                  <a:srgbClr val="9AABBB"/>
                </a:solidFill>
                <a:latin typeface="Times New Roman" panose="02020603050405020304" pitchFamily="18" charset="0"/>
                <a:ea typeface="IBM Plex Sans" pitchFamily="34" charset="-122"/>
                <a:cs typeface="Times New Roman" panose="02020603050405020304" pitchFamily="18" charset="0"/>
              </a:rPr>
              <a:t>DATE</a:t>
            </a:r>
            <a:endParaRPr lang="en-US" sz="97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5" name="Text 28">
            <a:extLst>
              <a:ext uri="{FF2B5EF4-FFF2-40B4-BE49-F238E27FC236}">
                <a16:creationId xmlns:a16="http://schemas.microsoft.com/office/drawing/2014/main" id="{A0EF542B-29BB-54FB-36AD-CBD224930599}"/>
              </a:ext>
            </a:extLst>
          </p:cNvPr>
          <p:cNvSpPr/>
          <p:nvPr/>
        </p:nvSpPr>
        <p:spPr>
          <a:xfrm>
            <a:off x="4157365" y="4419302"/>
            <a:ext cx="1306041" cy="18573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spcBef>
                <a:spcPts val="203"/>
              </a:spcBef>
              <a:buNone/>
            </a:pPr>
            <a:r>
              <a:rPr lang="en-US" sz="1120" dirty="0">
                <a:solidFill>
                  <a:srgbClr val="F2F5F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28 Aug 2026</a:t>
            </a:r>
            <a:endParaRPr lang="en-US" sz="112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7" name="Shape 29">
            <a:extLst>
              <a:ext uri="{FF2B5EF4-FFF2-40B4-BE49-F238E27FC236}">
                <a16:creationId xmlns:a16="http://schemas.microsoft.com/office/drawing/2014/main" id="{4546F3E9-3AF4-4BDE-210F-927CBF3BD345}"/>
              </a:ext>
            </a:extLst>
          </p:cNvPr>
          <p:cNvSpPr/>
          <p:nvPr/>
        </p:nvSpPr>
        <p:spPr>
          <a:xfrm>
            <a:off x="6127403" y="769590"/>
            <a:ext cx="2466975" cy="3852862"/>
          </a:xfrm>
          <a:prstGeom prst="rect">
            <a:avLst/>
          </a:prstGeom>
          <a:solidFill>
            <a:srgbClr val="101D30"/>
          </a:solidFill>
          <a:ln w="4763">
            <a:solidFill>
              <a:srgbClr val="2C435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149" name="Image 1" descr="preencoded.png">
            <a:extLst>
              <a:ext uri="{FF2B5EF4-FFF2-40B4-BE49-F238E27FC236}">
                <a16:creationId xmlns:a16="http://schemas.microsoft.com/office/drawing/2014/main" id="{40980D5A-1BDC-C977-773A-C7033F0DD196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80000"/>
          </a:blip>
          <a:stretch>
            <a:fillRect/>
          </a:stretch>
        </p:blipFill>
        <p:spPr>
          <a:xfrm>
            <a:off x="6222653" y="864840"/>
            <a:ext cx="2276475" cy="3662362"/>
          </a:xfrm>
          <a:prstGeom prst="rect">
            <a:avLst/>
          </a:prstGeom>
        </p:spPr>
      </p:pic>
      <p:pic>
        <p:nvPicPr>
          <p:cNvPr id="151" name="Image 2" descr="preencoded.png">
            <a:extLst>
              <a:ext uri="{FF2B5EF4-FFF2-40B4-BE49-F238E27FC236}">
                <a16:creationId xmlns:a16="http://schemas.microsoft.com/office/drawing/2014/main" id="{EA5CB605-F137-7EAA-F8D3-56B545AECF9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22653" y="864840"/>
            <a:ext cx="2276475" cy="3662362"/>
          </a:xfrm>
          <a:prstGeom prst="rect">
            <a:avLst/>
          </a:prstGeom>
        </p:spPr>
      </p:pic>
      <p:sp>
        <p:nvSpPr>
          <p:cNvPr id="153" name="Text 30">
            <a:extLst>
              <a:ext uri="{FF2B5EF4-FFF2-40B4-BE49-F238E27FC236}">
                <a16:creationId xmlns:a16="http://schemas.microsoft.com/office/drawing/2014/main" id="{7AF2A8CB-C4EB-6D75-1F1B-3E33664D8443}"/>
              </a:ext>
            </a:extLst>
          </p:cNvPr>
          <p:cNvSpPr/>
          <p:nvPr/>
        </p:nvSpPr>
        <p:spPr>
          <a:xfrm>
            <a:off x="6313959" y="4087192"/>
            <a:ext cx="2060890" cy="3866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20"/>
              </a:lnSpc>
              <a:buNone/>
            </a:pPr>
            <a:r>
              <a:rPr lang="en-US" sz="1080" b="1" kern="0" spc="162" dirty="0">
                <a:solidFill>
                  <a:srgbClr val="F2F5F2"/>
                </a:solidFill>
                <a:latin typeface="Times New Roman" panose="02020603050405020304" pitchFamily="18" charset="0"/>
                <a:ea typeface="IBM Plex Sans" pitchFamily="34" charset="-122"/>
                <a:cs typeface="Times New Roman" panose="02020603050405020304" pitchFamily="18" charset="0"/>
              </a:rPr>
              <a:t>URBAN SYSTEMS /</a:t>
            </a:r>
            <a:endParaRPr lang="en-US" sz="108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l">
              <a:lnSpc>
                <a:spcPts val="1620"/>
              </a:lnSpc>
              <a:buNone/>
            </a:pPr>
            <a:r>
              <a:rPr lang="en-US" sz="1080" b="1" kern="0" spc="162" dirty="0">
                <a:solidFill>
                  <a:srgbClr val="F2F5F2"/>
                </a:solidFill>
                <a:latin typeface="Times New Roman" panose="02020603050405020304" pitchFamily="18" charset="0"/>
                <a:ea typeface="IBM Plex Sans" pitchFamily="34" charset="-122"/>
                <a:cs typeface="Times New Roman" panose="02020603050405020304" pitchFamily="18" charset="0"/>
              </a:rPr>
              <a:t>GRID OPERATIONS</a:t>
            </a:r>
            <a:endParaRPr lang="en-US" sz="108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5" name="Shape 31">
            <a:extLst>
              <a:ext uri="{FF2B5EF4-FFF2-40B4-BE49-F238E27FC236}">
                <a16:creationId xmlns:a16="http://schemas.microsoft.com/office/drawing/2014/main" id="{DC552625-3437-FCB9-C528-11CA884A7D68}"/>
              </a:ext>
            </a:extLst>
          </p:cNvPr>
          <p:cNvSpPr/>
          <p:nvPr/>
        </p:nvSpPr>
        <p:spPr>
          <a:xfrm>
            <a:off x="8260296" y="4260428"/>
            <a:ext cx="147637" cy="228600"/>
          </a:xfrm>
          <a:prstGeom prst="rect">
            <a:avLst/>
          </a:prstGeom>
          <a:ln w="4763">
            <a:solidFill>
              <a:srgbClr val="7BB8C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161" name="Image 3" descr="preencoded.png">
            <a:extLst>
              <a:ext uri="{FF2B5EF4-FFF2-40B4-BE49-F238E27FC236}">
                <a16:creationId xmlns:a16="http://schemas.microsoft.com/office/drawing/2014/main" id="{C718A750-42E7-5CAD-0C8C-944B3138A8A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49511" y="3416722"/>
            <a:ext cx="5210175" cy="12049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692589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464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446" y="-1079"/>
            <a:ext cx="1919287" cy="38100"/>
          </a:xfrm>
          <a:prstGeom prst="rect">
            <a:avLst/>
          </a:prstGeom>
          <a:solidFill>
            <a:srgbClr val="7BB8C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Shape 1"/>
          <p:cNvSpPr/>
          <p:nvPr/>
        </p:nvSpPr>
        <p:spPr>
          <a:xfrm>
            <a:off x="511969" y="215131"/>
            <a:ext cx="8120062" cy="1281112"/>
          </a:xfrm>
          <a:prstGeom prst="rect">
            <a:avLst/>
          </a:prstGeom>
          <a:ln/>
        </p:spPr>
        <p:txBody>
          <a:bodyPr/>
          <a:lstStyle/>
          <a:p>
            <a:endParaRPr lang="en-IN"/>
          </a:p>
        </p:txBody>
      </p:sp>
      <p:sp>
        <p:nvSpPr>
          <p:cNvPr id="6" name="Text 3"/>
          <p:cNvSpPr/>
          <p:nvPr/>
        </p:nvSpPr>
        <p:spPr>
          <a:xfrm>
            <a:off x="492985" y="100075"/>
            <a:ext cx="7815754" cy="4048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rPr lang="en-US" sz="2200" b="1" kern="0" spc="-86" dirty="0">
                <a:solidFill>
                  <a:srgbClr val="F2F5F2"/>
                </a:solidFill>
                <a:latin typeface="Times New Roman" panose="02020603050405020304" pitchFamily="18" charset="0"/>
                <a:ea typeface="IBM Plex Sans" pitchFamily="34" charset="-122"/>
                <a:cs typeface="Times New Roman" panose="02020603050405020304" pitchFamily="18" charset="0"/>
              </a:rPr>
              <a:t>Project 1 - </a:t>
            </a:r>
            <a:r>
              <a:rPr lang="en-US" sz="2200" b="1" kern="0" spc="-86" dirty="0" err="1">
                <a:solidFill>
                  <a:srgbClr val="F2F5F2"/>
                </a:solidFill>
                <a:latin typeface="Times New Roman" panose="02020603050405020304" pitchFamily="18" charset="0"/>
                <a:ea typeface="IBM Plex Sans" pitchFamily="34" charset="-122"/>
                <a:cs typeface="Times New Roman" panose="02020603050405020304" pitchFamily="18" charset="0"/>
              </a:rPr>
              <a:t>GridRCA</a:t>
            </a:r>
            <a:r>
              <a:rPr lang="en-US" sz="2200" b="1" kern="0" spc="-86" dirty="0">
                <a:solidFill>
                  <a:srgbClr val="F2F5F2"/>
                </a:solidFill>
                <a:latin typeface="Times New Roman" panose="02020603050405020304" pitchFamily="18" charset="0"/>
                <a:ea typeface="IBM Plex Sans" pitchFamily="34" charset="-122"/>
                <a:cs typeface="Times New Roman" panose="02020603050405020304" pitchFamily="18" charset="0"/>
              </a:rPr>
              <a:t>: Power Grid Root-Cause Investigation</a:t>
            </a: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 4"/>
          <p:cNvSpPr/>
          <p:nvPr/>
        </p:nvSpPr>
        <p:spPr>
          <a:xfrm>
            <a:off x="512043" y="757758"/>
            <a:ext cx="2344140" cy="4048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endParaRPr lang="en-US" sz="24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Shape 7"/>
          <p:cNvSpPr/>
          <p:nvPr/>
        </p:nvSpPr>
        <p:spPr>
          <a:xfrm>
            <a:off x="474293" y="622229"/>
            <a:ext cx="2843712" cy="2823604"/>
          </a:xfrm>
          <a:prstGeom prst="rect">
            <a:avLst/>
          </a:prstGeom>
          <a:solidFill>
            <a:srgbClr val="14253A">
              <a:alpha val="70196"/>
            </a:srgbClr>
          </a:solidFill>
          <a:ln w="4763">
            <a:solidFill>
              <a:srgbClr val="2C4358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11" name="Shape 8"/>
          <p:cNvSpPr/>
          <p:nvPr/>
        </p:nvSpPr>
        <p:spPr>
          <a:xfrm>
            <a:off x="533412" y="751463"/>
            <a:ext cx="42863" cy="42863"/>
          </a:xfrm>
          <a:prstGeom prst="rect">
            <a:avLst/>
          </a:prstGeom>
          <a:solidFill>
            <a:srgbClr val="7BB8C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" name="Text 9"/>
          <p:cNvSpPr/>
          <p:nvPr/>
        </p:nvSpPr>
        <p:spPr>
          <a:xfrm>
            <a:off x="640582" y="687459"/>
            <a:ext cx="2405859" cy="1809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spcAft>
                <a:spcPts val="527"/>
              </a:spcAft>
              <a:buNone/>
            </a:pPr>
            <a:r>
              <a:rPr lang="en-US" sz="1080" b="1" kern="0" spc="173" dirty="0">
                <a:solidFill>
                  <a:srgbClr val="7BB8C5"/>
                </a:solidFill>
                <a:latin typeface="Times New Roman" panose="02020603050405020304" pitchFamily="18" charset="0"/>
                <a:ea typeface="IBM Plex Sans" pitchFamily="34" charset="-122"/>
                <a:cs typeface="Times New Roman" panose="02020603050405020304" pitchFamily="18" charset="0"/>
              </a:rPr>
              <a:t>PROBLEM STATEMENT</a:t>
            </a:r>
            <a:endParaRPr lang="en-US" sz="108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 10"/>
          <p:cNvSpPr/>
          <p:nvPr/>
        </p:nvSpPr>
        <p:spPr>
          <a:xfrm>
            <a:off x="639626" y="987996"/>
            <a:ext cx="2967521" cy="5875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45"/>
              </a:lnSpc>
              <a:buNone/>
            </a:pPr>
            <a:r>
              <a:rPr lang="en-US" sz="1190" dirty="0">
                <a:solidFill>
                  <a:srgbClr val="F2F5F2"/>
                </a:solidFill>
                <a:latin typeface="Times New Roman" panose="02020603050405020304" pitchFamily="18" charset="0"/>
                <a:ea typeface="IBM Plex Sans" pitchFamily="34" charset="-122"/>
                <a:cs typeface="Times New Roman" panose="02020603050405020304" pitchFamily="18" charset="0"/>
              </a:rPr>
              <a:t>Power grids generate operational</a:t>
            </a:r>
            <a:endParaRPr lang="en-US" sz="119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l">
              <a:lnSpc>
                <a:spcPts val="1545"/>
              </a:lnSpc>
              <a:buNone/>
            </a:pPr>
            <a:r>
              <a:rPr lang="en-US" sz="1190" dirty="0">
                <a:solidFill>
                  <a:srgbClr val="F2F5F2"/>
                </a:solidFill>
                <a:latin typeface="Times New Roman" panose="02020603050405020304" pitchFamily="18" charset="0"/>
                <a:ea typeface="IBM Plex Sans" pitchFamily="34" charset="-122"/>
                <a:cs typeface="Times New Roman" panose="02020603050405020304" pitchFamily="18" charset="0"/>
              </a:rPr>
              <a:t>data and alarms from multiple</a:t>
            </a:r>
            <a:r>
              <a:rPr lang="en-US" sz="119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190" dirty="0">
                <a:solidFill>
                  <a:srgbClr val="F2F5F2"/>
                </a:solidFill>
                <a:latin typeface="Times New Roman" panose="02020603050405020304" pitchFamily="18" charset="0"/>
                <a:ea typeface="IBM Plex Sans" pitchFamily="34" charset="-122"/>
                <a:cs typeface="Times New Roman" panose="02020603050405020304" pitchFamily="18" charset="0"/>
              </a:rPr>
              <a:t>sources.</a:t>
            </a:r>
            <a:endParaRPr lang="en-US" sz="119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Text 11"/>
          <p:cNvSpPr/>
          <p:nvPr/>
        </p:nvSpPr>
        <p:spPr>
          <a:xfrm>
            <a:off x="759619" y="1420658"/>
            <a:ext cx="3058358" cy="13721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just">
              <a:lnSpc>
                <a:spcPts val="1545"/>
              </a:lnSpc>
              <a:buNone/>
            </a:pPr>
            <a:r>
              <a:rPr lang="en-US" sz="1190" dirty="0">
                <a:solidFill>
                  <a:srgbClr val="F2F5F2"/>
                </a:solidFill>
                <a:latin typeface="Times New Roman" panose="02020603050405020304" pitchFamily="18" charset="0"/>
                <a:ea typeface="IBM Plex Sans" pitchFamily="34" charset="-122"/>
                <a:cs typeface="Times New Roman" panose="02020603050405020304" pitchFamily="18" charset="0"/>
              </a:rPr>
              <a:t>An alarm can indicate what</a:t>
            </a:r>
            <a:endParaRPr lang="en-US" sz="119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lnSpc>
                <a:spcPts val="1545"/>
              </a:lnSpc>
              <a:buNone/>
            </a:pPr>
            <a:r>
              <a:rPr lang="en-US" sz="1190" dirty="0">
                <a:solidFill>
                  <a:srgbClr val="F2F5F2"/>
                </a:solidFill>
                <a:latin typeface="Times New Roman" panose="02020603050405020304" pitchFamily="18" charset="0"/>
                <a:ea typeface="IBM Plex Sans" pitchFamily="34" charset="-122"/>
                <a:cs typeface="Times New Roman" panose="02020603050405020304" pitchFamily="18" charset="0"/>
              </a:rPr>
              <a:t>happened, but understanding why</a:t>
            </a:r>
            <a:endParaRPr lang="en-US" sz="119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lnSpc>
                <a:spcPts val="1545"/>
              </a:lnSpc>
              <a:buNone/>
            </a:pPr>
            <a:r>
              <a:rPr lang="en-US" sz="1190" dirty="0">
                <a:solidFill>
                  <a:srgbClr val="F2F5F2"/>
                </a:solidFill>
                <a:latin typeface="Times New Roman" panose="02020603050405020304" pitchFamily="18" charset="0"/>
                <a:ea typeface="IBM Plex Sans" pitchFamily="34" charset="-122"/>
                <a:cs typeface="Times New Roman" panose="02020603050405020304" pitchFamily="18" charset="0"/>
              </a:rPr>
              <a:t>it happened requires connecting</a:t>
            </a:r>
            <a:endParaRPr lang="en-US" sz="119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lnSpc>
                <a:spcPts val="1545"/>
              </a:lnSpc>
              <a:buNone/>
            </a:pPr>
            <a:r>
              <a:rPr lang="en-US" sz="1190" dirty="0">
                <a:solidFill>
                  <a:srgbClr val="F2F5F2"/>
                </a:solidFill>
                <a:latin typeface="Times New Roman" panose="02020603050405020304" pitchFamily="18" charset="0"/>
                <a:ea typeface="IBM Plex Sans" pitchFamily="34" charset="-122"/>
                <a:cs typeface="Times New Roman" panose="02020603050405020304" pitchFamily="18" charset="0"/>
              </a:rPr>
              <a:t>information across telemetry,</a:t>
            </a:r>
            <a:endParaRPr lang="en-US" sz="119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lnSpc>
                <a:spcPts val="1545"/>
              </a:lnSpc>
              <a:buNone/>
            </a:pPr>
            <a:r>
              <a:rPr lang="en-US" sz="1190" dirty="0">
                <a:solidFill>
                  <a:srgbClr val="F2F5F2"/>
                </a:solidFill>
                <a:latin typeface="Times New Roman" panose="02020603050405020304" pitchFamily="18" charset="0"/>
                <a:ea typeface="IBM Plex Sans" pitchFamily="34" charset="-122"/>
                <a:cs typeface="Times New Roman" panose="02020603050405020304" pitchFamily="18" charset="0"/>
              </a:rPr>
              <a:t>equipment history, maintenance,</a:t>
            </a:r>
            <a:endParaRPr lang="en-US" sz="119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lnSpc>
                <a:spcPts val="1545"/>
              </a:lnSpc>
              <a:buNone/>
            </a:pPr>
            <a:r>
              <a:rPr lang="en-US" sz="1190" dirty="0">
                <a:solidFill>
                  <a:srgbClr val="F2F5F2"/>
                </a:solidFill>
                <a:latin typeface="Times New Roman" panose="02020603050405020304" pitchFamily="18" charset="0"/>
                <a:ea typeface="IBM Plex Sans" pitchFamily="34" charset="-122"/>
                <a:cs typeface="Times New Roman" panose="02020603050405020304" pitchFamily="18" charset="0"/>
              </a:rPr>
              <a:t>grid relationships and technical</a:t>
            </a:r>
            <a:endParaRPr lang="en-US" sz="119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lnSpc>
                <a:spcPts val="1545"/>
              </a:lnSpc>
              <a:buNone/>
            </a:pPr>
            <a:r>
              <a:rPr lang="en-US" sz="1190" dirty="0">
                <a:solidFill>
                  <a:srgbClr val="F2F5F2"/>
                </a:solidFill>
                <a:latin typeface="Times New Roman" panose="02020603050405020304" pitchFamily="18" charset="0"/>
                <a:ea typeface="IBM Plex Sans" pitchFamily="34" charset="-122"/>
                <a:cs typeface="Times New Roman" panose="02020603050405020304" pitchFamily="18" charset="0"/>
              </a:rPr>
              <a:t>knowledge.</a:t>
            </a:r>
            <a:endParaRPr lang="en-US" sz="119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Text 12"/>
          <p:cNvSpPr/>
          <p:nvPr/>
        </p:nvSpPr>
        <p:spPr>
          <a:xfrm>
            <a:off x="639626" y="2795828"/>
            <a:ext cx="3056133" cy="7837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45"/>
              </a:lnSpc>
              <a:buNone/>
            </a:pPr>
            <a:r>
              <a:rPr lang="en-US" sz="1190" dirty="0">
                <a:solidFill>
                  <a:srgbClr val="9AABBB"/>
                </a:solidFill>
                <a:latin typeface="Times New Roman" panose="02020603050405020304" pitchFamily="18" charset="0"/>
                <a:ea typeface="IBM Plex Sans" pitchFamily="34" charset="-122"/>
                <a:cs typeface="Times New Roman" panose="02020603050405020304" pitchFamily="18" charset="0"/>
              </a:rPr>
              <a:t>The proposed GridRCA framework</a:t>
            </a:r>
            <a:endParaRPr lang="en-US" sz="119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l">
              <a:lnSpc>
                <a:spcPts val="1545"/>
              </a:lnSpc>
              <a:buNone/>
            </a:pPr>
            <a:r>
              <a:rPr lang="en-US" sz="1190" dirty="0">
                <a:solidFill>
                  <a:srgbClr val="9AABBB"/>
                </a:solidFill>
                <a:latin typeface="Times New Roman" panose="02020603050405020304" pitchFamily="18" charset="0"/>
                <a:ea typeface="IBM Plex Sans" pitchFamily="34" charset="-122"/>
                <a:cs typeface="Times New Roman" panose="02020603050405020304" pitchFamily="18" charset="0"/>
              </a:rPr>
              <a:t>explores the use of RAG, data</a:t>
            </a:r>
            <a:r>
              <a:rPr lang="en-US" sz="119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190" dirty="0">
                <a:solidFill>
                  <a:srgbClr val="9AABBB"/>
                </a:solidFill>
                <a:latin typeface="Times New Roman" panose="02020603050405020304" pitchFamily="18" charset="0"/>
                <a:ea typeface="IBM Plex Sans" pitchFamily="34" charset="-122"/>
                <a:cs typeface="Times New Roman" panose="02020603050405020304" pitchFamily="18" charset="0"/>
              </a:rPr>
              <a:t>lineage and </a:t>
            </a:r>
          </a:p>
          <a:p>
            <a:pPr marL="0" indent="0" algn="l">
              <a:lnSpc>
                <a:spcPts val="1545"/>
              </a:lnSpc>
              <a:buNone/>
            </a:pPr>
            <a:r>
              <a:rPr lang="en-US" sz="1190" dirty="0">
                <a:solidFill>
                  <a:srgbClr val="9AABBB"/>
                </a:solidFill>
                <a:latin typeface="Times New Roman" panose="02020603050405020304" pitchFamily="18" charset="0"/>
                <a:ea typeface="IBM Plex Sans" pitchFamily="34" charset="-122"/>
                <a:cs typeface="Times New Roman" panose="02020603050405020304" pitchFamily="18" charset="0"/>
              </a:rPr>
              <a:t>grid topology for</a:t>
            </a:r>
            <a:r>
              <a:rPr lang="en-US" sz="119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190" dirty="0">
                <a:solidFill>
                  <a:srgbClr val="9AABBB"/>
                </a:solidFill>
                <a:latin typeface="Times New Roman" panose="02020603050405020304" pitchFamily="18" charset="0"/>
                <a:ea typeface="IBM Plex Sans" pitchFamily="34" charset="-122"/>
                <a:cs typeface="Times New Roman" panose="02020603050405020304" pitchFamily="18" charset="0"/>
              </a:rPr>
              <a:t>root-cause investigation.</a:t>
            </a:r>
            <a:endParaRPr lang="en-US" sz="119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Shape 13"/>
          <p:cNvSpPr/>
          <p:nvPr/>
        </p:nvSpPr>
        <p:spPr>
          <a:xfrm>
            <a:off x="3428664" y="612763"/>
            <a:ext cx="5253037" cy="2823604"/>
          </a:xfrm>
          <a:prstGeom prst="rect">
            <a:avLst/>
          </a:prstGeom>
          <a:solidFill>
            <a:srgbClr val="14263A">
              <a:alpha val="45098"/>
            </a:srgbClr>
          </a:solidFill>
          <a:ln w="4763">
            <a:solidFill>
              <a:srgbClr val="2C435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Text 14"/>
          <p:cNvSpPr/>
          <p:nvPr/>
        </p:nvSpPr>
        <p:spPr>
          <a:xfrm>
            <a:off x="3504593" y="691369"/>
            <a:ext cx="2722193" cy="1809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80" b="1" kern="0" spc="173" dirty="0">
                <a:solidFill>
                  <a:srgbClr val="7BB8C5"/>
                </a:solidFill>
                <a:latin typeface="Times New Roman" panose="02020603050405020304" pitchFamily="18" charset="0"/>
                <a:ea typeface="IBM Plex Sans" pitchFamily="34" charset="-122"/>
                <a:cs typeface="Times New Roman" panose="02020603050405020304" pitchFamily="18" charset="0"/>
              </a:rPr>
              <a:t>TECHNICAL OBJECTIVES</a:t>
            </a:r>
            <a:endParaRPr lang="en-US" sz="108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Shape 16"/>
          <p:cNvSpPr/>
          <p:nvPr/>
        </p:nvSpPr>
        <p:spPr>
          <a:xfrm>
            <a:off x="3504593" y="930027"/>
            <a:ext cx="1185863" cy="1066353"/>
          </a:xfrm>
          <a:prstGeom prst="rect">
            <a:avLst/>
          </a:prstGeom>
          <a:solidFill>
            <a:srgbClr val="172A40"/>
          </a:solidFill>
          <a:ln w="4763">
            <a:solidFill>
              <a:srgbClr val="2C4358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20" name="Text 17"/>
          <p:cNvSpPr/>
          <p:nvPr/>
        </p:nvSpPr>
        <p:spPr>
          <a:xfrm>
            <a:off x="3572601" y="942196"/>
            <a:ext cx="1040108" cy="3866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20"/>
              </a:lnSpc>
              <a:buNone/>
            </a:pPr>
            <a:r>
              <a:rPr lang="en-US" sz="1080" b="1" dirty="0">
                <a:solidFill>
                  <a:srgbClr val="F2F5F2"/>
                </a:solidFill>
                <a:latin typeface="Times New Roman" panose="02020603050405020304" pitchFamily="18" charset="0"/>
                <a:ea typeface="IBM Plex Sans" pitchFamily="34" charset="-122"/>
                <a:cs typeface="Times New Roman" panose="02020603050405020304" pitchFamily="18" charset="0"/>
              </a:rPr>
              <a:t>Data</a:t>
            </a:r>
            <a:r>
              <a:rPr lang="en-US" sz="108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080" b="1" dirty="0">
                <a:solidFill>
                  <a:srgbClr val="F2F5F2"/>
                </a:solidFill>
                <a:latin typeface="Times New Roman" panose="02020603050405020304" pitchFamily="18" charset="0"/>
                <a:ea typeface="IBM Plex Sans" pitchFamily="34" charset="-122"/>
                <a:cs typeface="Times New Roman" panose="02020603050405020304" pitchFamily="18" charset="0"/>
              </a:rPr>
              <a:t>Engineering</a:t>
            </a:r>
            <a:endParaRPr lang="en-US" sz="108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Text 18"/>
          <p:cNvSpPr/>
          <p:nvPr/>
        </p:nvSpPr>
        <p:spPr>
          <a:xfrm>
            <a:off x="3572392" y="1151681"/>
            <a:ext cx="803292" cy="1809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spcBef>
                <a:spcPts val="243"/>
              </a:spcBef>
              <a:buNone/>
            </a:pPr>
            <a:r>
              <a:rPr lang="en-US" sz="1080" dirty="0">
                <a:solidFill>
                  <a:srgbClr val="9AABBB"/>
                </a:solidFill>
                <a:latin typeface="Times New Roman" panose="02020603050405020304" pitchFamily="18" charset="0"/>
                <a:ea typeface="IBM Plex Sans" pitchFamily="34" charset="-122"/>
                <a:cs typeface="Times New Roman" panose="02020603050405020304" pitchFamily="18" charset="0"/>
              </a:rPr>
              <a:t>Integrate</a:t>
            </a:r>
            <a:endParaRPr lang="en-US" sz="108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" name="Text 19"/>
          <p:cNvSpPr/>
          <p:nvPr/>
        </p:nvSpPr>
        <p:spPr>
          <a:xfrm>
            <a:off x="3579093" y="1294994"/>
            <a:ext cx="1258543" cy="1809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spcBef>
                <a:spcPts val="243"/>
              </a:spcBef>
              <a:buNone/>
            </a:pPr>
            <a:r>
              <a:rPr lang="en-US" sz="1080" dirty="0">
                <a:solidFill>
                  <a:srgbClr val="9AABBB"/>
                </a:solidFill>
                <a:latin typeface="Times New Roman" panose="02020603050405020304" pitchFamily="18" charset="0"/>
                <a:ea typeface="IBM Plex Sans" pitchFamily="34" charset="-122"/>
                <a:cs typeface="Times New Roman" panose="02020603050405020304" pitchFamily="18" charset="0"/>
              </a:rPr>
              <a:t>heterogeneous</a:t>
            </a:r>
            <a:endParaRPr lang="en-US" sz="108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Text 20"/>
          <p:cNvSpPr/>
          <p:nvPr/>
        </p:nvSpPr>
        <p:spPr>
          <a:xfrm>
            <a:off x="3579093" y="1430087"/>
            <a:ext cx="1312136" cy="1809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spcBef>
                <a:spcPts val="243"/>
              </a:spcBef>
              <a:buNone/>
            </a:pPr>
            <a:r>
              <a:rPr lang="en-US" sz="1080" dirty="0">
                <a:solidFill>
                  <a:srgbClr val="9AABBB"/>
                </a:solidFill>
                <a:latin typeface="Times New Roman" panose="02020603050405020304" pitchFamily="18" charset="0"/>
                <a:ea typeface="IBM Plex Sans" pitchFamily="34" charset="-122"/>
                <a:cs typeface="Times New Roman" panose="02020603050405020304" pitchFamily="18" charset="0"/>
              </a:rPr>
              <a:t>operational and</a:t>
            </a:r>
            <a:endParaRPr lang="en-US" sz="108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" name="Text 21"/>
          <p:cNvSpPr/>
          <p:nvPr/>
        </p:nvSpPr>
        <p:spPr>
          <a:xfrm>
            <a:off x="3589786" y="1611512"/>
            <a:ext cx="793715" cy="1809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spcBef>
                <a:spcPts val="243"/>
              </a:spcBef>
              <a:buNone/>
            </a:pPr>
            <a:r>
              <a:rPr lang="en-US" sz="1080" dirty="0">
                <a:solidFill>
                  <a:srgbClr val="9AABBB"/>
                </a:solidFill>
                <a:latin typeface="Times New Roman" panose="02020603050405020304" pitchFamily="18" charset="0"/>
                <a:ea typeface="IBM Plex Sans" pitchFamily="34" charset="-122"/>
                <a:cs typeface="Times New Roman" panose="02020603050405020304" pitchFamily="18" charset="0"/>
              </a:rPr>
              <a:t>historical</a:t>
            </a:r>
            <a:endParaRPr lang="en-US" sz="108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" name="Text 22"/>
          <p:cNvSpPr/>
          <p:nvPr/>
        </p:nvSpPr>
        <p:spPr>
          <a:xfrm>
            <a:off x="3602993" y="1749807"/>
            <a:ext cx="933986" cy="1809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spcBef>
                <a:spcPts val="243"/>
              </a:spcBef>
              <a:buNone/>
            </a:pPr>
            <a:r>
              <a:rPr lang="en-US" sz="1080" dirty="0">
                <a:solidFill>
                  <a:srgbClr val="9AABBB"/>
                </a:solidFill>
                <a:latin typeface="Times New Roman" panose="02020603050405020304" pitchFamily="18" charset="0"/>
                <a:ea typeface="IBM Plex Sans" pitchFamily="34" charset="-122"/>
                <a:cs typeface="Times New Roman" panose="02020603050405020304" pitchFamily="18" charset="0"/>
              </a:rPr>
              <a:t>power-grid data.</a:t>
            </a:r>
            <a:endParaRPr lang="en-US" sz="108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7" name="Shape 24"/>
          <p:cNvSpPr/>
          <p:nvPr/>
        </p:nvSpPr>
        <p:spPr>
          <a:xfrm>
            <a:off x="4786822" y="930027"/>
            <a:ext cx="1185863" cy="1066353"/>
          </a:xfrm>
          <a:prstGeom prst="rect">
            <a:avLst/>
          </a:prstGeom>
          <a:solidFill>
            <a:srgbClr val="172A40"/>
          </a:solidFill>
          <a:ln w="4763">
            <a:solidFill>
              <a:srgbClr val="2C4358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28" name="Text 25"/>
          <p:cNvSpPr/>
          <p:nvPr/>
        </p:nvSpPr>
        <p:spPr>
          <a:xfrm>
            <a:off x="4828642" y="966217"/>
            <a:ext cx="1128817" cy="1809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80" b="1" dirty="0">
                <a:solidFill>
                  <a:srgbClr val="F2F5F2"/>
                </a:solidFill>
                <a:latin typeface="Times New Roman" panose="02020603050405020304" pitchFamily="18" charset="0"/>
                <a:ea typeface="IBM Plex Sans" pitchFamily="34" charset="-122"/>
                <a:cs typeface="Times New Roman" panose="02020603050405020304" pitchFamily="18" charset="0"/>
              </a:rPr>
              <a:t>Data Lineage</a:t>
            </a:r>
            <a:endParaRPr lang="en-US" sz="108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9" name="Text 26"/>
          <p:cNvSpPr/>
          <p:nvPr/>
        </p:nvSpPr>
        <p:spPr>
          <a:xfrm>
            <a:off x="4837636" y="1156137"/>
            <a:ext cx="1290466" cy="1809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spcBef>
                <a:spcPts val="243"/>
              </a:spcBef>
              <a:buNone/>
            </a:pPr>
            <a:r>
              <a:rPr lang="en-US" sz="1080" dirty="0">
                <a:solidFill>
                  <a:srgbClr val="9AABBB"/>
                </a:solidFill>
                <a:latin typeface="Times New Roman" panose="02020603050405020304" pitchFamily="18" charset="0"/>
                <a:ea typeface="IBM Plex Sans" pitchFamily="34" charset="-122"/>
                <a:cs typeface="Times New Roman" panose="02020603050405020304" pitchFamily="18" charset="0"/>
              </a:rPr>
              <a:t>Track the origin</a:t>
            </a:r>
            <a:endParaRPr lang="en-US" sz="108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0" name="Text 27"/>
          <p:cNvSpPr/>
          <p:nvPr/>
        </p:nvSpPr>
        <p:spPr>
          <a:xfrm>
            <a:off x="4855945" y="1290978"/>
            <a:ext cx="357039" cy="1809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spcBef>
                <a:spcPts val="243"/>
              </a:spcBef>
              <a:buNone/>
            </a:pPr>
            <a:r>
              <a:rPr lang="en-US" sz="1080" dirty="0">
                <a:solidFill>
                  <a:srgbClr val="9AABBB"/>
                </a:solidFill>
                <a:latin typeface="Times New Roman" panose="02020603050405020304" pitchFamily="18" charset="0"/>
                <a:ea typeface="IBM Plex Sans" pitchFamily="34" charset="-122"/>
                <a:cs typeface="Times New Roman" panose="02020603050405020304" pitchFamily="18" charset="0"/>
              </a:rPr>
              <a:t>and</a:t>
            </a:r>
            <a:endParaRPr lang="en-US" sz="108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1" name="Text 28"/>
          <p:cNvSpPr/>
          <p:nvPr/>
        </p:nvSpPr>
        <p:spPr>
          <a:xfrm>
            <a:off x="4860380" y="1403526"/>
            <a:ext cx="1248385" cy="1809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spcBef>
                <a:spcPts val="243"/>
              </a:spcBef>
              <a:buNone/>
            </a:pPr>
            <a:r>
              <a:rPr lang="en-US" sz="1080" dirty="0">
                <a:solidFill>
                  <a:srgbClr val="9AABBB"/>
                </a:solidFill>
                <a:latin typeface="Times New Roman" panose="02020603050405020304" pitchFamily="18" charset="0"/>
                <a:ea typeface="IBM Plex Sans" pitchFamily="34" charset="-122"/>
                <a:cs typeface="Times New Roman" panose="02020603050405020304" pitchFamily="18" charset="0"/>
              </a:rPr>
              <a:t>transformation</a:t>
            </a:r>
            <a:endParaRPr lang="en-US" sz="108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2" name="Text 29"/>
          <p:cNvSpPr/>
          <p:nvPr/>
        </p:nvSpPr>
        <p:spPr>
          <a:xfrm>
            <a:off x="4865689" y="1560361"/>
            <a:ext cx="1043687" cy="1809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spcBef>
                <a:spcPts val="243"/>
              </a:spcBef>
              <a:buNone/>
            </a:pPr>
            <a:r>
              <a:rPr lang="en-US" sz="1080" dirty="0">
                <a:solidFill>
                  <a:srgbClr val="9AABBB"/>
                </a:solidFill>
                <a:latin typeface="Times New Roman" panose="02020603050405020304" pitchFamily="18" charset="0"/>
                <a:ea typeface="IBM Plex Sans" pitchFamily="34" charset="-122"/>
                <a:cs typeface="Times New Roman" panose="02020603050405020304" pitchFamily="18" charset="0"/>
              </a:rPr>
              <a:t>of data used during</a:t>
            </a:r>
            <a:endParaRPr lang="en-US" sz="108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3" name="Text 30"/>
          <p:cNvSpPr/>
          <p:nvPr/>
        </p:nvSpPr>
        <p:spPr>
          <a:xfrm>
            <a:off x="4874716" y="1721946"/>
            <a:ext cx="567251" cy="1809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spcBef>
                <a:spcPts val="243"/>
              </a:spcBef>
            </a:pPr>
            <a:r>
              <a:rPr lang="en-US" sz="1080" dirty="0">
                <a:solidFill>
                  <a:srgbClr val="9AABBB"/>
                </a:solidFill>
                <a:latin typeface="Times New Roman" panose="02020603050405020304" pitchFamily="18" charset="0"/>
                <a:ea typeface="IBM Plex Sans" pitchFamily="34" charset="-122"/>
                <a:cs typeface="Times New Roman" panose="02020603050405020304" pitchFamily="18" charset="0"/>
              </a:rPr>
              <a:t>investigation.</a:t>
            </a:r>
            <a:endParaRPr lang="en-US" sz="108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5" name="Shape 32"/>
          <p:cNvSpPr/>
          <p:nvPr/>
        </p:nvSpPr>
        <p:spPr>
          <a:xfrm>
            <a:off x="6071056" y="930027"/>
            <a:ext cx="1185863" cy="1066353"/>
          </a:xfrm>
          <a:prstGeom prst="rect">
            <a:avLst/>
          </a:prstGeom>
          <a:solidFill>
            <a:srgbClr val="172A40"/>
          </a:solidFill>
          <a:ln w="4763">
            <a:solidFill>
              <a:srgbClr val="2C4358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36" name="Text 33"/>
          <p:cNvSpPr/>
          <p:nvPr/>
        </p:nvSpPr>
        <p:spPr>
          <a:xfrm>
            <a:off x="6115738" y="954808"/>
            <a:ext cx="773400" cy="3866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20"/>
              </a:lnSpc>
              <a:buNone/>
            </a:pPr>
            <a:r>
              <a:rPr lang="en-US" sz="1080" b="1" dirty="0">
                <a:solidFill>
                  <a:srgbClr val="F2F5F2"/>
                </a:solidFill>
                <a:latin typeface="Times New Roman" panose="02020603050405020304" pitchFamily="18" charset="0"/>
                <a:ea typeface="IBM Plex Sans" pitchFamily="34" charset="-122"/>
                <a:cs typeface="Times New Roman" panose="02020603050405020304" pitchFamily="18" charset="0"/>
              </a:rPr>
              <a:t>Machine</a:t>
            </a:r>
            <a:r>
              <a:rPr lang="en-US" sz="108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080" b="1" dirty="0">
                <a:solidFill>
                  <a:srgbClr val="F2F5F2"/>
                </a:solidFill>
                <a:latin typeface="Times New Roman" panose="02020603050405020304" pitchFamily="18" charset="0"/>
                <a:ea typeface="IBM Plex Sans" pitchFamily="34" charset="-122"/>
                <a:cs typeface="Times New Roman" panose="02020603050405020304" pitchFamily="18" charset="0"/>
              </a:rPr>
              <a:t>Learning</a:t>
            </a:r>
            <a:endParaRPr lang="en-US" sz="108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7" name="Text 34"/>
          <p:cNvSpPr/>
          <p:nvPr/>
        </p:nvSpPr>
        <p:spPr>
          <a:xfrm>
            <a:off x="6122833" y="1139715"/>
            <a:ext cx="665731" cy="1809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spcBef>
                <a:spcPts val="243"/>
              </a:spcBef>
              <a:buNone/>
            </a:pPr>
            <a:r>
              <a:rPr lang="en-US" sz="1080" dirty="0">
                <a:solidFill>
                  <a:srgbClr val="9AABBB"/>
                </a:solidFill>
                <a:latin typeface="Times New Roman" panose="02020603050405020304" pitchFamily="18" charset="0"/>
                <a:ea typeface="IBM Plex Sans" pitchFamily="34" charset="-122"/>
                <a:cs typeface="Times New Roman" panose="02020603050405020304" pitchFamily="18" charset="0"/>
              </a:rPr>
              <a:t>Explore anomaly</a:t>
            </a:r>
            <a:endParaRPr lang="en-US" sz="108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9" name="Text 36"/>
          <p:cNvSpPr/>
          <p:nvPr/>
        </p:nvSpPr>
        <p:spPr>
          <a:xfrm>
            <a:off x="6126281" y="1288439"/>
            <a:ext cx="1158128" cy="1809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spcBef>
                <a:spcPts val="243"/>
              </a:spcBef>
              <a:buNone/>
            </a:pPr>
            <a:r>
              <a:rPr lang="en-US" sz="1080" dirty="0">
                <a:solidFill>
                  <a:srgbClr val="9AABBB"/>
                </a:solidFill>
                <a:latin typeface="Times New Roman" panose="02020603050405020304" pitchFamily="18" charset="0"/>
                <a:ea typeface="IBM Plex Sans" pitchFamily="34" charset="-122"/>
                <a:cs typeface="Times New Roman" panose="02020603050405020304" pitchFamily="18" charset="0"/>
              </a:rPr>
              <a:t>detection and</a:t>
            </a:r>
            <a:endParaRPr lang="en-US" sz="108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0" name="Text 37"/>
          <p:cNvSpPr/>
          <p:nvPr/>
        </p:nvSpPr>
        <p:spPr>
          <a:xfrm>
            <a:off x="6133481" y="1427147"/>
            <a:ext cx="1304300" cy="1809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spcBef>
                <a:spcPts val="243"/>
              </a:spcBef>
              <a:buNone/>
            </a:pPr>
            <a:r>
              <a:rPr lang="en-US" sz="1080" dirty="0">
                <a:solidFill>
                  <a:srgbClr val="9AABBB"/>
                </a:solidFill>
                <a:latin typeface="Times New Roman" panose="02020603050405020304" pitchFamily="18" charset="0"/>
                <a:ea typeface="IBM Plex Sans" pitchFamily="34" charset="-122"/>
                <a:cs typeface="Times New Roman" panose="02020603050405020304" pitchFamily="18" charset="0"/>
              </a:rPr>
              <a:t>identification of</a:t>
            </a:r>
            <a:endParaRPr lang="en-US" sz="108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1" name="Text 38"/>
          <p:cNvSpPr/>
          <p:nvPr/>
        </p:nvSpPr>
        <p:spPr>
          <a:xfrm>
            <a:off x="6142360" y="1582337"/>
            <a:ext cx="709746" cy="1809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spcBef>
                <a:spcPts val="243"/>
              </a:spcBef>
              <a:buNone/>
            </a:pPr>
            <a:r>
              <a:rPr lang="en-US" sz="1080" dirty="0">
                <a:solidFill>
                  <a:srgbClr val="9AABBB"/>
                </a:solidFill>
                <a:latin typeface="Times New Roman" panose="02020603050405020304" pitchFamily="18" charset="0"/>
                <a:ea typeface="IBM Plex Sans" pitchFamily="34" charset="-122"/>
                <a:cs typeface="Times New Roman" panose="02020603050405020304" pitchFamily="18" charset="0"/>
              </a:rPr>
              <a:t>relevant signals.</a:t>
            </a:r>
            <a:endParaRPr lang="en-US" sz="108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3" name="Shape 40"/>
          <p:cNvSpPr/>
          <p:nvPr/>
        </p:nvSpPr>
        <p:spPr>
          <a:xfrm>
            <a:off x="7365166" y="930027"/>
            <a:ext cx="1185863" cy="1066353"/>
          </a:xfrm>
          <a:prstGeom prst="rect">
            <a:avLst/>
          </a:prstGeom>
          <a:solidFill>
            <a:srgbClr val="172A40"/>
          </a:solidFill>
          <a:ln w="4763">
            <a:solidFill>
              <a:srgbClr val="2C4358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44" name="Text 41"/>
          <p:cNvSpPr/>
          <p:nvPr/>
        </p:nvSpPr>
        <p:spPr>
          <a:xfrm>
            <a:off x="7437781" y="981596"/>
            <a:ext cx="417790" cy="1809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80" b="1" dirty="0">
                <a:solidFill>
                  <a:srgbClr val="F2F5F2"/>
                </a:solidFill>
                <a:latin typeface="Times New Roman" panose="02020603050405020304" pitchFamily="18" charset="0"/>
                <a:ea typeface="IBM Plex Sans" pitchFamily="34" charset="-122"/>
                <a:cs typeface="Times New Roman" panose="02020603050405020304" pitchFamily="18" charset="0"/>
              </a:rPr>
              <a:t>RAG</a:t>
            </a:r>
            <a:endParaRPr lang="en-US" sz="108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5" name="Text 42"/>
          <p:cNvSpPr/>
          <p:nvPr/>
        </p:nvSpPr>
        <p:spPr>
          <a:xfrm>
            <a:off x="7450003" y="1159477"/>
            <a:ext cx="608655" cy="1809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spcBef>
                <a:spcPts val="243"/>
              </a:spcBef>
              <a:buNone/>
            </a:pPr>
            <a:r>
              <a:rPr lang="en-US" sz="1080" dirty="0">
                <a:solidFill>
                  <a:srgbClr val="9AABBB"/>
                </a:solidFill>
                <a:latin typeface="Times New Roman" panose="02020603050405020304" pitchFamily="18" charset="0"/>
                <a:ea typeface="IBM Plex Sans" pitchFamily="34" charset="-122"/>
                <a:cs typeface="Times New Roman" panose="02020603050405020304" pitchFamily="18" charset="0"/>
              </a:rPr>
              <a:t>Build a knowledge</a:t>
            </a:r>
            <a:endParaRPr lang="en-US" sz="108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7" name="Text 44"/>
          <p:cNvSpPr/>
          <p:nvPr/>
        </p:nvSpPr>
        <p:spPr>
          <a:xfrm>
            <a:off x="7451962" y="1309260"/>
            <a:ext cx="782494" cy="1809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spcBef>
                <a:spcPts val="243"/>
              </a:spcBef>
              <a:buNone/>
            </a:pPr>
            <a:r>
              <a:rPr lang="en-US" sz="1080" dirty="0">
                <a:solidFill>
                  <a:srgbClr val="9AABBB"/>
                </a:solidFill>
                <a:latin typeface="Times New Roman" panose="02020603050405020304" pitchFamily="18" charset="0"/>
                <a:ea typeface="IBM Plex Sans" pitchFamily="34" charset="-122"/>
                <a:cs typeface="Times New Roman" panose="02020603050405020304" pitchFamily="18" charset="0"/>
              </a:rPr>
              <a:t>base and</a:t>
            </a:r>
            <a:endParaRPr lang="en-US" sz="108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8" name="Text 45"/>
          <p:cNvSpPr/>
          <p:nvPr/>
        </p:nvSpPr>
        <p:spPr>
          <a:xfrm>
            <a:off x="7463282" y="1449753"/>
            <a:ext cx="672792" cy="1809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spcBef>
                <a:spcPts val="243"/>
              </a:spcBef>
              <a:buNone/>
            </a:pPr>
            <a:r>
              <a:rPr lang="en-US" sz="1080" dirty="0">
                <a:solidFill>
                  <a:srgbClr val="9AABBB"/>
                </a:solidFill>
                <a:latin typeface="Times New Roman" panose="02020603050405020304" pitchFamily="18" charset="0"/>
                <a:ea typeface="IBM Plex Sans" pitchFamily="34" charset="-122"/>
                <a:cs typeface="Times New Roman" panose="02020603050405020304" pitchFamily="18" charset="0"/>
              </a:rPr>
              <a:t>Retrieve relevant</a:t>
            </a:r>
            <a:endParaRPr lang="en-US" sz="108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0" name="Text 47"/>
          <p:cNvSpPr/>
          <p:nvPr/>
        </p:nvSpPr>
        <p:spPr>
          <a:xfrm>
            <a:off x="7462002" y="1594816"/>
            <a:ext cx="787137" cy="1809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spcBef>
                <a:spcPts val="243"/>
              </a:spcBef>
              <a:buNone/>
            </a:pPr>
            <a:r>
              <a:rPr lang="en-US" sz="1080" dirty="0">
                <a:solidFill>
                  <a:srgbClr val="9AABBB"/>
                </a:solidFill>
                <a:latin typeface="Times New Roman" panose="02020603050405020304" pitchFamily="18" charset="0"/>
                <a:ea typeface="IBM Plex Sans" pitchFamily="34" charset="-122"/>
                <a:cs typeface="Times New Roman" panose="02020603050405020304" pitchFamily="18" charset="0"/>
              </a:rPr>
              <a:t>technical evidence.</a:t>
            </a:r>
            <a:endParaRPr lang="en-US" sz="108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2" name="Shape 49"/>
          <p:cNvSpPr/>
          <p:nvPr/>
        </p:nvSpPr>
        <p:spPr>
          <a:xfrm>
            <a:off x="3504593" y="2062405"/>
            <a:ext cx="1185863" cy="1190756"/>
          </a:xfrm>
          <a:prstGeom prst="rect">
            <a:avLst/>
          </a:prstGeom>
          <a:solidFill>
            <a:srgbClr val="172A40"/>
          </a:solidFill>
          <a:ln w="4763">
            <a:solidFill>
              <a:srgbClr val="2C435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3" name="Text 50"/>
          <p:cNvSpPr/>
          <p:nvPr/>
        </p:nvSpPr>
        <p:spPr>
          <a:xfrm>
            <a:off x="3596885" y="2094561"/>
            <a:ext cx="800971" cy="3866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20"/>
              </a:lnSpc>
              <a:buNone/>
            </a:pPr>
            <a:r>
              <a:rPr lang="en-US" sz="1080" b="1" dirty="0">
                <a:solidFill>
                  <a:srgbClr val="F2F5F2"/>
                </a:solidFill>
                <a:latin typeface="Times New Roman" panose="02020603050405020304" pitchFamily="18" charset="0"/>
                <a:ea typeface="IBM Plex Sans" pitchFamily="34" charset="-122"/>
                <a:cs typeface="Times New Roman" panose="02020603050405020304" pitchFamily="18" charset="0"/>
              </a:rPr>
              <a:t>Graph /</a:t>
            </a:r>
            <a:r>
              <a:rPr lang="en-US" sz="108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080" b="1" dirty="0">
                <a:solidFill>
                  <a:srgbClr val="F2F5F2"/>
                </a:solidFill>
                <a:latin typeface="Times New Roman" panose="02020603050405020304" pitchFamily="18" charset="0"/>
                <a:ea typeface="IBM Plex Sans" pitchFamily="34" charset="-122"/>
                <a:cs typeface="Times New Roman" panose="02020603050405020304" pitchFamily="18" charset="0"/>
              </a:rPr>
              <a:t>Topology</a:t>
            </a:r>
            <a:endParaRPr lang="en-US" sz="108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4" name="Text 51"/>
          <p:cNvSpPr/>
          <p:nvPr/>
        </p:nvSpPr>
        <p:spPr>
          <a:xfrm>
            <a:off x="3607147" y="2298660"/>
            <a:ext cx="1230489" cy="1809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spcBef>
                <a:spcPts val="243"/>
              </a:spcBef>
              <a:buNone/>
            </a:pPr>
            <a:r>
              <a:rPr lang="en-US" sz="1080" dirty="0">
                <a:solidFill>
                  <a:srgbClr val="9AABBB"/>
                </a:solidFill>
                <a:latin typeface="Times New Roman" panose="02020603050405020304" pitchFamily="18" charset="0"/>
                <a:ea typeface="IBM Plex Sans" pitchFamily="34" charset="-122"/>
                <a:cs typeface="Times New Roman" panose="02020603050405020304" pitchFamily="18" charset="0"/>
              </a:rPr>
              <a:t>Represent grid</a:t>
            </a:r>
            <a:endParaRPr lang="en-US" sz="108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5" name="Text 52"/>
          <p:cNvSpPr/>
          <p:nvPr/>
        </p:nvSpPr>
        <p:spPr>
          <a:xfrm>
            <a:off x="3602993" y="2455267"/>
            <a:ext cx="1094475" cy="1809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spcBef>
                <a:spcPts val="243"/>
              </a:spcBef>
              <a:buNone/>
            </a:pPr>
            <a:r>
              <a:rPr lang="en-US" sz="1080" dirty="0">
                <a:solidFill>
                  <a:srgbClr val="9AABBB"/>
                </a:solidFill>
                <a:latin typeface="Times New Roman" panose="02020603050405020304" pitchFamily="18" charset="0"/>
                <a:ea typeface="IBM Plex Sans" pitchFamily="34" charset="-122"/>
                <a:cs typeface="Times New Roman" panose="02020603050405020304" pitchFamily="18" charset="0"/>
              </a:rPr>
              <a:t>relationships</a:t>
            </a:r>
            <a:endParaRPr lang="en-US" sz="108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6" name="Text 53"/>
          <p:cNvSpPr/>
          <p:nvPr/>
        </p:nvSpPr>
        <p:spPr>
          <a:xfrm>
            <a:off x="3607147" y="2622889"/>
            <a:ext cx="685175" cy="1809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spcBef>
                <a:spcPts val="243"/>
              </a:spcBef>
            </a:pPr>
            <a:r>
              <a:rPr lang="en-US" sz="1080" dirty="0">
                <a:solidFill>
                  <a:srgbClr val="9AABBB"/>
                </a:solidFill>
                <a:latin typeface="Times New Roman" panose="02020603050405020304" pitchFamily="18" charset="0"/>
                <a:ea typeface="IBM Plex Sans" pitchFamily="34" charset="-122"/>
                <a:cs typeface="Times New Roman" panose="02020603050405020304" pitchFamily="18" charset="0"/>
              </a:rPr>
              <a:t>and use topology</a:t>
            </a:r>
            <a:endParaRPr lang="en-US" sz="108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8" name="Text 55"/>
          <p:cNvSpPr/>
          <p:nvPr/>
        </p:nvSpPr>
        <p:spPr>
          <a:xfrm>
            <a:off x="3612914" y="2812390"/>
            <a:ext cx="1075611" cy="1809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spcBef>
                <a:spcPts val="243"/>
              </a:spcBef>
              <a:buNone/>
            </a:pPr>
            <a:r>
              <a:rPr lang="en-US" sz="1080" dirty="0">
                <a:solidFill>
                  <a:srgbClr val="9AABBB"/>
                </a:solidFill>
                <a:latin typeface="Times New Roman" panose="02020603050405020304" pitchFamily="18" charset="0"/>
                <a:ea typeface="IBM Plex Sans" pitchFamily="34" charset="-122"/>
                <a:cs typeface="Times New Roman" panose="02020603050405020304" pitchFamily="18" charset="0"/>
              </a:rPr>
              <a:t>as investigation</a:t>
            </a:r>
            <a:endParaRPr lang="en-US" sz="108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9" name="Text 56"/>
          <p:cNvSpPr/>
          <p:nvPr/>
        </p:nvSpPr>
        <p:spPr>
          <a:xfrm>
            <a:off x="3619895" y="2989849"/>
            <a:ext cx="705974" cy="1809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spcBef>
                <a:spcPts val="243"/>
              </a:spcBef>
              <a:buNone/>
            </a:pPr>
            <a:r>
              <a:rPr lang="en-US" sz="1080" dirty="0">
                <a:solidFill>
                  <a:srgbClr val="9AABBB"/>
                </a:solidFill>
                <a:latin typeface="Times New Roman" panose="02020603050405020304" pitchFamily="18" charset="0"/>
                <a:ea typeface="IBM Plex Sans" pitchFamily="34" charset="-122"/>
                <a:cs typeface="Times New Roman" panose="02020603050405020304" pitchFamily="18" charset="0"/>
              </a:rPr>
              <a:t>context.</a:t>
            </a:r>
            <a:endParaRPr lang="en-US" sz="108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0" name="Shape 57"/>
          <p:cNvSpPr/>
          <p:nvPr/>
        </p:nvSpPr>
        <p:spPr>
          <a:xfrm>
            <a:off x="4786822" y="2068339"/>
            <a:ext cx="1185863" cy="1174734"/>
          </a:xfrm>
          <a:prstGeom prst="rect">
            <a:avLst/>
          </a:prstGeom>
          <a:solidFill>
            <a:srgbClr val="172A40"/>
          </a:solidFill>
          <a:ln w="4763">
            <a:solidFill>
              <a:srgbClr val="2C435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1" name="Text 58"/>
          <p:cNvSpPr/>
          <p:nvPr/>
        </p:nvSpPr>
        <p:spPr>
          <a:xfrm>
            <a:off x="4849999" y="2112764"/>
            <a:ext cx="973648" cy="3866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20"/>
              </a:lnSpc>
              <a:buNone/>
            </a:pPr>
            <a:r>
              <a:rPr lang="en-US" sz="1080" b="1" dirty="0">
                <a:solidFill>
                  <a:srgbClr val="F2F5F2"/>
                </a:solidFill>
                <a:latin typeface="Times New Roman" panose="02020603050405020304" pitchFamily="18" charset="0"/>
                <a:ea typeface="IBM Plex Sans" pitchFamily="34" charset="-122"/>
                <a:cs typeface="Times New Roman" panose="02020603050405020304" pitchFamily="18" charset="0"/>
              </a:rPr>
              <a:t>LLM-Based</a:t>
            </a:r>
            <a:r>
              <a:rPr lang="en-US" sz="108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080" b="1" dirty="0">
                <a:solidFill>
                  <a:srgbClr val="F2F5F2"/>
                </a:solidFill>
                <a:latin typeface="Times New Roman" panose="02020603050405020304" pitchFamily="18" charset="0"/>
                <a:ea typeface="IBM Plex Sans" pitchFamily="34" charset="-122"/>
                <a:cs typeface="Times New Roman" panose="02020603050405020304" pitchFamily="18" charset="0"/>
              </a:rPr>
              <a:t>RCA</a:t>
            </a:r>
            <a:endParaRPr lang="en-US" sz="108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2" name="Text 59"/>
          <p:cNvSpPr/>
          <p:nvPr/>
        </p:nvSpPr>
        <p:spPr>
          <a:xfrm>
            <a:off x="4855945" y="2318444"/>
            <a:ext cx="1123883" cy="1809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spcBef>
                <a:spcPts val="243"/>
              </a:spcBef>
              <a:buNone/>
            </a:pPr>
            <a:r>
              <a:rPr lang="en-US" sz="1080" dirty="0">
                <a:solidFill>
                  <a:srgbClr val="9AABBB"/>
                </a:solidFill>
                <a:latin typeface="Times New Roman" panose="02020603050405020304" pitchFamily="18" charset="0"/>
                <a:ea typeface="IBM Plex Sans" pitchFamily="34" charset="-122"/>
                <a:cs typeface="Times New Roman" panose="02020603050405020304" pitchFamily="18" charset="0"/>
              </a:rPr>
              <a:t>Use retrieved</a:t>
            </a:r>
            <a:endParaRPr lang="en-US" sz="108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3" name="Text 60"/>
          <p:cNvSpPr/>
          <p:nvPr/>
        </p:nvSpPr>
        <p:spPr>
          <a:xfrm>
            <a:off x="4874716" y="2483551"/>
            <a:ext cx="1116918" cy="1809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spcBef>
                <a:spcPts val="243"/>
              </a:spcBef>
              <a:buNone/>
            </a:pPr>
            <a:r>
              <a:rPr lang="en-US" sz="1080" dirty="0">
                <a:solidFill>
                  <a:srgbClr val="9AABBB"/>
                </a:solidFill>
                <a:latin typeface="Times New Roman" panose="02020603050405020304" pitchFamily="18" charset="0"/>
                <a:ea typeface="IBM Plex Sans" pitchFamily="34" charset="-122"/>
                <a:cs typeface="Times New Roman" panose="02020603050405020304" pitchFamily="18" charset="0"/>
              </a:rPr>
              <a:t>evidence and</a:t>
            </a:r>
            <a:endParaRPr lang="en-US" sz="108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4" name="Text 61"/>
          <p:cNvSpPr/>
          <p:nvPr/>
        </p:nvSpPr>
        <p:spPr>
          <a:xfrm>
            <a:off x="4874716" y="2622889"/>
            <a:ext cx="1271506" cy="1809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spcBef>
                <a:spcPts val="243"/>
              </a:spcBef>
              <a:buNone/>
            </a:pPr>
            <a:r>
              <a:rPr lang="en-US" sz="1080" dirty="0">
                <a:solidFill>
                  <a:srgbClr val="9AABBB"/>
                </a:solidFill>
                <a:latin typeface="Times New Roman" panose="02020603050405020304" pitchFamily="18" charset="0"/>
                <a:ea typeface="IBM Plex Sans" pitchFamily="34" charset="-122"/>
                <a:cs typeface="Times New Roman" panose="02020603050405020304" pitchFamily="18" charset="0"/>
              </a:rPr>
              <a:t>grid context for</a:t>
            </a:r>
            <a:endParaRPr lang="en-US" sz="108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5" name="Text 62"/>
          <p:cNvSpPr/>
          <p:nvPr/>
        </p:nvSpPr>
        <p:spPr>
          <a:xfrm>
            <a:off x="4880669" y="2803512"/>
            <a:ext cx="924215" cy="1809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spcBef>
                <a:spcPts val="243"/>
              </a:spcBef>
              <a:buNone/>
            </a:pPr>
            <a:r>
              <a:rPr lang="en-US" sz="1080" dirty="0">
                <a:solidFill>
                  <a:srgbClr val="9AABBB"/>
                </a:solidFill>
                <a:latin typeface="Times New Roman" panose="02020603050405020304" pitchFamily="18" charset="0"/>
                <a:ea typeface="IBM Plex Sans" pitchFamily="34" charset="-122"/>
                <a:cs typeface="Times New Roman" panose="02020603050405020304" pitchFamily="18" charset="0"/>
              </a:rPr>
              <a:t>root-cause</a:t>
            </a:r>
            <a:endParaRPr lang="en-US" sz="108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6" name="Text 63"/>
          <p:cNvSpPr/>
          <p:nvPr/>
        </p:nvSpPr>
        <p:spPr>
          <a:xfrm>
            <a:off x="4864517" y="2971213"/>
            <a:ext cx="893549" cy="1809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spcBef>
                <a:spcPts val="243"/>
              </a:spcBef>
              <a:buNone/>
            </a:pPr>
            <a:r>
              <a:rPr lang="en-US" sz="1080" dirty="0">
                <a:solidFill>
                  <a:srgbClr val="9AABBB"/>
                </a:solidFill>
                <a:latin typeface="Times New Roman" panose="02020603050405020304" pitchFamily="18" charset="0"/>
                <a:ea typeface="IBM Plex Sans" pitchFamily="34" charset="-122"/>
                <a:cs typeface="Times New Roman" panose="02020603050405020304" pitchFamily="18" charset="0"/>
              </a:rPr>
              <a:t>reasoning.</a:t>
            </a:r>
            <a:endParaRPr lang="en-US" sz="108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7" name="Shape 64"/>
          <p:cNvSpPr/>
          <p:nvPr/>
        </p:nvSpPr>
        <p:spPr>
          <a:xfrm>
            <a:off x="6122653" y="2061083"/>
            <a:ext cx="2452688" cy="1192078"/>
          </a:xfrm>
          <a:prstGeom prst="rect">
            <a:avLst/>
          </a:prstGeom>
          <a:solidFill>
            <a:srgbClr val="182E3B"/>
          </a:solidFill>
          <a:ln w="4763">
            <a:solidFill>
              <a:srgbClr val="7BB7C5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68" name="Text 65"/>
          <p:cNvSpPr/>
          <p:nvPr/>
        </p:nvSpPr>
        <p:spPr>
          <a:xfrm>
            <a:off x="6226786" y="2112764"/>
            <a:ext cx="932728" cy="1809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80" b="1" dirty="0">
                <a:solidFill>
                  <a:srgbClr val="F2F5F2"/>
                </a:solidFill>
                <a:latin typeface="Times New Roman" panose="02020603050405020304" pitchFamily="18" charset="0"/>
                <a:ea typeface="IBM Plex Sans" pitchFamily="34" charset="-122"/>
                <a:cs typeface="Times New Roman" panose="02020603050405020304" pitchFamily="18" charset="0"/>
              </a:rPr>
              <a:t>Evaluation</a:t>
            </a:r>
            <a:endParaRPr lang="en-US" sz="108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9" name="Text 66"/>
          <p:cNvSpPr/>
          <p:nvPr/>
        </p:nvSpPr>
        <p:spPr>
          <a:xfrm>
            <a:off x="6226786" y="2325476"/>
            <a:ext cx="2798423" cy="1809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spcBef>
                <a:spcPts val="243"/>
              </a:spcBef>
              <a:buNone/>
            </a:pPr>
            <a:r>
              <a:rPr lang="en-US" sz="1080" dirty="0">
                <a:solidFill>
                  <a:srgbClr val="9AABBB"/>
                </a:solidFill>
                <a:latin typeface="Times New Roman" panose="02020603050405020304" pitchFamily="18" charset="0"/>
                <a:ea typeface="IBM Plex Sans" pitchFamily="34" charset="-122"/>
                <a:cs typeface="Times New Roman" panose="02020603050405020304" pitchFamily="18" charset="0"/>
              </a:rPr>
              <a:t>Explore comparison of RAG-based</a:t>
            </a:r>
            <a:endParaRPr lang="en-US" sz="108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0" name="Text 67"/>
          <p:cNvSpPr/>
          <p:nvPr/>
        </p:nvSpPr>
        <p:spPr>
          <a:xfrm>
            <a:off x="6228136" y="2542667"/>
            <a:ext cx="2229118" cy="1809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spcBef>
                <a:spcPts val="243"/>
              </a:spcBef>
              <a:buNone/>
            </a:pPr>
            <a:r>
              <a:rPr lang="en-US" sz="1080" dirty="0">
                <a:solidFill>
                  <a:srgbClr val="9AABBB"/>
                </a:solidFill>
                <a:latin typeface="Times New Roman" panose="02020603050405020304" pitchFamily="18" charset="0"/>
                <a:ea typeface="IBM Plex Sans" pitchFamily="34" charset="-122"/>
                <a:cs typeface="Times New Roman" panose="02020603050405020304" pitchFamily="18" charset="0"/>
              </a:rPr>
              <a:t>RCA with conventional RCA</a:t>
            </a:r>
            <a:endParaRPr lang="en-US" sz="108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1" name="Text 68"/>
          <p:cNvSpPr/>
          <p:nvPr/>
        </p:nvSpPr>
        <p:spPr>
          <a:xfrm>
            <a:off x="6241264" y="2739553"/>
            <a:ext cx="1042042" cy="1809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spcBef>
                <a:spcPts val="243"/>
              </a:spcBef>
              <a:buNone/>
            </a:pPr>
            <a:r>
              <a:rPr lang="en-US" sz="1080" dirty="0">
                <a:solidFill>
                  <a:srgbClr val="9AABBB"/>
                </a:solidFill>
                <a:latin typeface="Times New Roman" panose="02020603050405020304" pitchFamily="18" charset="0"/>
                <a:ea typeface="IBM Plex Sans" pitchFamily="34" charset="-122"/>
                <a:cs typeface="Times New Roman" panose="02020603050405020304" pitchFamily="18" charset="0"/>
              </a:rPr>
              <a:t>approaches.</a:t>
            </a:r>
            <a:endParaRPr lang="en-US" sz="108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2" name="Shape 69"/>
          <p:cNvSpPr/>
          <p:nvPr/>
        </p:nvSpPr>
        <p:spPr>
          <a:xfrm>
            <a:off x="476948" y="3580673"/>
            <a:ext cx="8120062" cy="1462751"/>
          </a:xfrm>
          <a:prstGeom prst="rect">
            <a:avLst/>
          </a:prstGeom>
          <a:solidFill>
            <a:srgbClr val="14243A">
              <a:alpha val="54902"/>
            </a:srgbClr>
          </a:solidFill>
          <a:ln w="4763">
            <a:solidFill>
              <a:srgbClr val="2C435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3" name="Text 70"/>
          <p:cNvSpPr/>
          <p:nvPr/>
        </p:nvSpPr>
        <p:spPr>
          <a:xfrm>
            <a:off x="576275" y="3662695"/>
            <a:ext cx="1013601" cy="1809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spcAft>
                <a:spcPts val="405"/>
              </a:spcAft>
              <a:buNone/>
            </a:pPr>
            <a:r>
              <a:rPr lang="en-US" sz="1080" b="1" kern="0" spc="173" dirty="0">
                <a:solidFill>
                  <a:srgbClr val="7BB8C5"/>
                </a:solidFill>
                <a:latin typeface="Times New Roman" panose="02020603050405020304" pitchFamily="18" charset="0"/>
                <a:ea typeface="IBM Plex Sans" pitchFamily="34" charset="-122"/>
                <a:cs typeface="Times New Roman" panose="02020603050405020304" pitchFamily="18" charset="0"/>
              </a:rPr>
              <a:t>DATASET</a:t>
            </a:r>
            <a:endParaRPr lang="en-US" sz="108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4" name="Shape 71"/>
          <p:cNvSpPr/>
          <p:nvPr/>
        </p:nvSpPr>
        <p:spPr>
          <a:xfrm>
            <a:off x="653132" y="5722925"/>
            <a:ext cx="2552700" cy="1133475"/>
          </a:xfrm>
          <a:prstGeom prst="rect">
            <a:avLst/>
          </a:prstGeom>
          <a:ln/>
        </p:spPr>
        <p:txBody>
          <a:bodyPr/>
          <a:lstStyle/>
          <a:p>
            <a:endParaRPr lang="en-IN"/>
          </a:p>
        </p:txBody>
      </p:sp>
      <p:sp>
        <p:nvSpPr>
          <p:cNvPr id="75" name="Text 72"/>
          <p:cNvSpPr/>
          <p:nvPr/>
        </p:nvSpPr>
        <p:spPr>
          <a:xfrm>
            <a:off x="576275" y="3926996"/>
            <a:ext cx="2183651" cy="18573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120" b="1" dirty="0">
                <a:solidFill>
                  <a:srgbClr val="F2F5F2"/>
                </a:solidFill>
                <a:latin typeface="Times New Roman" panose="02020603050405020304" pitchFamily="18" charset="0"/>
                <a:ea typeface="IBM Plex Sans" pitchFamily="34" charset="-122"/>
                <a:cs typeface="Times New Roman" panose="02020603050405020304" pitchFamily="18" charset="0"/>
              </a:rPr>
              <a:t>Public  Data</a:t>
            </a:r>
            <a:endParaRPr lang="en-US" sz="112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6" name="Text 73"/>
          <p:cNvSpPr/>
          <p:nvPr/>
        </p:nvSpPr>
        <p:spPr>
          <a:xfrm>
            <a:off x="573767" y="4164172"/>
            <a:ext cx="2765532" cy="18573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spcBef>
                <a:spcPts val="182"/>
              </a:spcBef>
              <a:buNone/>
            </a:pPr>
            <a:r>
              <a:rPr lang="en-US" sz="1120" dirty="0">
                <a:solidFill>
                  <a:srgbClr val="9AABBB"/>
                </a:solidFill>
                <a:latin typeface="Times New Roman" panose="02020603050405020304" pitchFamily="18" charset="0"/>
                <a:ea typeface="IBM Plex Sans" pitchFamily="34" charset="-122"/>
                <a:cs typeface="Times New Roman" panose="02020603050405020304" pitchFamily="18" charset="0"/>
              </a:rPr>
              <a:t>IEEE 30-Bus | PSML / GridSTAGE</a:t>
            </a:r>
            <a:endParaRPr lang="en-US" sz="112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7" name="Text 74"/>
          <p:cNvSpPr/>
          <p:nvPr/>
        </p:nvSpPr>
        <p:spPr>
          <a:xfrm>
            <a:off x="573767" y="4358530"/>
            <a:ext cx="2591790" cy="3751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66"/>
              </a:lnSpc>
              <a:buNone/>
            </a:pPr>
            <a:r>
              <a:rPr lang="en-US" sz="1040" dirty="0">
                <a:solidFill>
                  <a:srgbClr val="7BB8C5"/>
                </a:solidFill>
                <a:latin typeface="Times New Roman" panose="02020603050405020304" pitchFamily="18" charset="0"/>
                <a:ea typeface="IBM Plex Sans" pitchFamily="34" charset="-122"/>
                <a:cs typeface="Times New Roman" panose="02020603050405020304" pitchFamily="18" charset="0"/>
              </a:rPr>
              <a:t>Used for grid structure, electrical</a:t>
            </a:r>
            <a:endParaRPr lang="en-US" sz="104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l">
              <a:lnSpc>
                <a:spcPts val="1566"/>
              </a:lnSpc>
              <a:buNone/>
            </a:pPr>
            <a:r>
              <a:rPr lang="en-US" sz="1040" dirty="0">
                <a:solidFill>
                  <a:srgbClr val="7BB8C5"/>
                </a:solidFill>
                <a:latin typeface="Times New Roman" panose="02020603050405020304" pitchFamily="18" charset="0"/>
                <a:ea typeface="IBM Plex Sans" pitchFamily="34" charset="-122"/>
                <a:cs typeface="Times New Roman" panose="02020603050405020304" pitchFamily="18" charset="0"/>
              </a:rPr>
              <a:t>information and validation.</a:t>
            </a:r>
            <a:endParaRPr lang="en-US" sz="104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8" name="Shape 75"/>
          <p:cNvSpPr/>
          <p:nvPr/>
        </p:nvSpPr>
        <p:spPr>
          <a:xfrm>
            <a:off x="3185438" y="3918376"/>
            <a:ext cx="2552700" cy="1133475"/>
          </a:xfrm>
          <a:prstGeom prst="rect">
            <a:avLst/>
          </a:prstGeom>
          <a:ln/>
        </p:spPr>
        <p:txBody>
          <a:bodyPr/>
          <a:lstStyle/>
          <a:p>
            <a:endParaRPr lang="en-IN"/>
          </a:p>
        </p:txBody>
      </p:sp>
      <p:sp>
        <p:nvSpPr>
          <p:cNvPr id="79" name="Text 76"/>
          <p:cNvSpPr/>
          <p:nvPr/>
        </p:nvSpPr>
        <p:spPr>
          <a:xfrm>
            <a:off x="3223145" y="3927180"/>
            <a:ext cx="1313006" cy="18573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120" b="1" dirty="0">
                <a:solidFill>
                  <a:srgbClr val="F2F5F2"/>
                </a:solidFill>
                <a:latin typeface="Times New Roman" panose="02020603050405020304" pitchFamily="18" charset="0"/>
                <a:ea typeface="IBM Plex Sans" pitchFamily="34" charset="-122"/>
                <a:cs typeface="Times New Roman" panose="02020603050405020304" pitchFamily="18" charset="0"/>
              </a:rPr>
              <a:t>Synthetic Data</a:t>
            </a:r>
            <a:endParaRPr lang="en-US" sz="112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0" name="Text 77"/>
          <p:cNvSpPr/>
          <p:nvPr/>
        </p:nvSpPr>
        <p:spPr>
          <a:xfrm>
            <a:off x="3214021" y="4122933"/>
            <a:ext cx="3321390" cy="3983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74"/>
              </a:lnSpc>
              <a:buNone/>
            </a:pPr>
            <a:r>
              <a:rPr lang="en-US" sz="1120" dirty="0">
                <a:solidFill>
                  <a:srgbClr val="9AABBB"/>
                </a:solidFill>
                <a:latin typeface="Times New Roman" panose="02020603050405020304" pitchFamily="18" charset="0"/>
                <a:ea typeface="IBM Plex Sans" pitchFamily="34" charset="-122"/>
                <a:cs typeface="Times New Roman" panose="02020603050405020304" pitchFamily="18" charset="0"/>
              </a:rPr>
              <a:t>Telemetry | Faults | Equipment History |</a:t>
            </a:r>
            <a:endParaRPr lang="en-US" sz="112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l">
              <a:lnSpc>
                <a:spcPts val="1674"/>
              </a:lnSpc>
              <a:buNone/>
            </a:pPr>
            <a:r>
              <a:rPr lang="en-US" sz="1120" dirty="0">
                <a:solidFill>
                  <a:srgbClr val="9AABBB"/>
                </a:solidFill>
                <a:latin typeface="Times New Roman" panose="02020603050405020304" pitchFamily="18" charset="0"/>
                <a:ea typeface="IBM Plex Sans" pitchFamily="34" charset="-122"/>
                <a:cs typeface="Times New Roman" panose="02020603050405020304" pitchFamily="18" charset="0"/>
              </a:rPr>
              <a:t>Maintenance | Incidents</a:t>
            </a:r>
            <a:endParaRPr lang="en-US" sz="112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1" name="Text 78"/>
          <p:cNvSpPr/>
          <p:nvPr/>
        </p:nvSpPr>
        <p:spPr>
          <a:xfrm>
            <a:off x="3223145" y="4547346"/>
            <a:ext cx="2688431" cy="3751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66"/>
              </a:lnSpc>
              <a:buNone/>
            </a:pPr>
            <a:r>
              <a:rPr lang="en-US" sz="1040" dirty="0">
                <a:solidFill>
                  <a:srgbClr val="7BB8C5"/>
                </a:solidFill>
                <a:latin typeface="Times New Roman" panose="02020603050405020304" pitchFamily="18" charset="0"/>
                <a:ea typeface="IBM Plex Sans" pitchFamily="34" charset="-122"/>
                <a:cs typeface="Times New Roman" panose="02020603050405020304" pitchFamily="18" charset="0"/>
              </a:rPr>
              <a:t>Generated to represent controlled</a:t>
            </a:r>
            <a:endParaRPr lang="en-US" sz="104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l">
              <a:lnSpc>
                <a:spcPts val="1566"/>
              </a:lnSpc>
              <a:buNone/>
            </a:pPr>
            <a:r>
              <a:rPr lang="en-US" sz="1040" dirty="0">
                <a:solidFill>
                  <a:srgbClr val="7BB8C5"/>
                </a:solidFill>
                <a:latin typeface="Times New Roman" panose="02020603050405020304" pitchFamily="18" charset="0"/>
                <a:ea typeface="IBM Plex Sans" pitchFamily="34" charset="-122"/>
                <a:cs typeface="Times New Roman" panose="02020603050405020304" pitchFamily="18" charset="0"/>
              </a:rPr>
              <a:t>investigation scenarios.</a:t>
            </a:r>
            <a:endParaRPr lang="en-US" sz="104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2" name="Shape 79"/>
          <p:cNvSpPr/>
          <p:nvPr/>
        </p:nvSpPr>
        <p:spPr>
          <a:xfrm>
            <a:off x="5938131" y="5722925"/>
            <a:ext cx="2552700" cy="1133475"/>
          </a:xfrm>
          <a:prstGeom prst="rect">
            <a:avLst/>
          </a:prstGeom>
          <a:ln/>
        </p:spPr>
        <p:txBody>
          <a:bodyPr/>
          <a:lstStyle/>
          <a:p>
            <a:endParaRPr lang="en-IN"/>
          </a:p>
        </p:txBody>
      </p:sp>
      <p:sp>
        <p:nvSpPr>
          <p:cNvPr id="83" name="Text 80"/>
          <p:cNvSpPr/>
          <p:nvPr/>
        </p:nvSpPr>
        <p:spPr>
          <a:xfrm>
            <a:off x="5957459" y="3946997"/>
            <a:ext cx="1474269" cy="18573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120" b="1" dirty="0">
                <a:solidFill>
                  <a:srgbClr val="F2F5F2"/>
                </a:solidFill>
                <a:latin typeface="Times New Roman" panose="02020603050405020304" pitchFamily="18" charset="0"/>
                <a:ea typeface="IBM Plex Sans" pitchFamily="34" charset="-122"/>
                <a:cs typeface="Times New Roman" panose="02020603050405020304" pitchFamily="18" charset="0"/>
              </a:rPr>
              <a:t>Knowledge Base</a:t>
            </a:r>
            <a:endParaRPr lang="en-US" sz="112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4" name="Text 81"/>
          <p:cNvSpPr/>
          <p:nvPr/>
        </p:nvSpPr>
        <p:spPr>
          <a:xfrm>
            <a:off x="5938131" y="4157882"/>
            <a:ext cx="3152291" cy="18573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spcBef>
                <a:spcPts val="182"/>
              </a:spcBef>
              <a:buNone/>
            </a:pPr>
            <a:r>
              <a:rPr lang="en-US" sz="1120" dirty="0">
                <a:solidFill>
                  <a:srgbClr val="9AABBB"/>
                </a:solidFill>
                <a:latin typeface="Times New Roman" panose="02020603050405020304" pitchFamily="18" charset="0"/>
                <a:ea typeface="IBM Plex Sans" pitchFamily="34" charset="-122"/>
                <a:cs typeface="Times New Roman" panose="02020603050405020304" pitchFamily="18" charset="0"/>
              </a:rPr>
              <a:t>Technical and operational documents</a:t>
            </a:r>
            <a:endParaRPr lang="en-US" sz="112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5" name="Text 82"/>
          <p:cNvSpPr/>
          <p:nvPr/>
        </p:nvSpPr>
        <p:spPr>
          <a:xfrm>
            <a:off x="5938912" y="4358694"/>
            <a:ext cx="2884713" cy="1762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spcBef>
                <a:spcPts val="162"/>
              </a:spcBef>
              <a:buNone/>
            </a:pPr>
            <a:r>
              <a:rPr lang="en-US" sz="1040" dirty="0">
                <a:solidFill>
                  <a:srgbClr val="7BB8C5"/>
                </a:solidFill>
                <a:latin typeface="Times New Roman" panose="02020603050405020304" pitchFamily="18" charset="0"/>
                <a:ea typeface="IBM Plex Sans" pitchFamily="34" charset="-122"/>
                <a:cs typeface="Times New Roman" panose="02020603050405020304" pitchFamily="18" charset="0"/>
              </a:rPr>
              <a:t>Used as the retrieval source for RAG.</a:t>
            </a:r>
            <a:endParaRPr lang="en-US" sz="104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88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11559" y="-750279"/>
            <a:ext cx="8120062" cy="1281112"/>
          </a:xfrm>
          <a:prstGeom prst="rect">
            <a:avLst/>
          </a:prstGeom>
        </p:spPr>
      </p:pic>
      <p:pic>
        <p:nvPicPr>
          <p:cNvPr id="89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48549" y="1405735"/>
            <a:ext cx="2452688" cy="1371600"/>
          </a:xfrm>
          <a:prstGeom prst="rect">
            <a:avLst/>
          </a:prstGeom>
        </p:spPr>
      </p:pic>
      <p:pic>
        <p:nvPicPr>
          <p:cNvPr id="90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54843" y="3918376"/>
            <a:ext cx="2552700" cy="1133475"/>
          </a:xfrm>
          <a:prstGeom prst="rect">
            <a:avLst/>
          </a:prstGeom>
        </p:spPr>
      </p:pic>
      <p:pic>
        <p:nvPicPr>
          <p:cNvPr id="91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3181907" y="3923882"/>
            <a:ext cx="2552700" cy="1133475"/>
          </a:xfrm>
          <a:prstGeom prst="rect">
            <a:avLst/>
          </a:prstGeom>
        </p:spPr>
      </p:pic>
      <p:pic>
        <p:nvPicPr>
          <p:cNvPr id="92" name="Image 5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5909376" y="3918376"/>
            <a:ext cx="2552700" cy="1133475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9219" y="191911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7133295" y="-1079"/>
            <a:ext cx="2009775" cy="38100"/>
          </a:xfrm>
          <a:prstGeom prst="rect">
            <a:avLst/>
          </a:prstGeom>
          <a:solidFill>
            <a:srgbClr val="7BB8C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Shape 1"/>
          <p:cNvSpPr/>
          <p:nvPr/>
        </p:nvSpPr>
        <p:spPr>
          <a:xfrm>
            <a:off x="511969" y="214908"/>
            <a:ext cx="8120062" cy="1019175"/>
          </a:xfrm>
          <a:prstGeom prst="rect">
            <a:avLst/>
          </a:prstGeom>
          <a:ln/>
        </p:spPr>
        <p:txBody>
          <a:bodyPr/>
          <a:lstStyle/>
          <a:p>
            <a:endParaRPr lang="en-IN"/>
          </a:p>
        </p:txBody>
      </p:sp>
      <p:sp>
        <p:nvSpPr>
          <p:cNvPr id="6" name="Text 3"/>
          <p:cNvSpPr/>
          <p:nvPr/>
        </p:nvSpPr>
        <p:spPr>
          <a:xfrm>
            <a:off x="511969" y="122671"/>
            <a:ext cx="9264893" cy="4048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200" b="1" kern="0" spc="-86" dirty="0">
                <a:solidFill>
                  <a:srgbClr val="F2F5F2"/>
                </a:solidFill>
                <a:latin typeface="Times New Roman" panose="02020603050405020304" pitchFamily="18" charset="0"/>
                <a:ea typeface="IBM Plex Sans" pitchFamily="34" charset="-122"/>
                <a:cs typeface="Times New Roman" panose="02020603050405020304" pitchFamily="18" charset="0"/>
              </a:rPr>
              <a:t>Technical Approach &amp; Expected Outcomes</a:t>
            </a: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Shape 6"/>
          <p:cNvSpPr/>
          <p:nvPr/>
        </p:nvSpPr>
        <p:spPr>
          <a:xfrm>
            <a:off x="512266" y="612967"/>
            <a:ext cx="8227874" cy="1114425"/>
          </a:xfrm>
          <a:prstGeom prst="rect">
            <a:avLst/>
          </a:prstGeom>
          <a:solidFill>
            <a:srgbClr val="14263A">
              <a:alpha val="50196"/>
            </a:srgbClr>
          </a:solidFill>
          <a:ln w="4763">
            <a:solidFill>
              <a:srgbClr val="2C435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Text 7"/>
          <p:cNvSpPr/>
          <p:nvPr/>
        </p:nvSpPr>
        <p:spPr>
          <a:xfrm>
            <a:off x="568139" y="642998"/>
            <a:ext cx="2540809" cy="1809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80" b="1" kern="0" spc="173" dirty="0">
                <a:solidFill>
                  <a:srgbClr val="7BB8C5"/>
                </a:solidFill>
                <a:latin typeface="Times New Roman" panose="02020603050405020304" pitchFamily="18" charset="0"/>
                <a:ea typeface="IBM Plex Sans" pitchFamily="34" charset="-122"/>
                <a:cs typeface="Times New Roman" panose="02020603050405020304" pitchFamily="18" charset="0"/>
              </a:rPr>
              <a:t>TECHNICAL APPROACH</a:t>
            </a:r>
            <a:endParaRPr lang="en-US" sz="108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Shape 9"/>
          <p:cNvSpPr/>
          <p:nvPr/>
        </p:nvSpPr>
        <p:spPr>
          <a:xfrm>
            <a:off x="568139" y="835372"/>
            <a:ext cx="1066800" cy="657225"/>
          </a:xfrm>
          <a:prstGeom prst="rect">
            <a:avLst/>
          </a:prstGeom>
          <a:solidFill>
            <a:srgbClr val="172A40"/>
          </a:solidFill>
          <a:ln w="4763">
            <a:solidFill>
              <a:srgbClr val="2C435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10"/>
          <p:cNvSpPr/>
          <p:nvPr/>
        </p:nvSpPr>
        <p:spPr>
          <a:xfrm>
            <a:off x="654509" y="899913"/>
            <a:ext cx="242597" cy="1571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spcAft>
                <a:spcPts val="284"/>
              </a:spcAft>
              <a:buNone/>
            </a:pPr>
            <a:r>
              <a:rPr lang="en-US" sz="940" b="1" dirty="0">
                <a:solidFill>
                  <a:srgbClr val="7BB8C5"/>
                </a:solidFill>
                <a:latin typeface="Times New Roman" panose="02020603050405020304" pitchFamily="18" charset="0"/>
                <a:ea typeface="IBM Plex Sans" pitchFamily="34" charset="-122"/>
                <a:cs typeface="Times New Roman" panose="02020603050405020304" pitchFamily="18" charset="0"/>
              </a:rPr>
              <a:t>01</a:t>
            </a:r>
            <a:endParaRPr lang="en-US" sz="94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Text 11"/>
          <p:cNvSpPr/>
          <p:nvPr/>
        </p:nvSpPr>
        <p:spPr>
          <a:xfrm>
            <a:off x="664528" y="1053912"/>
            <a:ext cx="1006346" cy="18573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120" b="1" dirty="0">
                <a:solidFill>
                  <a:srgbClr val="F2F5F2"/>
                </a:solidFill>
                <a:latin typeface="Times New Roman" panose="02020603050405020304" pitchFamily="18" charset="0"/>
                <a:ea typeface="IBM Plex Sans" pitchFamily="34" charset="-122"/>
                <a:cs typeface="Times New Roman" panose="02020603050405020304" pitchFamily="18" charset="0"/>
              </a:rPr>
              <a:t>Power Grid</a:t>
            </a:r>
            <a:endParaRPr lang="en-US" sz="112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Text 12"/>
          <p:cNvSpPr/>
          <p:nvPr/>
        </p:nvSpPr>
        <p:spPr>
          <a:xfrm>
            <a:off x="654925" y="1203260"/>
            <a:ext cx="458130" cy="18573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120" b="1" dirty="0">
                <a:solidFill>
                  <a:srgbClr val="F2F5F2"/>
                </a:solidFill>
                <a:latin typeface="Times New Roman" panose="02020603050405020304" pitchFamily="18" charset="0"/>
                <a:ea typeface="IBM Plex Sans" pitchFamily="34" charset="-122"/>
                <a:cs typeface="Times New Roman" panose="02020603050405020304" pitchFamily="18" charset="0"/>
              </a:rPr>
              <a:t>Data</a:t>
            </a:r>
            <a:endParaRPr lang="en-US" sz="112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Shape 13"/>
          <p:cNvSpPr/>
          <p:nvPr/>
        </p:nvSpPr>
        <p:spPr>
          <a:xfrm>
            <a:off x="1728188" y="843112"/>
            <a:ext cx="1066800" cy="657225"/>
          </a:xfrm>
          <a:prstGeom prst="rect">
            <a:avLst/>
          </a:prstGeom>
          <a:solidFill>
            <a:srgbClr val="172A40"/>
          </a:solidFill>
          <a:ln w="4763">
            <a:solidFill>
              <a:srgbClr val="2C435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Text 14"/>
          <p:cNvSpPr/>
          <p:nvPr/>
        </p:nvSpPr>
        <p:spPr>
          <a:xfrm>
            <a:off x="1810639" y="899913"/>
            <a:ext cx="242597" cy="1571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spcAft>
                <a:spcPts val="284"/>
              </a:spcAft>
              <a:buNone/>
            </a:pPr>
            <a:r>
              <a:rPr lang="en-US" sz="940" b="1" dirty="0">
                <a:solidFill>
                  <a:srgbClr val="7BB8C5"/>
                </a:solidFill>
                <a:latin typeface="Times New Roman" panose="02020603050405020304" pitchFamily="18" charset="0"/>
                <a:ea typeface="IBM Plex Sans" pitchFamily="34" charset="-122"/>
                <a:cs typeface="Times New Roman" panose="02020603050405020304" pitchFamily="18" charset="0"/>
              </a:rPr>
              <a:t>02</a:t>
            </a:r>
            <a:endParaRPr lang="en-US" sz="94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Text 15"/>
          <p:cNvSpPr/>
          <p:nvPr/>
        </p:nvSpPr>
        <p:spPr>
          <a:xfrm>
            <a:off x="1807096" y="1040147"/>
            <a:ext cx="458130" cy="18573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120" b="1" dirty="0">
                <a:solidFill>
                  <a:srgbClr val="F2F5F2"/>
                </a:solidFill>
                <a:latin typeface="Times New Roman" panose="02020603050405020304" pitchFamily="18" charset="0"/>
                <a:ea typeface="IBM Plex Sans" pitchFamily="34" charset="-122"/>
                <a:cs typeface="Times New Roman" panose="02020603050405020304" pitchFamily="18" charset="0"/>
              </a:rPr>
              <a:t>Data</a:t>
            </a:r>
            <a:endParaRPr lang="en-US" sz="112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Text 16"/>
          <p:cNvSpPr/>
          <p:nvPr/>
        </p:nvSpPr>
        <p:spPr>
          <a:xfrm>
            <a:off x="1814095" y="1171245"/>
            <a:ext cx="1072612" cy="18573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120" b="1" dirty="0">
                <a:solidFill>
                  <a:srgbClr val="F2F5F2"/>
                </a:solidFill>
                <a:latin typeface="Times New Roman" panose="02020603050405020304" pitchFamily="18" charset="0"/>
                <a:ea typeface="IBM Plex Sans" pitchFamily="34" charset="-122"/>
                <a:cs typeface="Times New Roman" panose="02020603050405020304" pitchFamily="18" charset="0"/>
              </a:rPr>
              <a:t>Engineering</a:t>
            </a:r>
            <a:endParaRPr lang="en-US" sz="112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Shape 17"/>
          <p:cNvSpPr/>
          <p:nvPr/>
        </p:nvSpPr>
        <p:spPr>
          <a:xfrm>
            <a:off x="2896187" y="841639"/>
            <a:ext cx="1066800" cy="657225"/>
          </a:xfrm>
          <a:prstGeom prst="rect">
            <a:avLst/>
          </a:prstGeom>
          <a:solidFill>
            <a:srgbClr val="172A40"/>
          </a:solidFill>
          <a:ln w="4763">
            <a:solidFill>
              <a:srgbClr val="2C435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Text 18"/>
          <p:cNvSpPr/>
          <p:nvPr/>
        </p:nvSpPr>
        <p:spPr>
          <a:xfrm>
            <a:off x="2972369" y="892596"/>
            <a:ext cx="242597" cy="1571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spcAft>
                <a:spcPts val="284"/>
              </a:spcAft>
              <a:buNone/>
            </a:pPr>
            <a:r>
              <a:rPr lang="en-US" sz="940" b="1" dirty="0">
                <a:solidFill>
                  <a:srgbClr val="7BB8C5"/>
                </a:solidFill>
                <a:latin typeface="Times New Roman" panose="02020603050405020304" pitchFamily="18" charset="0"/>
                <a:ea typeface="IBM Plex Sans" pitchFamily="34" charset="-122"/>
                <a:cs typeface="Times New Roman" panose="02020603050405020304" pitchFamily="18" charset="0"/>
              </a:rPr>
              <a:t>03</a:t>
            </a:r>
            <a:endParaRPr lang="en-US" sz="94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" name="Text 19"/>
          <p:cNvSpPr/>
          <p:nvPr/>
        </p:nvSpPr>
        <p:spPr>
          <a:xfrm>
            <a:off x="2960574" y="1040147"/>
            <a:ext cx="808806" cy="18573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120" b="1" dirty="0">
                <a:solidFill>
                  <a:srgbClr val="F2F5F2"/>
                </a:solidFill>
                <a:latin typeface="Times New Roman" panose="02020603050405020304" pitchFamily="18" charset="0"/>
                <a:ea typeface="IBM Plex Sans" pitchFamily="34" charset="-122"/>
                <a:cs typeface="Times New Roman" panose="02020603050405020304" pitchFamily="18" charset="0"/>
              </a:rPr>
              <a:t>Anomaly</a:t>
            </a:r>
            <a:endParaRPr lang="en-US" sz="112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Text 20"/>
          <p:cNvSpPr/>
          <p:nvPr/>
        </p:nvSpPr>
        <p:spPr>
          <a:xfrm>
            <a:off x="2963893" y="1181269"/>
            <a:ext cx="883875" cy="18573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120" b="1" dirty="0">
                <a:solidFill>
                  <a:srgbClr val="F2F5F2"/>
                </a:solidFill>
                <a:latin typeface="Times New Roman" panose="02020603050405020304" pitchFamily="18" charset="0"/>
                <a:ea typeface="IBM Plex Sans" pitchFamily="34" charset="-122"/>
                <a:cs typeface="Times New Roman" panose="02020603050405020304" pitchFamily="18" charset="0"/>
              </a:rPr>
              <a:t>Detection</a:t>
            </a:r>
            <a:endParaRPr lang="en-US" sz="112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" name="Shape 21"/>
          <p:cNvSpPr/>
          <p:nvPr/>
        </p:nvSpPr>
        <p:spPr>
          <a:xfrm>
            <a:off x="4077615" y="839973"/>
            <a:ext cx="1066800" cy="657225"/>
          </a:xfrm>
          <a:prstGeom prst="rect">
            <a:avLst/>
          </a:prstGeom>
          <a:solidFill>
            <a:srgbClr val="172A40"/>
          </a:solidFill>
          <a:ln w="4763">
            <a:solidFill>
              <a:srgbClr val="2C435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5" name="Text 22"/>
          <p:cNvSpPr/>
          <p:nvPr/>
        </p:nvSpPr>
        <p:spPr>
          <a:xfrm>
            <a:off x="4145309" y="892596"/>
            <a:ext cx="242597" cy="1571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spcAft>
                <a:spcPts val="284"/>
              </a:spcAft>
              <a:buNone/>
            </a:pPr>
            <a:r>
              <a:rPr lang="en-US" sz="940" b="1" dirty="0">
                <a:solidFill>
                  <a:srgbClr val="7BB8C5"/>
                </a:solidFill>
                <a:latin typeface="Times New Roman" panose="02020603050405020304" pitchFamily="18" charset="0"/>
                <a:ea typeface="IBM Plex Sans" pitchFamily="34" charset="-122"/>
                <a:cs typeface="Times New Roman" panose="02020603050405020304" pitchFamily="18" charset="0"/>
              </a:rPr>
              <a:t>04</a:t>
            </a:r>
            <a:endParaRPr lang="en-US" sz="94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6" name="Text 23"/>
          <p:cNvSpPr/>
          <p:nvPr/>
        </p:nvSpPr>
        <p:spPr>
          <a:xfrm>
            <a:off x="4131199" y="1040147"/>
            <a:ext cx="979646" cy="18573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120" b="1" dirty="0">
                <a:solidFill>
                  <a:srgbClr val="F2F5F2"/>
                </a:solidFill>
                <a:latin typeface="Times New Roman" panose="02020603050405020304" pitchFamily="18" charset="0"/>
                <a:ea typeface="IBM Plex Sans" pitchFamily="34" charset="-122"/>
                <a:cs typeface="Times New Roman" panose="02020603050405020304" pitchFamily="18" charset="0"/>
              </a:rPr>
              <a:t>Topology +</a:t>
            </a:r>
            <a:endParaRPr lang="en-US" sz="112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7" name="Text 24"/>
          <p:cNvSpPr/>
          <p:nvPr/>
        </p:nvSpPr>
        <p:spPr>
          <a:xfrm>
            <a:off x="4136880" y="1157064"/>
            <a:ext cx="1164320" cy="18573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120" b="1" dirty="0">
                <a:solidFill>
                  <a:srgbClr val="F2F5F2"/>
                </a:solidFill>
                <a:latin typeface="Times New Roman" panose="02020603050405020304" pitchFamily="18" charset="0"/>
                <a:ea typeface="IBM Plex Sans" pitchFamily="34" charset="-122"/>
                <a:cs typeface="Times New Roman" panose="02020603050405020304" pitchFamily="18" charset="0"/>
              </a:rPr>
              <a:t>Data Lineage</a:t>
            </a:r>
            <a:endParaRPr lang="en-US" sz="112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8" name="Shape 25"/>
          <p:cNvSpPr/>
          <p:nvPr/>
        </p:nvSpPr>
        <p:spPr>
          <a:xfrm>
            <a:off x="5237664" y="833587"/>
            <a:ext cx="1066800" cy="657225"/>
          </a:xfrm>
          <a:prstGeom prst="rect">
            <a:avLst/>
          </a:prstGeom>
          <a:solidFill>
            <a:srgbClr val="182E3B"/>
          </a:solidFill>
          <a:ln w="4763">
            <a:solidFill>
              <a:srgbClr val="7BB7C5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9" name="Text 26"/>
          <p:cNvSpPr/>
          <p:nvPr/>
        </p:nvSpPr>
        <p:spPr>
          <a:xfrm>
            <a:off x="5288972" y="885879"/>
            <a:ext cx="242597" cy="1571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spcAft>
                <a:spcPts val="284"/>
              </a:spcAft>
              <a:buNone/>
            </a:pPr>
            <a:r>
              <a:rPr lang="en-US" sz="940" b="1" dirty="0">
                <a:solidFill>
                  <a:srgbClr val="7BB8C5"/>
                </a:solidFill>
                <a:latin typeface="Times New Roman" panose="02020603050405020304" pitchFamily="18" charset="0"/>
                <a:ea typeface="IBM Plex Sans" pitchFamily="34" charset="-122"/>
                <a:cs typeface="Times New Roman" panose="02020603050405020304" pitchFamily="18" charset="0"/>
              </a:rPr>
              <a:t>05</a:t>
            </a:r>
            <a:endParaRPr lang="en-US" sz="94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0" name="Text 27"/>
          <p:cNvSpPr/>
          <p:nvPr/>
        </p:nvSpPr>
        <p:spPr>
          <a:xfrm>
            <a:off x="5294909" y="1033380"/>
            <a:ext cx="1046202" cy="18573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120" b="1" dirty="0">
                <a:solidFill>
                  <a:srgbClr val="F2F5F2"/>
                </a:solidFill>
                <a:latin typeface="Times New Roman" panose="02020603050405020304" pitchFamily="18" charset="0"/>
                <a:ea typeface="IBM Plex Sans" pitchFamily="34" charset="-122"/>
                <a:cs typeface="Times New Roman" panose="02020603050405020304" pitchFamily="18" charset="0"/>
              </a:rPr>
              <a:t>RAG</a:t>
            </a:r>
            <a:endParaRPr lang="en-US" sz="112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1" name="Shape 28"/>
          <p:cNvSpPr/>
          <p:nvPr/>
        </p:nvSpPr>
        <p:spPr>
          <a:xfrm>
            <a:off x="6381170" y="823512"/>
            <a:ext cx="1066800" cy="657225"/>
          </a:xfrm>
          <a:prstGeom prst="rect">
            <a:avLst/>
          </a:prstGeom>
          <a:solidFill>
            <a:srgbClr val="182E3B"/>
          </a:solidFill>
          <a:ln w="4763">
            <a:solidFill>
              <a:srgbClr val="7BB7C5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2" name="Text 29"/>
          <p:cNvSpPr/>
          <p:nvPr/>
        </p:nvSpPr>
        <p:spPr>
          <a:xfrm>
            <a:off x="6448314" y="863892"/>
            <a:ext cx="242597" cy="1571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spcAft>
                <a:spcPts val="284"/>
              </a:spcAft>
              <a:buNone/>
            </a:pPr>
            <a:r>
              <a:rPr lang="en-US" sz="940" b="1" dirty="0">
                <a:solidFill>
                  <a:srgbClr val="7BB8C5"/>
                </a:solidFill>
                <a:latin typeface="Times New Roman" panose="02020603050405020304" pitchFamily="18" charset="0"/>
                <a:ea typeface="IBM Plex Sans" pitchFamily="34" charset="-122"/>
                <a:cs typeface="Times New Roman" panose="02020603050405020304" pitchFamily="18" charset="0"/>
              </a:rPr>
              <a:t>06</a:t>
            </a:r>
            <a:endParaRPr lang="en-US" sz="94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3" name="Text 30"/>
          <p:cNvSpPr/>
          <p:nvPr/>
        </p:nvSpPr>
        <p:spPr>
          <a:xfrm>
            <a:off x="6441866" y="1017334"/>
            <a:ext cx="1050846" cy="18573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120" b="1" dirty="0">
                <a:solidFill>
                  <a:srgbClr val="F2F5F2"/>
                </a:solidFill>
                <a:latin typeface="Times New Roman" panose="02020603050405020304" pitchFamily="18" charset="0"/>
                <a:ea typeface="IBM Plex Sans" pitchFamily="34" charset="-122"/>
                <a:cs typeface="Times New Roman" panose="02020603050405020304" pitchFamily="18" charset="0"/>
              </a:rPr>
              <a:t>Root-Cause</a:t>
            </a:r>
            <a:endParaRPr lang="en-US" sz="112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4" name="Text 31"/>
          <p:cNvSpPr/>
          <p:nvPr/>
        </p:nvSpPr>
        <p:spPr>
          <a:xfrm>
            <a:off x="6450636" y="1157064"/>
            <a:ext cx="1183474" cy="18573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120" b="1" dirty="0">
                <a:solidFill>
                  <a:srgbClr val="F2F5F2"/>
                </a:solidFill>
                <a:latin typeface="Times New Roman" panose="02020603050405020304" pitchFamily="18" charset="0"/>
                <a:ea typeface="IBM Plex Sans" pitchFamily="34" charset="-122"/>
                <a:cs typeface="Times New Roman" panose="02020603050405020304" pitchFamily="18" charset="0"/>
              </a:rPr>
              <a:t>Investigation</a:t>
            </a:r>
            <a:endParaRPr lang="en-US" sz="112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5" name="Shape 32"/>
          <p:cNvSpPr/>
          <p:nvPr/>
        </p:nvSpPr>
        <p:spPr>
          <a:xfrm>
            <a:off x="7534729" y="823973"/>
            <a:ext cx="1111411" cy="657225"/>
          </a:xfrm>
          <a:prstGeom prst="rect">
            <a:avLst/>
          </a:prstGeom>
          <a:solidFill>
            <a:srgbClr val="182E3B"/>
          </a:solidFill>
          <a:ln w="4763">
            <a:solidFill>
              <a:srgbClr val="7BB7C5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6" name="Text 33"/>
          <p:cNvSpPr/>
          <p:nvPr/>
        </p:nvSpPr>
        <p:spPr>
          <a:xfrm>
            <a:off x="7620673" y="863891"/>
            <a:ext cx="242597" cy="1571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spcAft>
                <a:spcPts val="284"/>
              </a:spcAft>
              <a:buNone/>
            </a:pPr>
            <a:r>
              <a:rPr lang="en-US" sz="940" b="1" dirty="0">
                <a:solidFill>
                  <a:srgbClr val="7BB8C5"/>
                </a:solidFill>
                <a:latin typeface="Times New Roman" panose="02020603050405020304" pitchFamily="18" charset="0"/>
                <a:ea typeface="IBM Plex Sans" pitchFamily="34" charset="-122"/>
                <a:cs typeface="Times New Roman" panose="02020603050405020304" pitchFamily="18" charset="0"/>
              </a:rPr>
              <a:t>07</a:t>
            </a:r>
            <a:endParaRPr lang="en-US" sz="94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7" name="Text 34"/>
          <p:cNvSpPr/>
          <p:nvPr/>
        </p:nvSpPr>
        <p:spPr>
          <a:xfrm>
            <a:off x="7559856" y="1017334"/>
            <a:ext cx="1559205" cy="18573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120" b="1" dirty="0">
                <a:solidFill>
                  <a:srgbClr val="F2F5F2"/>
                </a:solidFill>
                <a:latin typeface="Times New Roman" panose="02020603050405020304" pitchFamily="18" charset="0"/>
                <a:ea typeface="IBM Plex Sans" pitchFamily="34" charset="-122"/>
                <a:cs typeface="Times New Roman" panose="02020603050405020304" pitchFamily="18" charset="0"/>
              </a:rPr>
              <a:t>Recommendation</a:t>
            </a:r>
            <a:endParaRPr lang="en-US" sz="112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8" name="Shape 35"/>
          <p:cNvSpPr/>
          <p:nvPr/>
        </p:nvSpPr>
        <p:spPr>
          <a:xfrm>
            <a:off x="505252" y="1862310"/>
            <a:ext cx="4891088" cy="2395311"/>
          </a:xfrm>
          <a:prstGeom prst="rect">
            <a:avLst/>
          </a:prstGeom>
          <a:solidFill>
            <a:srgbClr val="14263A">
              <a:alpha val="45098"/>
            </a:srgbClr>
          </a:solidFill>
          <a:ln w="4763">
            <a:solidFill>
              <a:srgbClr val="2C435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9" name="Text 36"/>
          <p:cNvSpPr/>
          <p:nvPr/>
        </p:nvSpPr>
        <p:spPr>
          <a:xfrm>
            <a:off x="606042" y="1965037"/>
            <a:ext cx="2057794" cy="1809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spcAft>
                <a:spcPts val="486"/>
              </a:spcAft>
              <a:buNone/>
            </a:pPr>
            <a:r>
              <a:rPr lang="en-US" sz="1080" b="1" kern="0" spc="173" dirty="0">
                <a:solidFill>
                  <a:srgbClr val="7BB8C5"/>
                </a:solidFill>
                <a:latin typeface="Times New Roman" panose="02020603050405020304" pitchFamily="18" charset="0"/>
                <a:ea typeface="IBM Plex Sans" pitchFamily="34" charset="-122"/>
                <a:cs typeface="Times New Roman" panose="02020603050405020304" pitchFamily="18" charset="0"/>
              </a:rPr>
              <a:t>TECHNICAL STACK</a:t>
            </a:r>
            <a:endParaRPr lang="en-US" sz="108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0" name="Shape 37"/>
          <p:cNvSpPr/>
          <p:nvPr/>
        </p:nvSpPr>
        <p:spPr>
          <a:xfrm>
            <a:off x="654509" y="2943858"/>
            <a:ext cx="2247900" cy="733425"/>
          </a:xfrm>
          <a:prstGeom prst="rect">
            <a:avLst/>
          </a:prstGeom>
          <a:ln/>
        </p:spPr>
        <p:txBody>
          <a:bodyPr/>
          <a:lstStyle/>
          <a:p>
            <a:endParaRPr lang="en-IN"/>
          </a:p>
        </p:txBody>
      </p:sp>
      <p:sp>
        <p:nvSpPr>
          <p:cNvPr id="41" name="Text 38"/>
          <p:cNvSpPr/>
          <p:nvPr/>
        </p:nvSpPr>
        <p:spPr>
          <a:xfrm>
            <a:off x="627009" y="2281742"/>
            <a:ext cx="1470303" cy="1809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80" b="1" dirty="0">
                <a:solidFill>
                  <a:srgbClr val="F2F5F2"/>
                </a:solidFill>
                <a:latin typeface="Times New Roman" panose="02020603050405020304" pitchFamily="18" charset="0"/>
                <a:ea typeface="IBM Plex Sans" pitchFamily="34" charset="-122"/>
                <a:cs typeface="Times New Roman" panose="02020603050405020304" pitchFamily="18" charset="0"/>
              </a:rPr>
              <a:t>Data Engineering</a:t>
            </a:r>
            <a:endParaRPr lang="en-US" sz="108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2" name="Text 39"/>
          <p:cNvSpPr/>
          <p:nvPr/>
        </p:nvSpPr>
        <p:spPr>
          <a:xfrm>
            <a:off x="620679" y="2442366"/>
            <a:ext cx="1910172" cy="4051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28"/>
              </a:lnSpc>
              <a:buNone/>
            </a:pPr>
            <a:r>
              <a:rPr lang="en-US" sz="1150" dirty="0">
                <a:solidFill>
                  <a:srgbClr val="9AABBB"/>
                </a:solidFill>
                <a:latin typeface="Times New Roman" panose="02020603050405020304" pitchFamily="18" charset="0"/>
                <a:ea typeface="IBM Plex Sans" pitchFamily="34" charset="-122"/>
                <a:cs typeface="Times New Roman" panose="02020603050405020304" pitchFamily="18" charset="0"/>
              </a:rPr>
              <a:t>Python | PostgreSQL</a:t>
            </a:r>
            <a:endParaRPr lang="en-US" sz="11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3" name="Shape 40"/>
          <p:cNvSpPr/>
          <p:nvPr/>
        </p:nvSpPr>
        <p:spPr>
          <a:xfrm>
            <a:off x="3013211" y="2943858"/>
            <a:ext cx="2247900" cy="733425"/>
          </a:xfrm>
          <a:prstGeom prst="rect">
            <a:avLst/>
          </a:prstGeom>
          <a:ln/>
        </p:spPr>
        <p:txBody>
          <a:bodyPr/>
          <a:lstStyle/>
          <a:p>
            <a:endParaRPr lang="en-IN"/>
          </a:p>
        </p:txBody>
      </p:sp>
      <p:sp>
        <p:nvSpPr>
          <p:cNvPr id="44" name="Text 41"/>
          <p:cNvSpPr/>
          <p:nvPr/>
        </p:nvSpPr>
        <p:spPr>
          <a:xfrm>
            <a:off x="2998284" y="2281742"/>
            <a:ext cx="2027612" cy="1809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80" b="1" dirty="0">
                <a:solidFill>
                  <a:srgbClr val="F2F5F2"/>
                </a:solidFill>
                <a:latin typeface="Times New Roman" panose="02020603050405020304" pitchFamily="18" charset="0"/>
                <a:ea typeface="IBM Plex Sans" pitchFamily="34" charset="-122"/>
                <a:cs typeface="Times New Roman" panose="02020603050405020304" pitchFamily="18" charset="0"/>
              </a:rPr>
              <a:t>ML / Anomaly Detection</a:t>
            </a:r>
            <a:endParaRPr lang="en-US" sz="108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5" name="Text 42"/>
          <p:cNvSpPr/>
          <p:nvPr/>
        </p:nvSpPr>
        <p:spPr>
          <a:xfrm>
            <a:off x="2991658" y="2462696"/>
            <a:ext cx="2734479" cy="4051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28"/>
              </a:lnSpc>
              <a:buNone/>
            </a:pPr>
            <a:r>
              <a:rPr lang="en-US" sz="1150" dirty="0">
                <a:solidFill>
                  <a:srgbClr val="9AABBB"/>
                </a:solidFill>
                <a:latin typeface="Times New Roman" panose="02020603050405020304" pitchFamily="18" charset="0"/>
                <a:ea typeface="IBM Plex Sans" pitchFamily="34" charset="-122"/>
                <a:cs typeface="Times New Roman" panose="02020603050405020304" pitchFamily="18" charset="0"/>
              </a:rPr>
              <a:t>Machine Learning | </a:t>
            </a:r>
          </a:p>
          <a:p>
            <a:pPr marL="0" indent="0" algn="l">
              <a:lnSpc>
                <a:spcPts val="1728"/>
              </a:lnSpc>
              <a:buNone/>
            </a:pPr>
            <a:r>
              <a:rPr lang="en-US" sz="1150" dirty="0">
                <a:solidFill>
                  <a:srgbClr val="9AABBB"/>
                </a:solidFill>
                <a:latin typeface="Times New Roman" panose="02020603050405020304" pitchFamily="18" charset="0"/>
                <a:ea typeface="IBM Plex Sans" pitchFamily="34" charset="-122"/>
                <a:cs typeface="Times New Roman" panose="02020603050405020304" pitchFamily="18" charset="0"/>
              </a:rPr>
              <a:t>Time-Series</a:t>
            </a:r>
            <a:r>
              <a:rPr lang="en-US" sz="11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150" dirty="0">
                <a:solidFill>
                  <a:srgbClr val="9AABBB"/>
                </a:solidFill>
                <a:latin typeface="Times New Roman" panose="02020603050405020304" pitchFamily="18" charset="0"/>
                <a:ea typeface="IBM Plex Sans" pitchFamily="34" charset="-122"/>
                <a:cs typeface="Times New Roman" panose="02020603050405020304" pitchFamily="18" charset="0"/>
              </a:rPr>
              <a:t>Analysis</a:t>
            </a:r>
            <a:endParaRPr lang="en-US" sz="11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6" name="Shape 43"/>
          <p:cNvSpPr/>
          <p:nvPr/>
        </p:nvSpPr>
        <p:spPr>
          <a:xfrm>
            <a:off x="654509" y="3734507"/>
            <a:ext cx="2247900" cy="733425"/>
          </a:xfrm>
          <a:prstGeom prst="rect">
            <a:avLst/>
          </a:prstGeom>
          <a:ln/>
        </p:spPr>
        <p:txBody>
          <a:bodyPr/>
          <a:lstStyle/>
          <a:p>
            <a:endParaRPr lang="en-IN"/>
          </a:p>
        </p:txBody>
      </p:sp>
      <p:sp>
        <p:nvSpPr>
          <p:cNvPr id="47" name="Text 44"/>
          <p:cNvSpPr/>
          <p:nvPr/>
        </p:nvSpPr>
        <p:spPr>
          <a:xfrm>
            <a:off x="627009" y="3015167"/>
            <a:ext cx="1416420" cy="1809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80" b="1" dirty="0">
                <a:solidFill>
                  <a:srgbClr val="F2F5F2"/>
                </a:solidFill>
                <a:latin typeface="Times New Roman" panose="02020603050405020304" pitchFamily="18" charset="0"/>
                <a:ea typeface="IBM Plex Sans" pitchFamily="34" charset="-122"/>
                <a:cs typeface="Times New Roman" panose="02020603050405020304" pitchFamily="18" charset="0"/>
              </a:rPr>
              <a:t>Graph &amp; Lineage</a:t>
            </a:r>
            <a:endParaRPr lang="en-US" sz="108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8" name="Text 45"/>
          <p:cNvSpPr/>
          <p:nvPr/>
        </p:nvSpPr>
        <p:spPr>
          <a:xfrm>
            <a:off x="646780" y="3204083"/>
            <a:ext cx="2439717" cy="4051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28"/>
              </a:lnSpc>
              <a:buNone/>
            </a:pPr>
            <a:r>
              <a:rPr lang="en-US" sz="1150" dirty="0">
                <a:solidFill>
                  <a:srgbClr val="9AABBB"/>
                </a:solidFill>
                <a:latin typeface="Times New Roman" panose="02020603050405020304" pitchFamily="18" charset="0"/>
                <a:ea typeface="IBM Plex Sans" pitchFamily="34" charset="-122"/>
                <a:cs typeface="Times New Roman" panose="02020603050405020304" pitchFamily="18" charset="0"/>
              </a:rPr>
              <a:t> Grid Topology |  Data</a:t>
            </a:r>
            <a:r>
              <a:rPr lang="en-US" sz="11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150" dirty="0">
                <a:solidFill>
                  <a:srgbClr val="9AABBB"/>
                </a:solidFill>
                <a:latin typeface="Times New Roman" panose="02020603050405020304" pitchFamily="18" charset="0"/>
                <a:ea typeface="IBM Plex Sans" pitchFamily="34" charset="-122"/>
                <a:cs typeface="Times New Roman" panose="02020603050405020304" pitchFamily="18" charset="0"/>
              </a:rPr>
              <a:t>Lineage</a:t>
            </a:r>
            <a:endParaRPr lang="en-US" sz="11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9" name="Shape 46"/>
          <p:cNvSpPr/>
          <p:nvPr/>
        </p:nvSpPr>
        <p:spPr>
          <a:xfrm>
            <a:off x="3013211" y="3734507"/>
            <a:ext cx="2247900" cy="733425"/>
          </a:xfrm>
          <a:prstGeom prst="rect">
            <a:avLst/>
          </a:prstGeom>
          <a:ln/>
        </p:spPr>
        <p:txBody>
          <a:bodyPr/>
          <a:lstStyle/>
          <a:p>
            <a:endParaRPr lang="en-IN"/>
          </a:p>
        </p:txBody>
      </p:sp>
      <p:sp>
        <p:nvSpPr>
          <p:cNvPr id="50" name="Text 47"/>
          <p:cNvSpPr/>
          <p:nvPr/>
        </p:nvSpPr>
        <p:spPr>
          <a:xfrm>
            <a:off x="3041445" y="3034964"/>
            <a:ext cx="775045" cy="1809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80" b="1" dirty="0">
                <a:solidFill>
                  <a:srgbClr val="F2F5F2"/>
                </a:solidFill>
                <a:latin typeface="Times New Roman" panose="02020603050405020304" pitchFamily="18" charset="0"/>
                <a:ea typeface="IBM Plex Sans" pitchFamily="34" charset="-122"/>
                <a:cs typeface="Times New Roman" panose="02020603050405020304" pitchFamily="18" charset="0"/>
              </a:rPr>
              <a:t>RAG / AI</a:t>
            </a:r>
            <a:endParaRPr lang="en-US" sz="108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1" name="Text 48"/>
          <p:cNvSpPr/>
          <p:nvPr/>
        </p:nvSpPr>
        <p:spPr>
          <a:xfrm>
            <a:off x="3004019" y="3194768"/>
            <a:ext cx="2978066" cy="4051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28"/>
              </a:lnSpc>
              <a:buNone/>
            </a:pPr>
            <a:r>
              <a:rPr lang="en-US" sz="1150" dirty="0">
                <a:solidFill>
                  <a:srgbClr val="9AABBB"/>
                </a:solidFill>
                <a:latin typeface="Times New Roman" panose="02020603050405020304" pitchFamily="18" charset="0"/>
                <a:ea typeface="IBM Plex Sans" pitchFamily="34" charset="-122"/>
                <a:cs typeface="Times New Roman" panose="02020603050405020304" pitchFamily="18" charset="0"/>
              </a:rPr>
              <a:t>Vector Database | Retrieval</a:t>
            </a:r>
            <a:r>
              <a:rPr lang="en-US" sz="11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150" dirty="0">
                <a:solidFill>
                  <a:srgbClr val="9AABBB"/>
                </a:solidFill>
                <a:latin typeface="Times New Roman" panose="02020603050405020304" pitchFamily="18" charset="0"/>
                <a:ea typeface="IBM Plex Sans" pitchFamily="34" charset="-122"/>
                <a:cs typeface="Times New Roman" panose="02020603050405020304" pitchFamily="18" charset="0"/>
              </a:rPr>
              <a:t>LLM | </a:t>
            </a:r>
          </a:p>
          <a:p>
            <a:pPr marL="0" indent="0" algn="l">
              <a:lnSpc>
                <a:spcPts val="1728"/>
              </a:lnSpc>
              <a:buNone/>
            </a:pPr>
            <a:r>
              <a:rPr lang="en-US" sz="1150" dirty="0">
                <a:solidFill>
                  <a:srgbClr val="9AABBB"/>
                </a:solidFill>
                <a:latin typeface="Times New Roman" panose="02020603050405020304" pitchFamily="18" charset="0"/>
                <a:ea typeface="IBM Plex Sans" pitchFamily="34" charset="-122"/>
                <a:cs typeface="Times New Roman" panose="02020603050405020304" pitchFamily="18" charset="0"/>
              </a:rPr>
              <a:t>RAG</a:t>
            </a:r>
            <a:endParaRPr lang="en-US" sz="11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2" name="Shape 49"/>
          <p:cNvSpPr/>
          <p:nvPr/>
        </p:nvSpPr>
        <p:spPr>
          <a:xfrm>
            <a:off x="654509" y="4524970"/>
            <a:ext cx="2247900" cy="514350"/>
          </a:xfrm>
          <a:prstGeom prst="rect">
            <a:avLst/>
          </a:prstGeom>
          <a:ln/>
        </p:spPr>
        <p:txBody>
          <a:bodyPr/>
          <a:lstStyle/>
          <a:p>
            <a:endParaRPr lang="en-IN"/>
          </a:p>
        </p:txBody>
      </p:sp>
      <p:sp>
        <p:nvSpPr>
          <p:cNvPr id="53" name="Text 50"/>
          <p:cNvSpPr/>
          <p:nvPr/>
        </p:nvSpPr>
        <p:spPr>
          <a:xfrm>
            <a:off x="653951" y="3768698"/>
            <a:ext cx="1003734" cy="1809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80" b="1" dirty="0">
                <a:solidFill>
                  <a:srgbClr val="F2F5F2"/>
                </a:solidFill>
                <a:latin typeface="Times New Roman" panose="02020603050405020304" pitchFamily="18" charset="0"/>
                <a:ea typeface="IBM Plex Sans" pitchFamily="34" charset="-122"/>
                <a:cs typeface="Times New Roman" panose="02020603050405020304" pitchFamily="18" charset="0"/>
              </a:rPr>
              <a:t>Application</a:t>
            </a:r>
            <a:endParaRPr lang="en-US" sz="108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4" name="Text 51"/>
          <p:cNvSpPr/>
          <p:nvPr/>
        </p:nvSpPr>
        <p:spPr>
          <a:xfrm>
            <a:off x="627009" y="3947378"/>
            <a:ext cx="2313377" cy="18573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spcBef>
                <a:spcPts val="203"/>
              </a:spcBef>
              <a:buNone/>
            </a:pPr>
            <a:r>
              <a:rPr lang="en-US" sz="1150" dirty="0">
                <a:solidFill>
                  <a:srgbClr val="9AABBB"/>
                </a:solidFill>
                <a:latin typeface="Times New Roman" panose="02020603050405020304" pitchFamily="18" charset="0"/>
                <a:ea typeface="IBM Plex Sans" pitchFamily="34" charset="-122"/>
                <a:cs typeface="Times New Roman" panose="02020603050405020304" pitchFamily="18" charset="0"/>
              </a:rPr>
              <a:t>FastAPI | </a:t>
            </a:r>
            <a:r>
              <a:rPr lang="en-US" sz="1150" dirty="0" err="1">
                <a:solidFill>
                  <a:srgbClr val="9AABBB"/>
                </a:solidFill>
                <a:latin typeface="Times New Roman" panose="02020603050405020304" pitchFamily="18" charset="0"/>
                <a:ea typeface="IBM Plex Sans" pitchFamily="34" charset="-122"/>
                <a:cs typeface="Times New Roman" panose="02020603050405020304" pitchFamily="18" charset="0"/>
              </a:rPr>
              <a:t>Streamlit</a:t>
            </a:r>
            <a:r>
              <a:rPr lang="en-US" sz="1150" dirty="0">
                <a:solidFill>
                  <a:srgbClr val="9AABBB"/>
                </a:solidFill>
                <a:latin typeface="Times New Roman" panose="02020603050405020304" pitchFamily="18" charset="0"/>
                <a:ea typeface="IBM Plex Sans" pitchFamily="34" charset="-122"/>
                <a:cs typeface="Times New Roman" panose="02020603050405020304" pitchFamily="18" charset="0"/>
              </a:rPr>
              <a:t> </a:t>
            </a:r>
            <a:endParaRPr lang="en-US" sz="11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5" name="Shape 52"/>
          <p:cNvSpPr/>
          <p:nvPr/>
        </p:nvSpPr>
        <p:spPr>
          <a:xfrm>
            <a:off x="3013211" y="4524970"/>
            <a:ext cx="2247900" cy="514350"/>
          </a:xfrm>
          <a:prstGeom prst="rect">
            <a:avLst/>
          </a:prstGeom>
          <a:ln/>
        </p:spPr>
        <p:txBody>
          <a:bodyPr/>
          <a:lstStyle/>
          <a:p>
            <a:endParaRPr lang="en-IN"/>
          </a:p>
        </p:txBody>
      </p:sp>
      <p:sp>
        <p:nvSpPr>
          <p:cNvPr id="56" name="Text 53"/>
          <p:cNvSpPr/>
          <p:nvPr/>
        </p:nvSpPr>
        <p:spPr>
          <a:xfrm>
            <a:off x="3004019" y="3758590"/>
            <a:ext cx="1060519" cy="1809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80" b="1" dirty="0">
                <a:solidFill>
                  <a:srgbClr val="F2F5F2"/>
                </a:solidFill>
                <a:latin typeface="Times New Roman" panose="02020603050405020304" pitchFamily="18" charset="0"/>
                <a:ea typeface="IBM Plex Sans" pitchFamily="34" charset="-122"/>
                <a:cs typeface="Times New Roman" panose="02020603050405020304" pitchFamily="18" charset="0"/>
              </a:rPr>
              <a:t>Deployment</a:t>
            </a:r>
            <a:endParaRPr lang="en-US" sz="108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7" name="Text 54"/>
          <p:cNvSpPr/>
          <p:nvPr/>
        </p:nvSpPr>
        <p:spPr>
          <a:xfrm>
            <a:off x="3004019" y="3908293"/>
            <a:ext cx="658185" cy="18573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spcBef>
                <a:spcPts val="203"/>
              </a:spcBef>
              <a:buNone/>
            </a:pPr>
            <a:r>
              <a:rPr lang="en-US" sz="1150" dirty="0">
                <a:solidFill>
                  <a:srgbClr val="9AABBB"/>
                </a:solidFill>
                <a:latin typeface="Times New Roman" panose="02020603050405020304" pitchFamily="18" charset="0"/>
                <a:ea typeface="IBM Plex Sans" pitchFamily="34" charset="-122"/>
                <a:cs typeface="Times New Roman" panose="02020603050405020304" pitchFamily="18" charset="0"/>
              </a:rPr>
              <a:t>Docker</a:t>
            </a:r>
            <a:endParaRPr lang="en-US" sz="11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8" name="Shape 55"/>
          <p:cNvSpPr/>
          <p:nvPr/>
        </p:nvSpPr>
        <p:spPr>
          <a:xfrm>
            <a:off x="5545774" y="1831262"/>
            <a:ext cx="3100388" cy="2426359"/>
          </a:xfrm>
          <a:prstGeom prst="rect">
            <a:avLst/>
          </a:prstGeom>
          <a:solidFill>
            <a:srgbClr val="13283A"/>
          </a:solidFill>
          <a:ln w="4763">
            <a:solidFill>
              <a:srgbClr val="7BB7C5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9" name="Text 56"/>
          <p:cNvSpPr/>
          <p:nvPr/>
        </p:nvSpPr>
        <p:spPr>
          <a:xfrm>
            <a:off x="5673477" y="1920753"/>
            <a:ext cx="2426657" cy="1809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spcAft>
                <a:spcPts val="486"/>
              </a:spcAft>
              <a:buNone/>
            </a:pPr>
            <a:r>
              <a:rPr lang="en-US" sz="1080" b="1" kern="0" spc="173" dirty="0">
                <a:solidFill>
                  <a:srgbClr val="7BB8C5"/>
                </a:solidFill>
                <a:latin typeface="Times New Roman" panose="02020603050405020304" pitchFamily="18" charset="0"/>
                <a:ea typeface="IBM Plex Sans" pitchFamily="34" charset="-122"/>
                <a:cs typeface="Times New Roman" panose="02020603050405020304" pitchFamily="18" charset="0"/>
              </a:rPr>
              <a:t>EXPECTED OUTCOMES</a:t>
            </a:r>
            <a:endParaRPr lang="en-US" sz="108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2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11969" y="214909"/>
            <a:ext cx="8120062" cy="321580"/>
          </a:xfrm>
          <a:prstGeom prst="rect">
            <a:avLst/>
          </a:prstGeom>
        </p:spPr>
      </p:pic>
      <p:pic>
        <p:nvPicPr>
          <p:cNvPr id="63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21878" y="2227845"/>
            <a:ext cx="2247900" cy="733425"/>
          </a:xfrm>
          <a:prstGeom prst="rect">
            <a:avLst/>
          </a:prstGeom>
        </p:spPr>
      </p:pic>
      <p:pic>
        <p:nvPicPr>
          <p:cNvPr id="64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2980580" y="2219758"/>
            <a:ext cx="2247900" cy="733425"/>
          </a:xfrm>
          <a:prstGeom prst="rect">
            <a:avLst/>
          </a:prstGeom>
        </p:spPr>
      </p:pic>
      <p:pic>
        <p:nvPicPr>
          <p:cNvPr id="65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68139" y="2959669"/>
            <a:ext cx="2247900" cy="733425"/>
          </a:xfrm>
          <a:prstGeom prst="rect">
            <a:avLst/>
          </a:prstGeom>
        </p:spPr>
      </p:pic>
      <p:pic>
        <p:nvPicPr>
          <p:cNvPr id="66" name="Image 5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2972369" y="2962498"/>
            <a:ext cx="2247900" cy="733425"/>
          </a:xfrm>
          <a:prstGeom prst="rect">
            <a:avLst/>
          </a:prstGeom>
        </p:spPr>
      </p:pic>
      <p:pic>
        <p:nvPicPr>
          <p:cNvPr id="67" name="Image 6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636368" y="3706676"/>
            <a:ext cx="2247900" cy="514350"/>
          </a:xfrm>
          <a:prstGeom prst="rect">
            <a:avLst/>
          </a:prstGeom>
        </p:spPr>
      </p:pic>
      <p:pic>
        <p:nvPicPr>
          <p:cNvPr id="68" name="Image 7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3013211" y="3685819"/>
            <a:ext cx="2247900" cy="514350"/>
          </a:xfrm>
          <a:prstGeom prst="rect">
            <a:avLst/>
          </a:prstGeom>
        </p:spPr>
      </p:pic>
      <p:sp>
        <p:nvSpPr>
          <p:cNvPr id="69" name="Text 59"/>
          <p:cNvSpPr/>
          <p:nvPr/>
        </p:nvSpPr>
        <p:spPr>
          <a:xfrm>
            <a:off x="5667905" y="2205598"/>
            <a:ext cx="2814638" cy="185948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171450" indent="-171450" algn="l">
              <a:lnSpc>
                <a:spcPts val="1295"/>
              </a:lnSpc>
              <a:spcAft>
                <a:spcPts val="425"/>
              </a:spcAft>
              <a:buFont typeface="Arial" panose="020B0604020202020204" pitchFamily="34" charset="0"/>
              <a:buChar char="•"/>
            </a:pPr>
            <a:r>
              <a:rPr lang="en-US" sz="1120" dirty="0">
                <a:solidFill>
                  <a:srgbClr val="F2F5F2"/>
                </a:solidFill>
                <a:latin typeface="Times New Roman" panose="02020603050405020304" pitchFamily="18" charset="0"/>
                <a:ea typeface="IBM Plex Sans" pitchFamily="34" charset="-122"/>
                <a:cs typeface="Times New Roman" panose="02020603050405020304" pitchFamily="18" charset="0"/>
              </a:rPr>
              <a:t>Detection of abnormal grid conditions</a:t>
            </a:r>
            <a:endParaRPr lang="en-US" sz="112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71450" indent="-171450" algn="l">
              <a:lnSpc>
                <a:spcPts val="1295"/>
              </a:lnSpc>
              <a:spcAft>
                <a:spcPts val="425"/>
              </a:spcAft>
              <a:buFont typeface="Arial" panose="020B0604020202020204" pitchFamily="34" charset="0"/>
              <a:buChar char="•"/>
            </a:pPr>
            <a:r>
              <a:rPr lang="en-US" sz="1120" dirty="0">
                <a:solidFill>
                  <a:srgbClr val="F2F5F2"/>
                </a:solidFill>
                <a:latin typeface="Times New Roman" panose="02020603050405020304" pitchFamily="18" charset="0"/>
                <a:ea typeface="IBM Plex Sans" pitchFamily="34" charset="-122"/>
                <a:cs typeface="Times New Roman" panose="02020603050405020304" pitchFamily="18" charset="0"/>
              </a:rPr>
              <a:t>Lineage-aware investigation of operational data</a:t>
            </a:r>
            <a:endParaRPr lang="en-US" sz="112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71450" indent="-171450" algn="l">
              <a:lnSpc>
                <a:spcPts val="1295"/>
              </a:lnSpc>
              <a:spcAft>
                <a:spcPts val="425"/>
              </a:spcAft>
              <a:buFont typeface="Arial" panose="020B0604020202020204" pitchFamily="34" charset="0"/>
              <a:buChar char="•"/>
            </a:pPr>
            <a:r>
              <a:rPr lang="en-US" sz="1120" dirty="0">
                <a:solidFill>
                  <a:srgbClr val="F2F5F2"/>
                </a:solidFill>
                <a:latin typeface="Times New Roman" panose="02020603050405020304" pitchFamily="18" charset="0"/>
                <a:ea typeface="IBM Plex Sans" pitchFamily="34" charset="-122"/>
                <a:cs typeface="Times New Roman" panose="02020603050405020304" pitchFamily="18" charset="0"/>
              </a:rPr>
              <a:t>Topology-aware root-cause analysis</a:t>
            </a:r>
            <a:endParaRPr lang="en-US" sz="112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71450" indent="-171450" algn="l">
              <a:lnSpc>
                <a:spcPts val="1295"/>
              </a:lnSpc>
              <a:spcAft>
                <a:spcPts val="425"/>
              </a:spcAft>
              <a:buFont typeface="Arial" panose="020B0604020202020204" pitchFamily="34" charset="0"/>
              <a:buChar char="•"/>
            </a:pPr>
            <a:r>
              <a:rPr lang="en-US" sz="1120" dirty="0">
                <a:solidFill>
                  <a:srgbClr val="F2F5F2"/>
                </a:solidFill>
                <a:latin typeface="Times New Roman" panose="02020603050405020304" pitchFamily="18" charset="0"/>
                <a:ea typeface="IBM Plex Sans" pitchFamily="34" charset="-122"/>
                <a:cs typeface="Times New Roman" panose="02020603050405020304" pitchFamily="18" charset="0"/>
              </a:rPr>
              <a:t>Retrieval of relevant supporting evidence</a:t>
            </a:r>
            <a:endParaRPr lang="en-US" sz="112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71450" indent="-171450" algn="l">
              <a:lnSpc>
                <a:spcPts val="1295"/>
              </a:lnSpc>
              <a:spcAft>
                <a:spcPts val="425"/>
              </a:spcAft>
              <a:buFont typeface="Arial" panose="020B0604020202020204" pitchFamily="34" charset="0"/>
              <a:buChar char="•"/>
            </a:pPr>
            <a:r>
              <a:rPr lang="en-US" sz="1120" dirty="0">
                <a:solidFill>
                  <a:srgbClr val="F2F5F2"/>
                </a:solidFill>
                <a:latin typeface="Times New Roman" panose="02020603050405020304" pitchFamily="18" charset="0"/>
                <a:ea typeface="IBM Plex Sans" pitchFamily="34" charset="-122"/>
                <a:cs typeface="Times New Roman" panose="02020603050405020304" pitchFamily="18" charset="0"/>
              </a:rPr>
              <a:t>Explainable RCA through RAG</a:t>
            </a:r>
            <a:endParaRPr lang="en-US" sz="112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71450" indent="-171450" algn="l">
              <a:lnSpc>
                <a:spcPts val="1295"/>
              </a:lnSpc>
              <a:spcAft>
                <a:spcPts val="425"/>
              </a:spcAft>
              <a:buFont typeface="Arial" panose="020B0604020202020204" pitchFamily="34" charset="0"/>
              <a:buChar char="•"/>
            </a:pPr>
            <a:r>
              <a:rPr lang="en-US" sz="1120" dirty="0">
                <a:solidFill>
                  <a:srgbClr val="F2F5F2"/>
                </a:solidFill>
                <a:latin typeface="Times New Roman" panose="02020603050405020304" pitchFamily="18" charset="0"/>
                <a:ea typeface="IBM Plex Sans" pitchFamily="34" charset="-122"/>
                <a:cs typeface="Times New Roman" panose="02020603050405020304" pitchFamily="18" charset="0"/>
              </a:rPr>
              <a:t>Investigation and response </a:t>
            </a:r>
          </a:p>
          <a:p>
            <a:pPr algn="l">
              <a:lnSpc>
                <a:spcPts val="1295"/>
              </a:lnSpc>
              <a:spcAft>
                <a:spcPts val="425"/>
              </a:spcAft>
            </a:pPr>
            <a:r>
              <a:rPr lang="en-US" sz="1120" dirty="0">
                <a:solidFill>
                  <a:srgbClr val="F2F5F2"/>
                </a:solidFill>
                <a:latin typeface="Times New Roman" panose="02020603050405020304" pitchFamily="18" charset="0"/>
                <a:ea typeface="IBM Plex Sans" pitchFamily="34" charset="-122"/>
                <a:cs typeface="Times New Roman" panose="02020603050405020304" pitchFamily="18" charset="0"/>
              </a:rPr>
              <a:t>      recommendations</a:t>
            </a:r>
            <a:endParaRPr lang="en-US" sz="112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71450" indent="-171450" algn="l">
              <a:lnSpc>
                <a:spcPts val="1295"/>
              </a:lnSpc>
              <a:buFont typeface="Arial" panose="020B0604020202020204" pitchFamily="34" charset="0"/>
              <a:buChar char="•"/>
            </a:pPr>
            <a:r>
              <a:rPr lang="en-US" sz="1120" dirty="0">
                <a:solidFill>
                  <a:srgbClr val="F2F5F2"/>
                </a:solidFill>
                <a:latin typeface="Times New Roman" panose="02020603050405020304" pitchFamily="18" charset="0"/>
                <a:ea typeface="IBM Plex Sans" pitchFamily="34" charset="-122"/>
                <a:cs typeface="Times New Roman" panose="02020603050405020304" pitchFamily="18" charset="0"/>
              </a:rPr>
              <a:t>Framework for evaluating RAG-based RCA</a:t>
            </a:r>
            <a:endParaRPr lang="en-US" sz="112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153" y="5655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-967" y="-1079"/>
            <a:ext cx="1190625" cy="38100"/>
          </a:xfrm>
          <a:prstGeom prst="rect">
            <a:avLst/>
          </a:prstGeom>
          <a:solidFill>
            <a:srgbClr val="7BB8C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Shape 1"/>
          <p:cNvSpPr/>
          <p:nvPr/>
        </p:nvSpPr>
        <p:spPr>
          <a:xfrm>
            <a:off x="511969" y="217066"/>
            <a:ext cx="8120062" cy="985838"/>
          </a:xfrm>
          <a:prstGeom prst="rect">
            <a:avLst/>
          </a:prstGeom>
          <a:ln/>
        </p:spPr>
        <p:txBody>
          <a:bodyPr/>
          <a:lstStyle/>
          <a:p>
            <a:endParaRPr lang="en-IN"/>
          </a:p>
        </p:txBody>
      </p:sp>
      <p:sp>
        <p:nvSpPr>
          <p:cNvPr id="6" name="Text 3"/>
          <p:cNvSpPr/>
          <p:nvPr/>
        </p:nvSpPr>
        <p:spPr>
          <a:xfrm>
            <a:off x="289760" y="110081"/>
            <a:ext cx="7398038" cy="31771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rPr lang="en-US" sz="2200" b="1" kern="0" spc="-82" dirty="0">
                <a:solidFill>
                  <a:srgbClr val="F2F5F2"/>
                </a:solidFill>
                <a:latin typeface="Times New Roman" panose="02020603050405020304" pitchFamily="18" charset="0"/>
                <a:ea typeface="IBM Plex Sans" pitchFamily="34" charset="-122"/>
                <a:cs typeface="Times New Roman" panose="02020603050405020304" pitchFamily="18" charset="0"/>
              </a:rPr>
              <a:t>Project 2 - Urban Infrastructure Monitoring, Diagnosis &amp; Decision Support</a:t>
            </a: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Shape 6"/>
          <p:cNvSpPr/>
          <p:nvPr/>
        </p:nvSpPr>
        <p:spPr>
          <a:xfrm>
            <a:off x="184471" y="631955"/>
            <a:ext cx="2276475" cy="3440020"/>
          </a:xfrm>
          <a:prstGeom prst="rect">
            <a:avLst/>
          </a:prstGeom>
          <a:solidFill>
            <a:srgbClr val="14253A">
              <a:alpha val="70196"/>
            </a:srgbClr>
          </a:solidFill>
          <a:ln w="4763">
            <a:solidFill>
              <a:srgbClr val="2C4358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10" name="Shape 7"/>
          <p:cNvSpPr/>
          <p:nvPr/>
        </p:nvSpPr>
        <p:spPr>
          <a:xfrm>
            <a:off x="302343" y="868900"/>
            <a:ext cx="42863" cy="42863"/>
          </a:xfrm>
          <a:prstGeom prst="rect">
            <a:avLst/>
          </a:prstGeom>
          <a:solidFill>
            <a:srgbClr val="7BB8C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" name="Text 8"/>
          <p:cNvSpPr/>
          <p:nvPr/>
        </p:nvSpPr>
        <p:spPr>
          <a:xfrm>
            <a:off x="412237" y="799845"/>
            <a:ext cx="2405859" cy="1809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spcAft>
                <a:spcPts val="527"/>
              </a:spcAft>
              <a:buNone/>
            </a:pPr>
            <a:r>
              <a:rPr lang="en-US" sz="1080" b="1" kern="0" spc="173" dirty="0">
                <a:solidFill>
                  <a:srgbClr val="7BB8C5"/>
                </a:solidFill>
                <a:latin typeface="Times New Roman" panose="02020603050405020304" pitchFamily="18" charset="0"/>
                <a:ea typeface="IBM Plex Sans" pitchFamily="34" charset="-122"/>
                <a:cs typeface="Times New Roman" panose="02020603050405020304" pitchFamily="18" charset="0"/>
              </a:rPr>
              <a:t>PROBLEM STATEMENT</a:t>
            </a:r>
            <a:endParaRPr lang="en-US" sz="108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Shape 9"/>
          <p:cNvSpPr/>
          <p:nvPr/>
        </p:nvSpPr>
        <p:spPr>
          <a:xfrm>
            <a:off x="2612990" y="609884"/>
            <a:ext cx="3621170" cy="4453299"/>
          </a:xfrm>
          <a:prstGeom prst="rect">
            <a:avLst/>
          </a:prstGeom>
          <a:solidFill>
            <a:srgbClr val="14263A">
              <a:alpha val="45098"/>
            </a:srgbClr>
          </a:solidFill>
          <a:ln w="4763">
            <a:solidFill>
              <a:srgbClr val="2C4358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13" name="Text 10"/>
          <p:cNvSpPr/>
          <p:nvPr/>
        </p:nvSpPr>
        <p:spPr>
          <a:xfrm>
            <a:off x="3209750" y="802527"/>
            <a:ext cx="2722193" cy="1809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80" b="1" kern="0" spc="173" dirty="0">
                <a:solidFill>
                  <a:srgbClr val="7BB8C5"/>
                </a:solidFill>
                <a:latin typeface="Times New Roman" panose="02020603050405020304" pitchFamily="18" charset="0"/>
                <a:ea typeface="IBM Plex Sans" pitchFamily="34" charset="-122"/>
                <a:cs typeface="Times New Roman" panose="02020603050405020304" pitchFamily="18" charset="0"/>
              </a:rPr>
              <a:t>TECHNICAL OBJECTIVES</a:t>
            </a:r>
            <a:endParaRPr lang="en-US" sz="108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Shape 12"/>
          <p:cNvSpPr/>
          <p:nvPr/>
        </p:nvSpPr>
        <p:spPr>
          <a:xfrm>
            <a:off x="2807466" y="1228235"/>
            <a:ext cx="1519238" cy="985838"/>
          </a:xfrm>
          <a:prstGeom prst="rect">
            <a:avLst/>
          </a:prstGeom>
          <a:solidFill>
            <a:srgbClr val="172A40"/>
          </a:solidFill>
          <a:ln w="4763">
            <a:solidFill>
              <a:srgbClr val="2C435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Text 13"/>
          <p:cNvSpPr/>
          <p:nvPr/>
        </p:nvSpPr>
        <p:spPr>
          <a:xfrm>
            <a:off x="2925648" y="1283121"/>
            <a:ext cx="1470303" cy="1809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80" b="1" dirty="0">
                <a:solidFill>
                  <a:srgbClr val="F2F5F2"/>
                </a:solidFill>
                <a:latin typeface="Times New Roman" panose="02020603050405020304" pitchFamily="18" charset="0"/>
                <a:ea typeface="IBM Plex Sans" pitchFamily="34" charset="-122"/>
                <a:cs typeface="Times New Roman" panose="02020603050405020304" pitchFamily="18" charset="0"/>
              </a:rPr>
              <a:t>Data Engineering</a:t>
            </a:r>
            <a:endParaRPr lang="en-US" sz="108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Text 14"/>
          <p:cNvSpPr/>
          <p:nvPr/>
        </p:nvSpPr>
        <p:spPr>
          <a:xfrm>
            <a:off x="2918619" y="1480528"/>
            <a:ext cx="1200210" cy="1809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spcBef>
                <a:spcPts val="243"/>
              </a:spcBef>
              <a:buNone/>
            </a:pPr>
            <a:r>
              <a:rPr lang="en-US" sz="1080" dirty="0">
                <a:solidFill>
                  <a:srgbClr val="9AABBB"/>
                </a:solidFill>
                <a:latin typeface="Times New Roman" panose="02020603050405020304" pitchFamily="18" charset="0"/>
                <a:ea typeface="IBM Plex Sans" pitchFamily="34" charset="-122"/>
                <a:cs typeface="Times New Roman" panose="02020603050405020304" pitchFamily="18" charset="0"/>
              </a:rPr>
              <a:t>Build a unified</a:t>
            </a:r>
            <a:endParaRPr lang="en-US" sz="108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Text 15"/>
          <p:cNvSpPr/>
          <p:nvPr/>
        </p:nvSpPr>
        <p:spPr>
          <a:xfrm>
            <a:off x="2915141" y="1648665"/>
            <a:ext cx="1663973" cy="1809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spcBef>
                <a:spcPts val="243"/>
              </a:spcBef>
              <a:buNone/>
            </a:pPr>
            <a:r>
              <a:rPr lang="en-US" sz="1080" dirty="0">
                <a:solidFill>
                  <a:srgbClr val="9AABBB"/>
                </a:solidFill>
                <a:latin typeface="Times New Roman" panose="02020603050405020304" pitchFamily="18" charset="0"/>
                <a:ea typeface="IBM Plex Sans" pitchFamily="34" charset="-122"/>
                <a:cs typeface="Times New Roman" panose="02020603050405020304" pitchFamily="18" charset="0"/>
              </a:rPr>
              <a:t>pipeline to integrate</a:t>
            </a:r>
            <a:endParaRPr lang="en-US" sz="108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Text 16"/>
          <p:cNvSpPr/>
          <p:nvPr/>
        </p:nvSpPr>
        <p:spPr>
          <a:xfrm>
            <a:off x="2925648" y="1819369"/>
            <a:ext cx="1258543" cy="1809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spcBef>
                <a:spcPts val="243"/>
              </a:spcBef>
              <a:buNone/>
            </a:pPr>
            <a:r>
              <a:rPr lang="en-US" sz="1080" dirty="0">
                <a:solidFill>
                  <a:srgbClr val="9AABBB"/>
                </a:solidFill>
                <a:latin typeface="Times New Roman" panose="02020603050405020304" pitchFamily="18" charset="0"/>
                <a:ea typeface="IBM Plex Sans" pitchFamily="34" charset="-122"/>
                <a:cs typeface="Times New Roman" panose="02020603050405020304" pitchFamily="18" charset="0"/>
              </a:rPr>
              <a:t>heterogeneous</a:t>
            </a:r>
            <a:endParaRPr lang="en-US" sz="108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Text 17"/>
          <p:cNvSpPr/>
          <p:nvPr/>
        </p:nvSpPr>
        <p:spPr>
          <a:xfrm>
            <a:off x="2928919" y="1982363"/>
            <a:ext cx="1600319" cy="1809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spcBef>
                <a:spcPts val="243"/>
              </a:spcBef>
              <a:buNone/>
            </a:pPr>
            <a:r>
              <a:rPr lang="en-US" sz="1080" dirty="0">
                <a:solidFill>
                  <a:srgbClr val="9AABBB"/>
                </a:solidFill>
                <a:latin typeface="Times New Roman" panose="02020603050405020304" pitchFamily="18" charset="0"/>
                <a:ea typeface="IBM Plex Sans" pitchFamily="34" charset="-122"/>
                <a:cs typeface="Times New Roman" panose="02020603050405020304" pitchFamily="18" charset="0"/>
              </a:rPr>
              <a:t>infrastructure data.</a:t>
            </a:r>
            <a:endParaRPr lang="en-US" sz="108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Shape 18"/>
          <p:cNvSpPr/>
          <p:nvPr/>
        </p:nvSpPr>
        <p:spPr>
          <a:xfrm>
            <a:off x="4510407" y="1208113"/>
            <a:ext cx="1519238" cy="1005960"/>
          </a:xfrm>
          <a:prstGeom prst="rect">
            <a:avLst/>
          </a:prstGeom>
          <a:solidFill>
            <a:srgbClr val="172A40"/>
          </a:solidFill>
          <a:ln w="4763">
            <a:solidFill>
              <a:srgbClr val="2C435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2" name="Text 19"/>
          <p:cNvSpPr/>
          <p:nvPr/>
        </p:nvSpPr>
        <p:spPr>
          <a:xfrm>
            <a:off x="4661550" y="1283121"/>
            <a:ext cx="1510449" cy="1809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80" b="1" dirty="0">
                <a:solidFill>
                  <a:srgbClr val="F2F5F2"/>
                </a:solidFill>
                <a:latin typeface="Times New Roman" panose="02020603050405020304" pitchFamily="18" charset="0"/>
                <a:ea typeface="IBM Plex Sans" pitchFamily="34" charset="-122"/>
                <a:cs typeface="Times New Roman" panose="02020603050405020304" pitchFamily="18" charset="0"/>
              </a:rPr>
              <a:t>Machine Learning</a:t>
            </a:r>
            <a:endParaRPr lang="en-US" sz="108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Text 20"/>
          <p:cNvSpPr/>
          <p:nvPr/>
        </p:nvSpPr>
        <p:spPr>
          <a:xfrm>
            <a:off x="4662450" y="1451029"/>
            <a:ext cx="1732560" cy="1809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spcBef>
                <a:spcPts val="243"/>
              </a:spcBef>
              <a:buNone/>
            </a:pPr>
            <a:r>
              <a:rPr lang="en-US" sz="1080" dirty="0">
                <a:solidFill>
                  <a:srgbClr val="9AABBB"/>
                </a:solidFill>
                <a:latin typeface="Times New Roman" panose="02020603050405020304" pitchFamily="18" charset="0"/>
                <a:ea typeface="IBM Plex Sans" pitchFamily="34" charset="-122"/>
                <a:cs typeface="Times New Roman" panose="02020603050405020304" pitchFamily="18" charset="0"/>
              </a:rPr>
              <a:t>Explore anomaly and</a:t>
            </a:r>
            <a:endParaRPr lang="en-US" sz="108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" name="Text 21"/>
          <p:cNvSpPr/>
          <p:nvPr/>
        </p:nvSpPr>
        <p:spPr>
          <a:xfrm>
            <a:off x="4661550" y="1612063"/>
            <a:ext cx="1367954" cy="1809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spcBef>
                <a:spcPts val="243"/>
              </a:spcBef>
              <a:buNone/>
            </a:pPr>
            <a:r>
              <a:rPr lang="en-US" sz="1080" dirty="0">
                <a:solidFill>
                  <a:srgbClr val="9AABBB"/>
                </a:solidFill>
                <a:latin typeface="Times New Roman" panose="02020603050405020304" pitchFamily="18" charset="0"/>
                <a:ea typeface="IBM Plex Sans" pitchFamily="34" charset="-122"/>
                <a:cs typeface="Times New Roman" panose="02020603050405020304" pitchFamily="18" charset="0"/>
              </a:rPr>
              <a:t>failure detection</a:t>
            </a:r>
            <a:endParaRPr lang="en-US" sz="108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" name="Text 22"/>
          <p:cNvSpPr/>
          <p:nvPr/>
        </p:nvSpPr>
        <p:spPr>
          <a:xfrm>
            <a:off x="4667124" y="1786319"/>
            <a:ext cx="1571394" cy="1809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spcBef>
                <a:spcPts val="243"/>
              </a:spcBef>
              <a:buNone/>
            </a:pPr>
            <a:r>
              <a:rPr lang="en-US" sz="1080" dirty="0">
                <a:solidFill>
                  <a:srgbClr val="9AABBB"/>
                </a:solidFill>
                <a:latin typeface="Times New Roman" panose="02020603050405020304" pitchFamily="18" charset="0"/>
                <a:ea typeface="IBM Plex Sans" pitchFamily="34" charset="-122"/>
                <a:cs typeface="Times New Roman" panose="02020603050405020304" pitchFamily="18" charset="0"/>
              </a:rPr>
              <a:t>from infrastructure</a:t>
            </a:r>
            <a:endParaRPr lang="en-US" sz="108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6" name="Text 23"/>
          <p:cNvSpPr/>
          <p:nvPr/>
        </p:nvSpPr>
        <p:spPr>
          <a:xfrm>
            <a:off x="4669505" y="1930274"/>
            <a:ext cx="874298" cy="1809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spcBef>
                <a:spcPts val="243"/>
              </a:spcBef>
              <a:buNone/>
            </a:pPr>
            <a:r>
              <a:rPr lang="en-US" sz="1080" dirty="0">
                <a:solidFill>
                  <a:srgbClr val="9AABBB"/>
                </a:solidFill>
                <a:latin typeface="Times New Roman" panose="02020603050405020304" pitchFamily="18" charset="0"/>
                <a:ea typeface="IBM Plex Sans" pitchFamily="34" charset="-122"/>
                <a:cs typeface="Times New Roman" panose="02020603050405020304" pitchFamily="18" charset="0"/>
              </a:rPr>
              <a:t>telemetry.</a:t>
            </a:r>
            <a:endParaRPr lang="en-US" sz="108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7" name="Shape 24"/>
          <p:cNvSpPr/>
          <p:nvPr/>
        </p:nvSpPr>
        <p:spPr>
          <a:xfrm>
            <a:off x="2807466" y="2285951"/>
            <a:ext cx="1519238" cy="1357313"/>
          </a:xfrm>
          <a:prstGeom prst="rect">
            <a:avLst/>
          </a:prstGeom>
          <a:solidFill>
            <a:srgbClr val="172A40"/>
          </a:solidFill>
          <a:ln w="4763">
            <a:solidFill>
              <a:srgbClr val="2C4358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28" name="Text 25"/>
          <p:cNvSpPr/>
          <p:nvPr/>
        </p:nvSpPr>
        <p:spPr>
          <a:xfrm>
            <a:off x="2925648" y="2337066"/>
            <a:ext cx="921893" cy="1809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80" b="1" dirty="0">
                <a:solidFill>
                  <a:srgbClr val="F2F5F2"/>
                </a:solidFill>
                <a:latin typeface="Times New Roman" panose="02020603050405020304" pitchFamily="18" charset="0"/>
                <a:ea typeface="IBM Plex Sans" pitchFamily="34" charset="-122"/>
                <a:cs typeface="Times New Roman" panose="02020603050405020304" pitchFamily="18" charset="0"/>
              </a:rPr>
              <a:t>Agentic AI</a:t>
            </a:r>
            <a:endParaRPr lang="en-US" sz="108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9" name="Text 26"/>
          <p:cNvSpPr/>
          <p:nvPr/>
        </p:nvSpPr>
        <p:spPr>
          <a:xfrm>
            <a:off x="2915038" y="2543520"/>
            <a:ext cx="1422321" cy="1809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spcBef>
                <a:spcPts val="243"/>
              </a:spcBef>
              <a:buNone/>
            </a:pPr>
            <a:r>
              <a:rPr lang="en-US" sz="1080" dirty="0">
                <a:solidFill>
                  <a:srgbClr val="9AABBB"/>
                </a:solidFill>
                <a:latin typeface="Times New Roman" panose="02020603050405020304" pitchFamily="18" charset="0"/>
                <a:ea typeface="IBM Plex Sans" pitchFamily="34" charset="-122"/>
                <a:cs typeface="Times New Roman" panose="02020603050405020304" pitchFamily="18" charset="0"/>
              </a:rPr>
              <a:t>Develop domain-specific</a:t>
            </a:r>
            <a:endParaRPr lang="en-US" sz="108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0" name="Text 27"/>
          <p:cNvSpPr/>
          <p:nvPr/>
        </p:nvSpPr>
        <p:spPr>
          <a:xfrm>
            <a:off x="2918585" y="2701219"/>
            <a:ext cx="936017" cy="1809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spcBef>
                <a:spcPts val="243"/>
              </a:spcBef>
            </a:pPr>
            <a:r>
              <a:rPr lang="en-US" sz="1080" dirty="0">
                <a:solidFill>
                  <a:srgbClr val="9AABBB"/>
                </a:solidFill>
                <a:latin typeface="Times New Roman" panose="02020603050405020304" pitchFamily="18" charset="0"/>
                <a:ea typeface="IBM Plex Sans" pitchFamily="34" charset="-122"/>
                <a:cs typeface="Times New Roman" panose="02020603050405020304" pitchFamily="18" charset="0"/>
              </a:rPr>
              <a:t>agents and coordination</a:t>
            </a:r>
            <a:endParaRPr lang="en-US" sz="108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1" name="Text 28"/>
          <p:cNvSpPr/>
          <p:nvPr/>
        </p:nvSpPr>
        <p:spPr>
          <a:xfrm>
            <a:off x="2918619" y="2890242"/>
            <a:ext cx="1326937" cy="1809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spcBef>
                <a:spcPts val="243"/>
              </a:spcBef>
            </a:pPr>
            <a:r>
              <a:rPr lang="en-US" sz="1080" dirty="0">
                <a:solidFill>
                  <a:srgbClr val="9AABBB"/>
                </a:solidFill>
                <a:latin typeface="Times New Roman" panose="02020603050405020304" pitchFamily="18" charset="0"/>
                <a:ea typeface="IBM Plex Sans" pitchFamily="34" charset="-122"/>
                <a:cs typeface="Times New Roman" panose="02020603050405020304" pitchFamily="18" charset="0"/>
              </a:rPr>
              <a:t>for infrastructure</a:t>
            </a:r>
            <a:endParaRPr lang="en-US" sz="108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2" name="Text 29"/>
          <p:cNvSpPr/>
          <p:nvPr/>
        </p:nvSpPr>
        <p:spPr>
          <a:xfrm>
            <a:off x="2928919" y="3077042"/>
            <a:ext cx="1151550" cy="1809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spcBef>
                <a:spcPts val="243"/>
              </a:spcBef>
              <a:buNone/>
            </a:pPr>
            <a:endParaRPr lang="en-US" sz="108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3" name="Text 30"/>
          <p:cNvSpPr/>
          <p:nvPr/>
        </p:nvSpPr>
        <p:spPr>
          <a:xfrm>
            <a:off x="2922009" y="3079104"/>
            <a:ext cx="1267636" cy="28322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spcBef>
                <a:spcPts val="243"/>
              </a:spcBef>
            </a:pPr>
            <a:r>
              <a:rPr lang="en-US" sz="1080" dirty="0">
                <a:solidFill>
                  <a:srgbClr val="9AABBB"/>
                </a:solidFill>
                <a:latin typeface="Times New Roman" panose="02020603050405020304" pitchFamily="18" charset="0"/>
                <a:ea typeface="IBM Plex Sans" pitchFamily="34" charset="-122"/>
                <a:cs typeface="Times New Roman" panose="02020603050405020304" pitchFamily="18" charset="0"/>
              </a:rPr>
              <a:t>monitoring and </a:t>
            </a:r>
          </a:p>
          <a:p>
            <a:pPr>
              <a:spcBef>
                <a:spcPts val="243"/>
              </a:spcBef>
            </a:pPr>
            <a:r>
              <a:rPr lang="en-US" sz="1080" dirty="0">
                <a:solidFill>
                  <a:srgbClr val="9AABBB"/>
                </a:solidFill>
                <a:latin typeface="Times New Roman" panose="02020603050405020304" pitchFamily="18" charset="0"/>
                <a:ea typeface="IBM Plex Sans" pitchFamily="34" charset="-122"/>
                <a:cs typeface="Times New Roman" panose="02020603050405020304" pitchFamily="18" charset="0"/>
              </a:rPr>
              <a:t>investigation.</a:t>
            </a:r>
            <a:endParaRPr lang="en-US" sz="108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4" name="Text 31"/>
          <p:cNvSpPr/>
          <p:nvPr/>
        </p:nvSpPr>
        <p:spPr>
          <a:xfrm>
            <a:off x="3156793" y="3930997"/>
            <a:ext cx="1124077" cy="1809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spcBef>
                <a:spcPts val="243"/>
              </a:spcBef>
              <a:buNone/>
            </a:pPr>
            <a:r>
              <a:rPr lang="en-US" sz="1080" dirty="0">
                <a:solidFill>
                  <a:srgbClr val="9AABBB"/>
                </a:solidFill>
                <a:latin typeface="Times New Roman" panose="02020603050405020304" pitchFamily="18" charset="0"/>
                <a:ea typeface="IBM Plex Sans" pitchFamily="34" charset="-122"/>
                <a:cs typeface="Times New Roman" panose="02020603050405020304" pitchFamily="18" charset="0"/>
              </a:rPr>
              <a:t>investigation.</a:t>
            </a:r>
            <a:endParaRPr lang="en-US" sz="108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5" name="Shape 32"/>
          <p:cNvSpPr/>
          <p:nvPr/>
        </p:nvSpPr>
        <p:spPr>
          <a:xfrm>
            <a:off x="4515434" y="2265862"/>
            <a:ext cx="1519238" cy="1357313"/>
          </a:xfrm>
          <a:prstGeom prst="rect">
            <a:avLst/>
          </a:prstGeom>
          <a:solidFill>
            <a:srgbClr val="172A40"/>
          </a:solidFill>
          <a:ln w="4763">
            <a:solidFill>
              <a:srgbClr val="2C435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6" name="Text 33"/>
          <p:cNvSpPr/>
          <p:nvPr/>
        </p:nvSpPr>
        <p:spPr>
          <a:xfrm>
            <a:off x="4615900" y="2323387"/>
            <a:ext cx="1552337" cy="1809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80" b="1" dirty="0">
                <a:solidFill>
                  <a:srgbClr val="F2F5F2"/>
                </a:solidFill>
                <a:latin typeface="Times New Roman" panose="02020603050405020304" pitchFamily="18" charset="0"/>
                <a:ea typeface="IBM Plex Sans" pitchFamily="34" charset="-122"/>
                <a:cs typeface="Times New Roman" panose="02020603050405020304" pitchFamily="18" charset="0"/>
              </a:rPr>
              <a:t>RAG &amp; Knowledge</a:t>
            </a:r>
            <a:endParaRPr lang="en-US" sz="108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7" name="Text 34"/>
          <p:cNvSpPr/>
          <p:nvPr/>
        </p:nvSpPr>
        <p:spPr>
          <a:xfrm>
            <a:off x="4621510" y="2546952"/>
            <a:ext cx="1250707" cy="1809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spcBef>
                <a:spcPts val="243"/>
              </a:spcBef>
              <a:buNone/>
            </a:pPr>
            <a:r>
              <a:rPr lang="en-US" sz="1080" dirty="0">
                <a:solidFill>
                  <a:srgbClr val="9AABBB"/>
                </a:solidFill>
                <a:latin typeface="Times New Roman" panose="02020603050405020304" pitchFamily="18" charset="0"/>
                <a:ea typeface="IBM Plex Sans" pitchFamily="34" charset="-122"/>
                <a:cs typeface="Times New Roman" panose="02020603050405020304" pitchFamily="18" charset="0"/>
              </a:rPr>
              <a:t>Build a domain</a:t>
            </a:r>
            <a:endParaRPr lang="en-US" sz="108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8" name="Text 35"/>
          <p:cNvSpPr/>
          <p:nvPr/>
        </p:nvSpPr>
        <p:spPr>
          <a:xfrm>
            <a:off x="4633476" y="2703660"/>
            <a:ext cx="1696380" cy="1809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spcBef>
                <a:spcPts val="243"/>
              </a:spcBef>
              <a:buNone/>
            </a:pPr>
            <a:r>
              <a:rPr lang="en-US" sz="1080" dirty="0">
                <a:solidFill>
                  <a:srgbClr val="9AABBB"/>
                </a:solidFill>
                <a:latin typeface="Times New Roman" panose="02020603050405020304" pitchFamily="18" charset="0"/>
                <a:ea typeface="IBM Plex Sans" pitchFamily="34" charset="-122"/>
                <a:cs typeface="Times New Roman" panose="02020603050405020304" pitchFamily="18" charset="0"/>
              </a:rPr>
              <a:t>knowledge base and</a:t>
            </a:r>
            <a:endParaRPr lang="en-US" sz="108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9" name="Text 36"/>
          <p:cNvSpPr/>
          <p:nvPr/>
        </p:nvSpPr>
        <p:spPr>
          <a:xfrm>
            <a:off x="4633476" y="2875208"/>
            <a:ext cx="1367470" cy="1809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spcBef>
                <a:spcPts val="243"/>
              </a:spcBef>
              <a:buNone/>
            </a:pPr>
            <a:r>
              <a:rPr lang="en-US" sz="1080" dirty="0">
                <a:solidFill>
                  <a:srgbClr val="9AABBB"/>
                </a:solidFill>
                <a:latin typeface="Times New Roman" panose="02020603050405020304" pitchFamily="18" charset="0"/>
                <a:ea typeface="IBM Plex Sans" pitchFamily="34" charset="-122"/>
                <a:cs typeface="Times New Roman" panose="02020603050405020304" pitchFamily="18" charset="0"/>
              </a:rPr>
              <a:t>retrieve relevant</a:t>
            </a:r>
            <a:endParaRPr lang="en-US" sz="108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0" name="Text 37"/>
          <p:cNvSpPr/>
          <p:nvPr/>
        </p:nvSpPr>
        <p:spPr>
          <a:xfrm>
            <a:off x="4633476" y="3026717"/>
            <a:ext cx="1248869" cy="1809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spcBef>
                <a:spcPts val="243"/>
              </a:spcBef>
              <a:buNone/>
            </a:pPr>
            <a:r>
              <a:rPr lang="en-US" sz="1080" dirty="0">
                <a:solidFill>
                  <a:srgbClr val="9AABBB"/>
                </a:solidFill>
                <a:latin typeface="Times New Roman" panose="02020603050405020304" pitchFamily="18" charset="0"/>
                <a:ea typeface="IBM Plex Sans" pitchFamily="34" charset="-122"/>
                <a:cs typeface="Times New Roman" panose="02020603050405020304" pitchFamily="18" charset="0"/>
              </a:rPr>
              <a:t>information for</a:t>
            </a:r>
            <a:endParaRPr lang="en-US" sz="108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1" name="Text 38"/>
          <p:cNvSpPr/>
          <p:nvPr/>
        </p:nvSpPr>
        <p:spPr>
          <a:xfrm>
            <a:off x="4633476" y="3162721"/>
            <a:ext cx="1124077" cy="1809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spcBef>
                <a:spcPts val="243"/>
              </a:spcBef>
              <a:buNone/>
            </a:pPr>
            <a:r>
              <a:rPr lang="en-US" sz="1080" dirty="0">
                <a:solidFill>
                  <a:srgbClr val="9AABBB"/>
                </a:solidFill>
                <a:latin typeface="Times New Roman" panose="02020603050405020304" pitchFamily="18" charset="0"/>
                <a:ea typeface="IBM Plex Sans" pitchFamily="34" charset="-122"/>
                <a:cs typeface="Times New Roman" panose="02020603050405020304" pitchFamily="18" charset="0"/>
              </a:rPr>
              <a:t>investigation.</a:t>
            </a:r>
            <a:endParaRPr lang="en-US" sz="108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2" name="Shape 39"/>
          <p:cNvSpPr/>
          <p:nvPr/>
        </p:nvSpPr>
        <p:spPr>
          <a:xfrm>
            <a:off x="2807466" y="3705871"/>
            <a:ext cx="1519238" cy="1244590"/>
          </a:xfrm>
          <a:prstGeom prst="rect">
            <a:avLst/>
          </a:prstGeom>
          <a:solidFill>
            <a:srgbClr val="172A40"/>
          </a:solidFill>
          <a:ln w="4763">
            <a:solidFill>
              <a:srgbClr val="2C435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3" name="Text 40"/>
          <p:cNvSpPr/>
          <p:nvPr/>
        </p:nvSpPr>
        <p:spPr>
          <a:xfrm>
            <a:off x="2922009" y="3770236"/>
            <a:ext cx="1032852" cy="1809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80" b="1" dirty="0">
                <a:solidFill>
                  <a:srgbClr val="F2F5F2"/>
                </a:solidFill>
                <a:latin typeface="Times New Roman" panose="02020603050405020304" pitchFamily="18" charset="0"/>
                <a:ea typeface="IBM Plex Sans" pitchFamily="34" charset="-122"/>
                <a:cs typeface="Times New Roman" panose="02020603050405020304" pitchFamily="18" charset="0"/>
              </a:rPr>
              <a:t>Digital Twin</a:t>
            </a:r>
            <a:endParaRPr lang="en-US" sz="108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4" name="Text 41"/>
          <p:cNvSpPr/>
          <p:nvPr/>
        </p:nvSpPr>
        <p:spPr>
          <a:xfrm>
            <a:off x="2920790" y="3973703"/>
            <a:ext cx="880876" cy="1809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spcBef>
                <a:spcPts val="243"/>
              </a:spcBef>
              <a:buNone/>
            </a:pPr>
            <a:r>
              <a:rPr lang="en-US" sz="1080" dirty="0">
                <a:solidFill>
                  <a:srgbClr val="9AABBB"/>
                </a:solidFill>
                <a:latin typeface="Times New Roman" panose="02020603050405020304" pitchFamily="18" charset="0"/>
                <a:ea typeface="IBM Plex Sans" pitchFamily="34" charset="-122"/>
                <a:cs typeface="Times New Roman" panose="02020603050405020304" pitchFamily="18" charset="0"/>
              </a:rPr>
              <a:t>Represent</a:t>
            </a:r>
            <a:endParaRPr lang="en-US" sz="108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5" name="Text 42"/>
          <p:cNvSpPr/>
          <p:nvPr/>
        </p:nvSpPr>
        <p:spPr>
          <a:xfrm>
            <a:off x="2915141" y="4113676"/>
            <a:ext cx="1596740" cy="1809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spcBef>
                <a:spcPts val="243"/>
              </a:spcBef>
              <a:buNone/>
            </a:pPr>
            <a:r>
              <a:rPr lang="en-US" sz="1080" dirty="0">
                <a:solidFill>
                  <a:srgbClr val="9AABBB"/>
                </a:solidFill>
                <a:latin typeface="Times New Roman" panose="02020603050405020304" pitchFamily="18" charset="0"/>
                <a:ea typeface="IBM Plex Sans" pitchFamily="34" charset="-122"/>
                <a:cs typeface="Times New Roman" panose="02020603050405020304" pitchFamily="18" charset="0"/>
              </a:rPr>
              <a:t>infrastructure state</a:t>
            </a:r>
            <a:endParaRPr lang="en-US" sz="108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6" name="Text 43"/>
          <p:cNvSpPr/>
          <p:nvPr/>
        </p:nvSpPr>
        <p:spPr>
          <a:xfrm>
            <a:off x="2912309" y="4251368"/>
            <a:ext cx="1607381" cy="1809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spcBef>
                <a:spcPts val="243"/>
              </a:spcBef>
              <a:buNone/>
            </a:pPr>
            <a:r>
              <a:rPr lang="en-US" sz="1080" dirty="0">
                <a:solidFill>
                  <a:srgbClr val="9AABBB"/>
                </a:solidFill>
                <a:latin typeface="Times New Roman" panose="02020603050405020304" pitchFamily="18" charset="0"/>
                <a:ea typeface="IBM Plex Sans" pitchFamily="34" charset="-122"/>
                <a:cs typeface="Times New Roman" panose="02020603050405020304" pitchFamily="18" charset="0"/>
              </a:rPr>
              <a:t>and explore what-if</a:t>
            </a:r>
            <a:endParaRPr lang="en-US" sz="108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7" name="Text 44"/>
          <p:cNvSpPr/>
          <p:nvPr/>
        </p:nvSpPr>
        <p:spPr>
          <a:xfrm>
            <a:off x="2920790" y="4403040"/>
            <a:ext cx="1096119" cy="1809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spcBef>
                <a:spcPts val="243"/>
              </a:spcBef>
              <a:buNone/>
            </a:pPr>
            <a:r>
              <a:rPr lang="en-US" sz="1080" dirty="0">
                <a:solidFill>
                  <a:srgbClr val="9AABBB"/>
                </a:solidFill>
                <a:latin typeface="Times New Roman" panose="02020603050405020304" pitchFamily="18" charset="0"/>
                <a:ea typeface="IBM Plex Sans" pitchFamily="34" charset="-122"/>
                <a:cs typeface="Times New Roman" panose="02020603050405020304" pitchFamily="18" charset="0"/>
              </a:rPr>
              <a:t>simulation of</a:t>
            </a:r>
            <a:endParaRPr lang="en-US" sz="108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8" name="Text 45"/>
          <p:cNvSpPr/>
          <p:nvPr/>
        </p:nvSpPr>
        <p:spPr>
          <a:xfrm>
            <a:off x="2932541" y="4557942"/>
            <a:ext cx="1131235" cy="1809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spcBef>
                <a:spcPts val="243"/>
              </a:spcBef>
              <a:buNone/>
            </a:pPr>
            <a:r>
              <a:rPr lang="en-US" sz="1080" dirty="0">
                <a:solidFill>
                  <a:srgbClr val="9AABBB"/>
                </a:solidFill>
                <a:latin typeface="Times New Roman" panose="02020603050405020304" pitchFamily="18" charset="0"/>
                <a:ea typeface="IBM Plex Sans" pitchFamily="34" charset="-122"/>
                <a:cs typeface="Times New Roman" panose="02020603050405020304" pitchFamily="18" charset="0"/>
              </a:rPr>
              <a:t>incidents and</a:t>
            </a:r>
            <a:endParaRPr lang="en-US" sz="108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9" name="Text 46"/>
          <p:cNvSpPr/>
          <p:nvPr/>
        </p:nvSpPr>
        <p:spPr>
          <a:xfrm>
            <a:off x="2932541" y="4685173"/>
            <a:ext cx="930116" cy="1809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spcBef>
                <a:spcPts val="243"/>
              </a:spcBef>
              <a:buNone/>
            </a:pPr>
            <a:r>
              <a:rPr lang="en-US" sz="1080" dirty="0">
                <a:solidFill>
                  <a:srgbClr val="9AABBB"/>
                </a:solidFill>
                <a:latin typeface="Times New Roman" panose="02020603050405020304" pitchFamily="18" charset="0"/>
                <a:ea typeface="IBM Plex Sans" pitchFamily="34" charset="-122"/>
                <a:cs typeface="Times New Roman" panose="02020603050405020304" pitchFamily="18" charset="0"/>
              </a:rPr>
              <a:t>responses.</a:t>
            </a:r>
            <a:endParaRPr lang="en-US" sz="108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0" name="Shape 47"/>
          <p:cNvSpPr/>
          <p:nvPr/>
        </p:nvSpPr>
        <p:spPr>
          <a:xfrm>
            <a:off x="4515399" y="3715219"/>
            <a:ext cx="1519238" cy="1244590"/>
          </a:xfrm>
          <a:prstGeom prst="rect">
            <a:avLst/>
          </a:prstGeom>
          <a:solidFill>
            <a:srgbClr val="172A40"/>
          </a:solidFill>
          <a:ln w="4763">
            <a:solidFill>
              <a:srgbClr val="2C435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1" name="Text 48"/>
          <p:cNvSpPr/>
          <p:nvPr/>
        </p:nvSpPr>
        <p:spPr>
          <a:xfrm>
            <a:off x="4617672" y="3737996"/>
            <a:ext cx="1470883" cy="1809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80" b="1" dirty="0">
                <a:solidFill>
                  <a:srgbClr val="F2F5F2"/>
                </a:solidFill>
                <a:latin typeface="Times New Roman" panose="02020603050405020304" pitchFamily="18" charset="0"/>
                <a:ea typeface="IBM Plex Sans" pitchFamily="34" charset="-122"/>
                <a:cs typeface="Times New Roman" panose="02020603050405020304" pitchFamily="18" charset="0"/>
              </a:rPr>
              <a:t>Decision Support</a:t>
            </a:r>
            <a:endParaRPr lang="en-US" sz="108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2" name="Text 49"/>
          <p:cNvSpPr/>
          <p:nvPr/>
        </p:nvSpPr>
        <p:spPr>
          <a:xfrm>
            <a:off x="4623902" y="3971935"/>
            <a:ext cx="797778" cy="1809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spcBef>
                <a:spcPts val="243"/>
              </a:spcBef>
              <a:buNone/>
            </a:pPr>
            <a:r>
              <a:rPr lang="en-US" sz="1080" dirty="0">
                <a:solidFill>
                  <a:srgbClr val="9AABBB"/>
                </a:solidFill>
                <a:latin typeface="Times New Roman" panose="02020603050405020304" pitchFamily="18" charset="0"/>
                <a:ea typeface="IBM Plex Sans" pitchFamily="34" charset="-122"/>
                <a:cs typeface="Times New Roman" panose="02020603050405020304" pitchFamily="18" charset="0"/>
              </a:rPr>
              <a:t>Generate</a:t>
            </a:r>
            <a:endParaRPr lang="en-US" sz="108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3" name="Text 50"/>
          <p:cNvSpPr/>
          <p:nvPr/>
        </p:nvSpPr>
        <p:spPr>
          <a:xfrm>
            <a:off x="4634239" y="4113675"/>
            <a:ext cx="1668616" cy="1809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spcBef>
                <a:spcPts val="243"/>
              </a:spcBef>
              <a:buNone/>
            </a:pPr>
            <a:r>
              <a:rPr lang="en-US" sz="1080" dirty="0">
                <a:solidFill>
                  <a:srgbClr val="9AABBB"/>
                </a:solidFill>
                <a:latin typeface="Times New Roman" panose="02020603050405020304" pitchFamily="18" charset="0"/>
                <a:ea typeface="IBM Plex Sans" pitchFamily="34" charset="-122"/>
                <a:cs typeface="Times New Roman" panose="02020603050405020304" pitchFamily="18" charset="0"/>
              </a:rPr>
              <a:t>explainable incident</a:t>
            </a:r>
            <a:endParaRPr lang="en-US" sz="108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4" name="Text 51"/>
          <p:cNvSpPr/>
          <p:nvPr/>
        </p:nvSpPr>
        <p:spPr>
          <a:xfrm>
            <a:off x="4643652" y="4273287"/>
            <a:ext cx="1021244" cy="1809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spcBef>
                <a:spcPts val="243"/>
              </a:spcBef>
              <a:buNone/>
            </a:pPr>
            <a:r>
              <a:rPr lang="en-US" sz="1080" dirty="0">
                <a:solidFill>
                  <a:srgbClr val="9AABBB"/>
                </a:solidFill>
                <a:latin typeface="Times New Roman" panose="02020603050405020304" pitchFamily="18" charset="0"/>
                <a:ea typeface="IBM Plex Sans" pitchFamily="34" charset="-122"/>
                <a:cs typeface="Times New Roman" panose="02020603050405020304" pitchFamily="18" charset="0"/>
              </a:rPr>
              <a:t>insights and</a:t>
            </a:r>
            <a:endParaRPr lang="en-US" sz="108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5" name="Text 52"/>
          <p:cNvSpPr/>
          <p:nvPr/>
        </p:nvSpPr>
        <p:spPr>
          <a:xfrm>
            <a:off x="4649285" y="4420865"/>
            <a:ext cx="795650" cy="1809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spcBef>
                <a:spcPts val="243"/>
              </a:spcBef>
              <a:buNone/>
            </a:pPr>
            <a:r>
              <a:rPr lang="en-US" sz="1080" dirty="0">
                <a:solidFill>
                  <a:srgbClr val="9AABBB"/>
                </a:solidFill>
                <a:latin typeface="Times New Roman" panose="02020603050405020304" pitchFamily="18" charset="0"/>
                <a:ea typeface="IBM Plex Sans" pitchFamily="34" charset="-122"/>
                <a:cs typeface="Times New Roman" panose="02020603050405020304" pitchFamily="18" charset="0"/>
              </a:rPr>
              <a:t>response</a:t>
            </a:r>
            <a:endParaRPr lang="en-US" sz="108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6" name="Text 53"/>
          <p:cNvSpPr/>
          <p:nvPr/>
        </p:nvSpPr>
        <p:spPr>
          <a:xfrm>
            <a:off x="4641787" y="4564316"/>
            <a:ext cx="1559786" cy="1809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spcBef>
                <a:spcPts val="243"/>
              </a:spcBef>
              <a:buNone/>
            </a:pPr>
            <a:r>
              <a:rPr lang="en-US" sz="1080" dirty="0">
                <a:solidFill>
                  <a:srgbClr val="9AABBB"/>
                </a:solidFill>
                <a:latin typeface="Times New Roman" panose="02020603050405020304" pitchFamily="18" charset="0"/>
                <a:ea typeface="IBM Plex Sans" pitchFamily="34" charset="-122"/>
                <a:cs typeface="Times New Roman" panose="02020603050405020304" pitchFamily="18" charset="0"/>
              </a:rPr>
              <a:t>recommendations.</a:t>
            </a:r>
            <a:endParaRPr lang="en-US" sz="108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7" name="Shape 54"/>
          <p:cNvSpPr/>
          <p:nvPr/>
        </p:nvSpPr>
        <p:spPr>
          <a:xfrm>
            <a:off x="6385291" y="609884"/>
            <a:ext cx="2265894" cy="4453299"/>
          </a:xfrm>
          <a:prstGeom prst="rect">
            <a:avLst/>
          </a:prstGeom>
          <a:solidFill>
            <a:srgbClr val="14253A">
              <a:alpha val="70196"/>
            </a:srgbClr>
          </a:solidFill>
          <a:ln w="4763">
            <a:solidFill>
              <a:srgbClr val="2C4358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58" name="Text 55"/>
          <p:cNvSpPr/>
          <p:nvPr/>
        </p:nvSpPr>
        <p:spPr>
          <a:xfrm>
            <a:off x="6636726" y="794444"/>
            <a:ext cx="1013601" cy="1809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spcAft>
                <a:spcPts val="527"/>
              </a:spcAft>
              <a:buNone/>
            </a:pPr>
            <a:r>
              <a:rPr lang="en-US" sz="1080" b="1" kern="0" spc="173" dirty="0">
                <a:solidFill>
                  <a:srgbClr val="7BB8C5"/>
                </a:solidFill>
                <a:latin typeface="Times New Roman" panose="02020603050405020304" pitchFamily="18" charset="0"/>
                <a:ea typeface="IBM Plex Sans" pitchFamily="34" charset="-122"/>
                <a:cs typeface="Times New Roman" panose="02020603050405020304" pitchFamily="18" charset="0"/>
              </a:rPr>
              <a:t>DATASET</a:t>
            </a:r>
            <a:endParaRPr lang="en-US" sz="108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9" name="Shape 56"/>
          <p:cNvSpPr/>
          <p:nvPr/>
        </p:nvSpPr>
        <p:spPr>
          <a:xfrm>
            <a:off x="6584752" y="1702780"/>
            <a:ext cx="1905000" cy="1014413"/>
          </a:xfrm>
          <a:prstGeom prst="rect">
            <a:avLst/>
          </a:prstGeom>
          <a:ln/>
        </p:spPr>
        <p:txBody>
          <a:bodyPr/>
          <a:lstStyle/>
          <a:p>
            <a:endParaRPr lang="en-IN"/>
          </a:p>
        </p:txBody>
      </p:sp>
      <p:sp>
        <p:nvSpPr>
          <p:cNvPr id="60" name="Text 57"/>
          <p:cNvSpPr/>
          <p:nvPr/>
        </p:nvSpPr>
        <p:spPr>
          <a:xfrm>
            <a:off x="6570726" y="1242231"/>
            <a:ext cx="854660" cy="1809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80" b="1" dirty="0">
                <a:solidFill>
                  <a:srgbClr val="F2F5F2"/>
                </a:solidFill>
                <a:latin typeface="Times New Roman" panose="02020603050405020304" pitchFamily="18" charset="0"/>
                <a:ea typeface="IBM Plex Sans" pitchFamily="34" charset="-122"/>
                <a:cs typeface="Times New Roman" panose="02020603050405020304" pitchFamily="18" charset="0"/>
              </a:rPr>
              <a:t>Real Data</a:t>
            </a:r>
            <a:endParaRPr lang="en-US" sz="108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1" name="Text 58"/>
          <p:cNvSpPr/>
          <p:nvPr/>
        </p:nvSpPr>
        <p:spPr>
          <a:xfrm>
            <a:off x="6576521" y="1421120"/>
            <a:ext cx="2368324" cy="1809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spcBef>
                <a:spcPts val="162"/>
              </a:spcBef>
              <a:buNone/>
            </a:pPr>
            <a:r>
              <a:rPr lang="en-US" sz="1080" dirty="0">
                <a:solidFill>
                  <a:srgbClr val="9AABBB"/>
                </a:solidFill>
                <a:latin typeface="Times New Roman" panose="02020603050405020304" pitchFamily="18" charset="0"/>
                <a:ea typeface="IBM Plex Sans" pitchFamily="34" charset="-122"/>
                <a:cs typeface="Times New Roman" panose="02020603050405020304" pitchFamily="18" charset="0"/>
              </a:rPr>
              <a:t>Weather, traffic, metro usage</a:t>
            </a:r>
            <a:endParaRPr lang="en-US" sz="108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2" name="Text 59"/>
          <p:cNvSpPr/>
          <p:nvPr/>
        </p:nvSpPr>
        <p:spPr>
          <a:xfrm>
            <a:off x="6573910" y="1595660"/>
            <a:ext cx="2511303" cy="1809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spcBef>
                <a:spcPts val="162"/>
              </a:spcBef>
              <a:buNone/>
            </a:pPr>
            <a:r>
              <a:rPr lang="en-US" sz="1080" dirty="0">
                <a:solidFill>
                  <a:srgbClr val="9AABBB"/>
                </a:solidFill>
                <a:latin typeface="Times New Roman" panose="02020603050405020304" pitchFamily="18" charset="0"/>
                <a:ea typeface="IBM Plex Sans" pitchFamily="34" charset="-122"/>
                <a:cs typeface="Times New Roman" panose="02020603050405020304" pitchFamily="18" charset="0"/>
              </a:rPr>
              <a:t>and infrastructure information.</a:t>
            </a:r>
            <a:endParaRPr lang="en-US" sz="108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3" name="Text 60"/>
          <p:cNvSpPr/>
          <p:nvPr/>
        </p:nvSpPr>
        <p:spPr>
          <a:xfrm>
            <a:off x="6564072" y="1782254"/>
            <a:ext cx="2135378" cy="3586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12"/>
              </a:lnSpc>
              <a:buNone/>
            </a:pPr>
            <a:r>
              <a:rPr lang="en-US" sz="1010" dirty="0">
                <a:solidFill>
                  <a:srgbClr val="7BB8C5"/>
                </a:solidFill>
                <a:latin typeface="Times New Roman" panose="02020603050405020304" pitchFamily="18" charset="0"/>
                <a:ea typeface="IBM Plex Sans" pitchFamily="34" charset="-122"/>
                <a:cs typeface="Times New Roman" panose="02020603050405020304" pitchFamily="18" charset="0"/>
              </a:rPr>
              <a:t>Purpose: provide real-world</a:t>
            </a:r>
            <a:endParaRPr lang="en-US" sz="101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l">
              <a:lnSpc>
                <a:spcPts val="1512"/>
              </a:lnSpc>
              <a:buNone/>
            </a:pPr>
            <a:r>
              <a:rPr lang="en-US" sz="1010" dirty="0">
                <a:solidFill>
                  <a:srgbClr val="7BB8C5"/>
                </a:solidFill>
                <a:latin typeface="Times New Roman" panose="02020603050405020304" pitchFamily="18" charset="0"/>
                <a:ea typeface="IBM Plex Sans" pitchFamily="34" charset="-122"/>
                <a:cs typeface="Times New Roman" panose="02020603050405020304" pitchFamily="18" charset="0"/>
              </a:rPr>
              <a:t>contextual information.</a:t>
            </a:r>
            <a:endParaRPr lang="en-US" sz="101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4" name="Shape 61"/>
          <p:cNvSpPr/>
          <p:nvPr/>
        </p:nvSpPr>
        <p:spPr>
          <a:xfrm>
            <a:off x="6584752" y="2776575"/>
            <a:ext cx="1905000" cy="1333500"/>
          </a:xfrm>
          <a:prstGeom prst="rect">
            <a:avLst/>
          </a:prstGeom>
          <a:ln/>
        </p:spPr>
        <p:txBody>
          <a:bodyPr/>
          <a:lstStyle/>
          <a:p>
            <a:endParaRPr lang="en-IN"/>
          </a:p>
        </p:txBody>
      </p:sp>
      <p:sp>
        <p:nvSpPr>
          <p:cNvPr id="65" name="Text 62"/>
          <p:cNvSpPr/>
          <p:nvPr/>
        </p:nvSpPr>
        <p:spPr>
          <a:xfrm>
            <a:off x="6564072" y="2216647"/>
            <a:ext cx="1272763" cy="1809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80" b="1" dirty="0">
                <a:solidFill>
                  <a:srgbClr val="F2F5F2"/>
                </a:solidFill>
                <a:latin typeface="Times New Roman" panose="02020603050405020304" pitchFamily="18" charset="0"/>
                <a:ea typeface="IBM Plex Sans" pitchFamily="34" charset="-122"/>
                <a:cs typeface="Times New Roman" panose="02020603050405020304" pitchFamily="18" charset="0"/>
              </a:rPr>
              <a:t>Synthetic Data</a:t>
            </a:r>
            <a:endParaRPr lang="en-US" sz="108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6" name="Text 63"/>
          <p:cNvSpPr/>
          <p:nvPr/>
        </p:nvSpPr>
        <p:spPr>
          <a:xfrm>
            <a:off x="6563860" y="2397969"/>
            <a:ext cx="1589388" cy="1809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spcBef>
                <a:spcPts val="162"/>
              </a:spcBef>
            </a:pPr>
            <a:r>
              <a:rPr lang="en-US" sz="1080" dirty="0">
                <a:solidFill>
                  <a:srgbClr val="9AABBB"/>
                </a:solidFill>
                <a:latin typeface="Times New Roman" panose="02020603050405020304" pitchFamily="18" charset="0"/>
                <a:ea typeface="IBM Plex Sans" pitchFamily="34" charset="-122"/>
                <a:cs typeface="Times New Roman" panose="02020603050405020304" pitchFamily="18" charset="0"/>
              </a:rPr>
              <a:t>Asset telemetry for infrastructure</a:t>
            </a:r>
            <a:endParaRPr lang="en-US" sz="108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7" name="Text 64"/>
          <p:cNvSpPr/>
          <p:nvPr/>
        </p:nvSpPr>
        <p:spPr>
          <a:xfrm>
            <a:off x="6564072" y="2579291"/>
            <a:ext cx="1796795" cy="1809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spcBef>
                <a:spcPts val="162"/>
              </a:spcBef>
            </a:pPr>
            <a:r>
              <a:rPr lang="en-US" sz="1080" dirty="0">
                <a:solidFill>
                  <a:srgbClr val="9AABBB"/>
                </a:solidFill>
                <a:latin typeface="Times New Roman" panose="02020603050405020304" pitchFamily="18" charset="0"/>
                <a:ea typeface="IBM Plex Sans" pitchFamily="34" charset="-122"/>
                <a:cs typeface="Times New Roman" panose="02020603050405020304" pitchFamily="18" charset="0"/>
              </a:rPr>
              <a:t>such as escalators, elevators, </a:t>
            </a:r>
            <a:endParaRPr lang="en-US" sz="108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8" name="Text 65"/>
          <p:cNvSpPr/>
          <p:nvPr/>
        </p:nvSpPr>
        <p:spPr>
          <a:xfrm>
            <a:off x="6563860" y="2753321"/>
            <a:ext cx="2352459" cy="1809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spcBef>
                <a:spcPts val="162"/>
              </a:spcBef>
            </a:pPr>
            <a:r>
              <a:rPr lang="en-US" sz="1080" dirty="0">
                <a:solidFill>
                  <a:srgbClr val="9AABBB"/>
                </a:solidFill>
                <a:latin typeface="Times New Roman" panose="02020603050405020304" pitchFamily="18" charset="0"/>
                <a:ea typeface="IBM Plex Sans" pitchFamily="34" charset="-122"/>
                <a:cs typeface="Times New Roman" panose="02020603050405020304" pitchFamily="18" charset="0"/>
              </a:rPr>
              <a:t>pumps and roads.</a:t>
            </a:r>
            <a:endParaRPr lang="en-US" sz="108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0" name="Text 67"/>
          <p:cNvSpPr/>
          <p:nvPr/>
        </p:nvSpPr>
        <p:spPr>
          <a:xfrm>
            <a:off x="6560016" y="2951442"/>
            <a:ext cx="2500759" cy="3586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12"/>
              </a:lnSpc>
              <a:buNone/>
            </a:pPr>
            <a:r>
              <a:rPr lang="en-US" sz="1010" dirty="0">
                <a:solidFill>
                  <a:srgbClr val="7BB8C5"/>
                </a:solidFill>
                <a:latin typeface="Times New Roman" panose="02020603050405020304" pitchFamily="18" charset="0"/>
                <a:ea typeface="IBM Plex Sans" pitchFamily="34" charset="-122"/>
                <a:cs typeface="Times New Roman" panose="02020603050405020304" pitchFamily="18" charset="0"/>
              </a:rPr>
              <a:t>Purpose: support controlled</a:t>
            </a:r>
            <a:endParaRPr lang="en-US" sz="101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l">
              <a:lnSpc>
                <a:spcPts val="1512"/>
              </a:lnSpc>
              <a:buNone/>
            </a:pPr>
            <a:r>
              <a:rPr lang="en-US" sz="1010" dirty="0">
                <a:solidFill>
                  <a:srgbClr val="7BB8C5"/>
                </a:solidFill>
                <a:latin typeface="Times New Roman" panose="02020603050405020304" pitchFamily="18" charset="0"/>
                <a:ea typeface="IBM Plex Sans" pitchFamily="34" charset="-122"/>
                <a:cs typeface="Times New Roman" panose="02020603050405020304" pitchFamily="18" charset="0"/>
              </a:rPr>
              <a:t>monitoring and failure scenarios.</a:t>
            </a:r>
            <a:endParaRPr lang="en-US" sz="101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1" name="Shape 68"/>
          <p:cNvSpPr/>
          <p:nvPr/>
        </p:nvSpPr>
        <p:spPr>
          <a:xfrm>
            <a:off x="6584752" y="4170201"/>
            <a:ext cx="1905000" cy="1204913"/>
          </a:xfrm>
          <a:prstGeom prst="rect">
            <a:avLst/>
          </a:prstGeom>
          <a:ln/>
        </p:spPr>
        <p:txBody>
          <a:bodyPr/>
          <a:lstStyle/>
          <a:p>
            <a:endParaRPr lang="en-IN"/>
          </a:p>
        </p:txBody>
      </p:sp>
      <p:sp>
        <p:nvSpPr>
          <p:cNvPr id="72" name="Text 69"/>
          <p:cNvSpPr/>
          <p:nvPr/>
        </p:nvSpPr>
        <p:spPr>
          <a:xfrm>
            <a:off x="6560016" y="3386590"/>
            <a:ext cx="950528" cy="1809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80" b="1" dirty="0">
                <a:solidFill>
                  <a:srgbClr val="F2F5F2"/>
                </a:solidFill>
                <a:latin typeface="Times New Roman" panose="02020603050405020304" pitchFamily="18" charset="0"/>
                <a:ea typeface="IBM Plex Sans" pitchFamily="34" charset="-122"/>
                <a:cs typeface="Times New Roman" panose="02020603050405020304" pitchFamily="18" charset="0"/>
              </a:rPr>
              <a:t>Simulation</a:t>
            </a:r>
            <a:endParaRPr lang="en-US" sz="108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3" name="Text 70"/>
          <p:cNvSpPr/>
          <p:nvPr/>
        </p:nvSpPr>
        <p:spPr>
          <a:xfrm>
            <a:off x="6559461" y="3566436"/>
            <a:ext cx="2072015" cy="1809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spcBef>
                <a:spcPts val="162"/>
              </a:spcBef>
              <a:buNone/>
            </a:pPr>
            <a:r>
              <a:rPr lang="en-US" sz="1080" dirty="0">
                <a:solidFill>
                  <a:srgbClr val="9AABBB"/>
                </a:solidFill>
                <a:latin typeface="Times New Roman" panose="02020603050405020304" pitchFamily="18" charset="0"/>
                <a:ea typeface="IBM Plex Sans" pitchFamily="34" charset="-122"/>
                <a:cs typeface="Times New Roman" panose="02020603050405020304" pitchFamily="18" charset="0"/>
              </a:rPr>
              <a:t>Infrastructure failure and</a:t>
            </a:r>
            <a:endParaRPr lang="en-US" sz="108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4" name="Text 71"/>
          <p:cNvSpPr/>
          <p:nvPr/>
        </p:nvSpPr>
        <p:spPr>
          <a:xfrm>
            <a:off x="6560016" y="3746535"/>
            <a:ext cx="1651784" cy="1809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spcBef>
                <a:spcPts val="162"/>
              </a:spcBef>
              <a:buNone/>
            </a:pPr>
            <a:r>
              <a:rPr lang="en-US" sz="1080" dirty="0">
                <a:solidFill>
                  <a:srgbClr val="9AABBB"/>
                </a:solidFill>
                <a:latin typeface="Times New Roman" panose="02020603050405020304" pitchFamily="18" charset="0"/>
                <a:ea typeface="IBM Plex Sans" pitchFamily="34" charset="-122"/>
                <a:cs typeface="Times New Roman" panose="02020603050405020304" pitchFamily="18" charset="0"/>
              </a:rPr>
              <a:t>response scenarios.</a:t>
            </a:r>
            <a:endParaRPr lang="en-US" sz="108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5" name="Text 72"/>
          <p:cNvSpPr/>
          <p:nvPr/>
        </p:nvSpPr>
        <p:spPr>
          <a:xfrm>
            <a:off x="6555938" y="3931291"/>
            <a:ext cx="1817303" cy="4294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12"/>
              </a:lnSpc>
              <a:buNone/>
            </a:pPr>
            <a:r>
              <a:rPr lang="en-US" sz="1010" dirty="0">
                <a:solidFill>
                  <a:srgbClr val="7BB8C5"/>
                </a:solidFill>
                <a:latin typeface="Times New Roman" panose="02020603050405020304" pitchFamily="18" charset="0"/>
                <a:ea typeface="IBM Plex Sans" pitchFamily="34" charset="-122"/>
                <a:cs typeface="Times New Roman" panose="02020603050405020304" pitchFamily="18" charset="0"/>
              </a:rPr>
              <a:t>Purpose: study incident</a:t>
            </a:r>
            <a:r>
              <a:rPr lang="en-US" sz="10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010" dirty="0">
                <a:solidFill>
                  <a:srgbClr val="7BB8C5"/>
                </a:solidFill>
                <a:latin typeface="Times New Roman" panose="02020603050405020304" pitchFamily="18" charset="0"/>
                <a:ea typeface="IBM Plex Sans" pitchFamily="34" charset="-122"/>
                <a:cs typeface="Times New Roman" panose="02020603050405020304" pitchFamily="18" charset="0"/>
              </a:rPr>
              <a:t>behavior  </a:t>
            </a:r>
          </a:p>
          <a:p>
            <a:pPr marL="0" indent="0" algn="l">
              <a:lnSpc>
                <a:spcPts val="1512"/>
              </a:lnSpc>
              <a:buNone/>
            </a:pPr>
            <a:r>
              <a:rPr lang="en-US" sz="1010" dirty="0">
                <a:solidFill>
                  <a:srgbClr val="7BB8C5"/>
                </a:solidFill>
                <a:latin typeface="Times New Roman" panose="02020603050405020304" pitchFamily="18" charset="0"/>
                <a:ea typeface="IBM Plex Sans" pitchFamily="34" charset="-122"/>
                <a:cs typeface="Times New Roman" panose="02020603050405020304" pitchFamily="18" charset="0"/>
              </a:rPr>
              <a:t>and possible</a:t>
            </a:r>
            <a:r>
              <a:rPr lang="en-US" sz="10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010" dirty="0">
                <a:solidFill>
                  <a:srgbClr val="7BB8C5"/>
                </a:solidFill>
                <a:latin typeface="Times New Roman" panose="02020603050405020304" pitchFamily="18" charset="0"/>
                <a:ea typeface="IBM Plex Sans" pitchFamily="34" charset="-122"/>
                <a:cs typeface="Times New Roman" panose="02020603050405020304" pitchFamily="18" charset="0"/>
              </a:rPr>
              <a:t>consequences.</a:t>
            </a:r>
            <a:endParaRPr lang="en-US" sz="101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6" name="Shape 73"/>
          <p:cNvSpPr/>
          <p:nvPr/>
        </p:nvSpPr>
        <p:spPr>
          <a:xfrm>
            <a:off x="6512111" y="4348248"/>
            <a:ext cx="1905000" cy="571138"/>
          </a:xfrm>
          <a:prstGeom prst="rect">
            <a:avLst/>
          </a:prstGeom>
          <a:solidFill>
            <a:srgbClr val="182E3B"/>
          </a:solidFill>
          <a:ln w="4763">
            <a:solidFill>
              <a:srgbClr val="7BB7C5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7" name="Text 74"/>
          <p:cNvSpPr/>
          <p:nvPr/>
        </p:nvSpPr>
        <p:spPr>
          <a:xfrm>
            <a:off x="6560428" y="4375252"/>
            <a:ext cx="1761679" cy="1619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70" kern="0" spc="136" dirty="0">
                <a:solidFill>
                  <a:srgbClr val="9AABBB"/>
                </a:solidFill>
                <a:latin typeface="Times New Roman" panose="02020603050405020304" pitchFamily="18" charset="0"/>
                <a:ea typeface="IBM Plex Sans" pitchFamily="34" charset="-122"/>
                <a:cs typeface="Times New Roman" panose="02020603050405020304" pitchFamily="18" charset="0"/>
              </a:rPr>
              <a:t>OVERALL DATASET</a:t>
            </a:r>
            <a:endParaRPr lang="en-US" sz="97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8" name="Text 75"/>
          <p:cNvSpPr/>
          <p:nvPr/>
        </p:nvSpPr>
        <p:spPr>
          <a:xfrm>
            <a:off x="6570726" y="4493527"/>
            <a:ext cx="1631639" cy="2188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1674"/>
              </a:lnSpc>
              <a:buNone/>
            </a:pPr>
            <a:r>
              <a:rPr lang="en-US" sz="1000" b="1" dirty="0">
                <a:solidFill>
                  <a:srgbClr val="7BB8C5"/>
                </a:solidFill>
                <a:latin typeface="Times New Roman" panose="02020603050405020304" pitchFamily="18" charset="0"/>
                <a:ea typeface="IBM Plex Sans" pitchFamily="34" charset="-122"/>
                <a:cs typeface="Times New Roman" panose="02020603050405020304" pitchFamily="18" charset="0"/>
              </a:rPr>
              <a:t>Real Data + Synthetic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9" name="Text 76"/>
          <p:cNvSpPr/>
          <p:nvPr/>
        </p:nvSpPr>
        <p:spPr>
          <a:xfrm>
            <a:off x="1360900" y="6375871"/>
            <a:ext cx="4530812" cy="1666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10" kern="0" spc="151" dirty="0">
                <a:solidFill>
                  <a:srgbClr val="9AABBB"/>
                </a:solidFill>
                <a:latin typeface="Times New Roman" panose="02020603050405020304" pitchFamily="18" charset="0"/>
                <a:ea typeface="IBM Plex Sans" pitchFamily="34" charset="-122"/>
                <a:cs typeface="Times New Roman" panose="02020603050405020304" pitchFamily="18" charset="0"/>
              </a:rPr>
              <a:t>CONDITION / CAUSE / IMPACT / DEPENDENCY</a:t>
            </a:r>
            <a:endParaRPr lang="en-US" sz="101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0" name="Text 77"/>
          <p:cNvSpPr/>
          <p:nvPr/>
        </p:nvSpPr>
        <p:spPr>
          <a:xfrm>
            <a:off x="6183362" y="6388298"/>
            <a:ext cx="3240323" cy="1666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10" kern="0" spc="151" dirty="0">
                <a:solidFill>
                  <a:srgbClr val="9AABBB"/>
                </a:solidFill>
                <a:latin typeface="Times New Roman" panose="02020603050405020304" pitchFamily="18" charset="0"/>
                <a:ea typeface="IBM Plex Sans" pitchFamily="34" charset="-122"/>
                <a:cs typeface="Times New Roman" panose="02020603050405020304" pitchFamily="18" charset="0"/>
              </a:rPr>
              <a:t>PROPOSED, NOT YET EVALUATED</a:t>
            </a:r>
            <a:endParaRPr lang="en-US" sz="101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81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92628" y="-449014"/>
            <a:ext cx="8120062" cy="985838"/>
          </a:xfrm>
          <a:prstGeom prst="rect">
            <a:avLst/>
          </a:prstGeom>
        </p:spPr>
      </p:pic>
      <p:sp>
        <p:nvSpPr>
          <p:cNvPr id="82" name="Text 78"/>
          <p:cNvSpPr/>
          <p:nvPr/>
        </p:nvSpPr>
        <p:spPr>
          <a:xfrm>
            <a:off x="382540" y="1276767"/>
            <a:ext cx="1995487" cy="27074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417"/>
              </a:lnSpc>
              <a:spcAft>
                <a:spcPts val="770"/>
              </a:spcAft>
              <a:buNone/>
            </a:pPr>
            <a:r>
              <a:rPr lang="en-US" sz="1120" dirty="0">
                <a:solidFill>
                  <a:srgbClr val="F2F5F2"/>
                </a:solidFill>
                <a:latin typeface="Times New Roman" panose="02020603050405020304" pitchFamily="18" charset="0"/>
                <a:ea typeface="IBM Plex Sans" pitchFamily="34" charset="-122"/>
                <a:cs typeface="Times New Roman" panose="02020603050405020304" pitchFamily="18" charset="0"/>
              </a:rPr>
              <a:t>Urban infrastructure such as Metro, Water, Drainage and Roads consists of interconnected assets.</a:t>
            </a:r>
            <a:endParaRPr lang="en-US" sz="112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l">
              <a:lnSpc>
                <a:spcPts val="1417"/>
              </a:lnSpc>
              <a:spcAft>
                <a:spcPts val="770"/>
              </a:spcAft>
              <a:buNone/>
            </a:pPr>
            <a:r>
              <a:rPr lang="en-US" sz="1120" dirty="0">
                <a:solidFill>
                  <a:srgbClr val="F2F5F2"/>
                </a:solidFill>
                <a:latin typeface="Times New Roman" panose="02020603050405020304" pitchFamily="18" charset="0"/>
                <a:ea typeface="IBM Plex Sans" pitchFamily="34" charset="-122"/>
                <a:cs typeface="Times New Roman" panose="02020603050405020304" pitchFamily="18" charset="0"/>
              </a:rPr>
              <a:t>Current systems often monitor these domains separately and mainly provide alerts when abnormal conditions or failures occur.</a:t>
            </a:r>
            <a:endParaRPr lang="en-US" sz="112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l">
              <a:lnSpc>
                <a:spcPts val="1417"/>
              </a:lnSpc>
              <a:buNone/>
            </a:pPr>
            <a:r>
              <a:rPr lang="en-US" sz="1120" dirty="0">
                <a:solidFill>
                  <a:srgbClr val="F2F5F2"/>
                </a:solidFill>
                <a:latin typeface="Times New Roman" panose="02020603050405020304" pitchFamily="18" charset="0"/>
                <a:ea typeface="IBM Plex Sans" pitchFamily="34" charset="-122"/>
                <a:cs typeface="Times New Roman" panose="02020603050405020304" pitchFamily="18" charset="0"/>
              </a:rPr>
              <a:t>The proposed work focuses on understanding the condition, cause, impact and cross-domain dependencies of infrastructure incidents.</a:t>
            </a:r>
            <a:endParaRPr lang="en-US" sz="112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83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577739" y="1202234"/>
            <a:ext cx="1905000" cy="1014413"/>
          </a:xfrm>
          <a:prstGeom prst="rect">
            <a:avLst/>
          </a:prstGeom>
        </p:spPr>
      </p:pic>
      <p:pic>
        <p:nvPicPr>
          <p:cNvPr id="84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540862" y="2192754"/>
            <a:ext cx="1905000" cy="1333500"/>
          </a:xfrm>
          <a:prstGeom prst="rect">
            <a:avLst/>
          </a:prstGeom>
        </p:spPr>
      </p:pic>
      <p:pic>
        <p:nvPicPr>
          <p:cNvPr id="85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547866" y="3356807"/>
            <a:ext cx="1905000" cy="1204913"/>
          </a:xfrm>
          <a:prstGeom prst="rect">
            <a:avLst/>
          </a:prstGeom>
        </p:spPr>
      </p:pic>
      <p:sp>
        <p:nvSpPr>
          <p:cNvPr id="86" name="TextBox 85">
            <a:extLst>
              <a:ext uri="{FF2B5EF4-FFF2-40B4-BE49-F238E27FC236}">
                <a16:creationId xmlns:a16="http://schemas.microsoft.com/office/drawing/2014/main" id="{689E8371-2E39-5F51-5446-04812452BA36}"/>
              </a:ext>
            </a:extLst>
          </p:cNvPr>
          <p:cNvSpPr txBox="1"/>
          <p:nvPr/>
        </p:nvSpPr>
        <p:spPr>
          <a:xfrm>
            <a:off x="6479022" y="4636951"/>
            <a:ext cx="1397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b="1" dirty="0">
                <a:solidFill>
                  <a:srgbClr val="7BB8C5"/>
                </a:solidFill>
                <a:latin typeface="Times New Roman" panose="02020603050405020304" pitchFamily="18" charset="0"/>
                <a:ea typeface="IBM Plex Sans" pitchFamily="34" charset="-122"/>
                <a:cs typeface="Times New Roman" panose="02020603050405020304" pitchFamily="18" charset="0"/>
              </a:rPr>
              <a:t>Data + Simulation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-1079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7590495" y="-1079"/>
            <a:ext cx="1552575" cy="38100"/>
          </a:xfrm>
          <a:prstGeom prst="rect">
            <a:avLst/>
          </a:prstGeom>
          <a:solidFill>
            <a:srgbClr val="7BB8C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Shape 1"/>
          <p:cNvSpPr/>
          <p:nvPr/>
        </p:nvSpPr>
        <p:spPr>
          <a:xfrm>
            <a:off x="511969" y="216843"/>
            <a:ext cx="8120062" cy="685800"/>
          </a:xfrm>
          <a:prstGeom prst="rect">
            <a:avLst/>
          </a:prstGeom>
          <a:ln/>
        </p:spPr>
        <p:txBody>
          <a:bodyPr/>
          <a:lstStyle/>
          <a:p>
            <a:endParaRPr lang="en-IN"/>
          </a:p>
        </p:txBody>
      </p:sp>
      <p:sp>
        <p:nvSpPr>
          <p:cNvPr id="6" name="Text 3"/>
          <p:cNvSpPr/>
          <p:nvPr/>
        </p:nvSpPr>
        <p:spPr>
          <a:xfrm>
            <a:off x="479217" y="81684"/>
            <a:ext cx="9436313" cy="29363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200" b="1" kern="0" spc="-86" dirty="0">
                <a:solidFill>
                  <a:srgbClr val="F2F5F2"/>
                </a:solidFill>
                <a:latin typeface="Times New Roman" panose="02020603050405020304" pitchFamily="18" charset="0"/>
                <a:ea typeface="IBM Plex Sans" pitchFamily="34" charset="-122"/>
                <a:cs typeface="Times New Roman" panose="02020603050405020304" pitchFamily="18" charset="0"/>
              </a:rPr>
              <a:t>Technical Approach &amp; Expected Outcomes</a:t>
            </a: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Shape 5"/>
          <p:cNvSpPr/>
          <p:nvPr/>
        </p:nvSpPr>
        <p:spPr>
          <a:xfrm>
            <a:off x="571527" y="613252"/>
            <a:ext cx="8120062" cy="1431812"/>
          </a:xfrm>
          <a:prstGeom prst="rect">
            <a:avLst/>
          </a:prstGeom>
          <a:solidFill>
            <a:srgbClr val="14263A">
              <a:alpha val="50196"/>
            </a:srgbClr>
          </a:solidFill>
          <a:ln w="4763">
            <a:solidFill>
              <a:srgbClr val="2C435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Text 6"/>
          <p:cNvSpPr/>
          <p:nvPr/>
        </p:nvSpPr>
        <p:spPr>
          <a:xfrm>
            <a:off x="609023" y="652182"/>
            <a:ext cx="2540809" cy="1809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80" b="1" kern="0" spc="173" dirty="0">
                <a:solidFill>
                  <a:srgbClr val="7BB8C5"/>
                </a:solidFill>
                <a:latin typeface="Times New Roman" panose="02020603050405020304" pitchFamily="18" charset="0"/>
                <a:ea typeface="IBM Plex Sans" pitchFamily="34" charset="-122"/>
                <a:cs typeface="Times New Roman" panose="02020603050405020304" pitchFamily="18" charset="0"/>
              </a:rPr>
              <a:t>TECHNICAL APPROACH</a:t>
            </a:r>
            <a:endParaRPr lang="en-US" sz="108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Shape 8"/>
          <p:cNvSpPr/>
          <p:nvPr/>
        </p:nvSpPr>
        <p:spPr>
          <a:xfrm>
            <a:off x="636255" y="886384"/>
            <a:ext cx="1509712" cy="1064157"/>
          </a:xfrm>
          <a:prstGeom prst="rect">
            <a:avLst/>
          </a:prstGeom>
          <a:solidFill>
            <a:srgbClr val="172A40"/>
          </a:solidFill>
          <a:ln w="4763">
            <a:solidFill>
              <a:srgbClr val="2C435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Text 9"/>
          <p:cNvSpPr/>
          <p:nvPr/>
        </p:nvSpPr>
        <p:spPr>
          <a:xfrm>
            <a:off x="750094" y="967941"/>
            <a:ext cx="249659" cy="1619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spcAft>
                <a:spcPts val="324"/>
              </a:spcAft>
              <a:buNone/>
            </a:pPr>
            <a:r>
              <a:rPr lang="en-US" sz="970" b="1" dirty="0">
                <a:solidFill>
                  <a:srgbClr val="7BB8C5"/>
                </a:solidFill>
                <a:latin typeface="Times New Roman" panose="02020603050405020304" pitchFamily="18" charset="0"/>
                <a:ea typeface="IBM Plex Sans" pitchFamily="34" charset="-122"/>
                <a:cs typeface="Times New Roman" panose="02020603050405020304" pitchFamily="18" charset="0"/>
              </a:rPr>
              <a:t>01</a:t>
            </a:r>
            <a:endParaRPr lang="en-US" sz="97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 10"/>
          <p:cNvSpPr/>
          <p:nvPr/>
        </p:nvSpPr>
        <p:spPr>
          <a:xfrm>
            <a:off x="750094" y="1174810"/>
            <a:ext cx="1258736" cy="1952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190" b="1" dirty="0">
                <a:solidFill>
                  <a:srgbClr val="F2F5F2"/>
                </a:solidFill>
                <a:latin typeface="Times New Roman" panose="02020603050405020304" pitchFamily="18" charset="0"/>
                <a:ea typeface="IBM Plex Sans" pitchFamily="34" charset="-122"/>
                <a:cs typeface="Times New Roman" panose="02020603050405020304" pitchFamily="18" charset="0"/>
              </a:rPr>
              <a:t>Data Sources</a:t>
            </a:r>
            <a:endParaRPr lang="en-US" sz="119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Text 11"/>
          <p:cNvSpPr/>
          <p:nvPr/>
        </p:nvSpPr>
        <p:spPr>
          <a:xfrm>
            <a:off x="750094" y="1401179"/>
            <a:ext cx="1681773" cy="1809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spcBef>
                <a:spcPts val="284"/>
              </a:spcBef>
              <a:buNone/>
            </a:pPr>
            <a:r>
              <a:rPr lang="en-US" sz="1080" dirty="0">
                <a:solidFill>
                  <a:srgbClr val="9AABBB"/>
                </a:solidFill>
                <a:latin typeface="Times New Roman" panose="02020603050405020304" pitchFamily="18" charset="0"/>
                <a:ea typeface="IBM Plex Sans" pitchFamily="34" charset="-122"/>
                <a:cs typeface="Times New Roman" panose="02020603050405020304" pitchFamily="18" charset="0"/>
              </a:rPr>
              <a:t>Data integration and</a:t>
            </a:r>
            <a:endParaRPr lang="en-US" sz="108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Text 12"/>
          <p:cNvSpPr/>
          <p:nvPr/>
        </p:nvSpPr>
        <p:spPr>
          <a:xfrm>
            <a:off x="761623" y="1582154"/>
            <a:ext cx="989804" cy="1809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spcBef>
                <a:spcPts val="284"/>
              </a:spcBef>
              <a:buNone/>
            </a:pPr>
            <a:r>
              <a:rPr lang="en-US" sz="1080" dirty="0">
                <a:solidFill>
                  <a:srgbClr val="9AABBB"/>
                </a:solidFill>
                <a:latin typeface="Times New Roman" panose="02020603050405020304" pitchFamily="18" charset="0"/>
                <a:ea typeface="IBM Plex Sans" pitchFamily="34" charset="-122"/>
                <a:cs typeface="Times New Roman" panose="02020603050405020304" pitchFamily="18" charset="0"/>
              </a:rPr>
              <a:t>preparation</a:t>
            </a:r>
            <a:endParaRPr lang="en-US" sz="108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Shape 13"/>
          <p:cNvSpPr/>
          <p:nvPr/>
        </p:nvSpPr>
        <p:spPr>
          <a:xfrm>
            <a:off x="2235250" y="886384"/>
            <a:ext cx="1509712" cy="1064157"/>
          </a:xfrm>
          <a:prstGeom prst="rect">
            <a:avLst/>
          </a:prstGeom>
          <a:solidFill>
            <a:srgbClr val="172A40"/>
          </a:solidFill>
          <a:ln w="4763">
            <a:solidFill>
              <a:srgbClr val="2C435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Text 14"/>
          <p:cNvSpPr/>
          <p:nvPr/>
        </p:nvSpPr>
        <p:spPr>
          <a:xfrm>
            <a:off x="2340857" y="974037"/>
            <a:ext cx="249659" cy="1619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spcAft>
                <a:spcPts val="324"/>
              </a:spcAft>
              <a:buNone/>
            </a:pPr>
            <a:r>
              <a:rPr lang="en-US" sz="970" b="1" dirty="0">
                <a:solidFill>
                  <a:srgbClr val="7BB8C5"/>
                </a:solidFill>
                <a:latin typeface="Times New Roman" panose="02020603050405020304" pitchFamily="18" charset="0"/>
                <a:ea typeface="IBM Plex Sans" pitchFamily="34" charset="-122"/>
                <a:cs typeface="Times New Roman" panose="02020603050405020304" pitchFamily="18" charset="0"/>
              </a:rPr>
              <a:t>02</a:t>
            </a:r>
            <a:endParaRPr lang="en-US" sz="97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Text 15"/>
          <p:cNvSpPr/>
          <p:nvPr/>
        </p:nvSpPr>
        <p:spPr>
          <a:xfrm>
            <a:off x="2303078" y="1168870"/>
            <a:ext cx="1611347" cy="1952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190" b="1" dirty="0">
                <a:solidFill>
                  <a:srgbClr val="F2F5F2"/>
                </a:solidFill>
                <a:latin typeface="Times New Roman" panose="02020603050405020304" pitchFamily="18" charset="0"/>
                <a:ea typeface="IBM Plex Sans" pitchFamily="34" charset="-122"/>
                <a:cs typeface="Times New Roman" panose="02020603050405020304" pitchFamily="18" charset="0"/>
              </a:rPr>
              <a:t>Data Engineering</a:t>
            </a:r>
            <a:endParaRPr lang="en-US" sz="119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Text 16"/>
          <p:cNvSpPr/>
          <p:nvPr/>
        </p:nvSpPr>
        <p:spPr>
          <a:xfrm>
            <a:off x="2296333" y="1402529"/>
            <a:ext cx="1762743" cy="1809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spcBef>
                <a:spcPts val="284"/>
              </a:spcBef>
              <a:buNone/>
            </a:pPr>
            <a:r>
              <a:rPr lang="en-US" sz="1080" dirty="0">
                <a:solidFill>
                  <a:srgbClr val="9AABBB"/>
                </a:solidFill>
                <a:latin typeface="Times New Roman" panose="02020603050405020304" pitchFamily="18" charset="0"/>
                <a:ea typeface="IBM Plex Sans" pitchFamily="34" charset="-122"/>
                <a:cs typeface="Times New Roman" panose="02020603050405020304" pitchFamily="18" charset="0"/>
              </a:rPr>
              <a:t>Unified infrastructure</a:t>
            </a:r>
            <a:endParaRPr lang="en-US" sz="108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Text 17"/>
          <p:cNvSpPr/>
          <p:nvPr/>
        </p:nvSpPr>
        <p:spPr>
          <a:xfrm>
            <a:off x="2322954" y="1575544"/>
            <a:ext cx="1097183" cy="1809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spcBef>
                <a:spcPts val="284"/>
              </a:spcBef>
              <a:buNone/>
            </a:pPr>
            <a:r>
              <a:rPr lang="en-US" sz="1080" dirty="0">
                <a:solidFill>
                  <a:srgbClr val="9AABBB"/>
                </a:solidFill>
                <a:latin typeface="Times New Roman" panose="02020603050405020304" pitchFamily="18" charset="0"/>
                <a:ea typeface="IBM Plex Sans" pitchFamily="34" charset="-122"/>
                <a:cs typeface="Times New Roman" panose="02020603050405020304" pitchFamily="18" charset="0"/>
              </a:rPr>
              <a:t>data pipeline</a:t>
            </a:r>
            <a:endParaRPr lang="en-US" sz="108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Shape 18"/>
          <p:cNvSpPr/>
          <p:nvPr/>
        </p:nvSpPr>
        <p:spPr>
          <a:xfrm>
            <a:off x="3817144" y="894293"/>
            <a:ext cx="1509712" cy="1064157"/>
          </a:xfrm>
          <a:prstGeom prst="rect">
            <a:avLst/>
          </a:prstGeom>
          <a:solidFill>
            <a:srgbClr val="172A40"/>
          </a:solidFill>
          <a:ln w="4763">
            <a:solidFill>
              <a:srgbClr val="2C435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2" name="Text 19"/>
          <p:cNvSpPr/>
          <p:nvPr/>
        </p:nvSpPr>
        <p:spPr>
          <a:xfrm>
            <a:off x="3882925" y="974037"/>
            <a:ext cx="249659" cy="1619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spcAft>
                <a:spcPts val="324"/>
              </a:spcAft>
              <a:buNone/>
            </a:pPr>
            <a:r>
              <a:rPr lang="en-US" sz="970" b="1" dirty="0">
                <a:solidFill>
                  <a:srgbClr val="7BB8C5"/>
                </a:solidFill>
                <a:latin typeface="Times New Roman" panose="02020603050405020304" pitchFamily="18" charset="0"/>
                <a:ea typeface="IBM Plex Sans" pitchFamily="34" charset="-122"/>
                <a:cs typeface="Times New Roman" panose="02020603050405020304" pitchFamily="18" charset="0"/>
              </a:rPr>
              <a:t>03</a:t>
            </a:r>
            <a:endParaRPr lang="en-US" sz="97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Text 20"/>
          <p:cNvSpPr/>
          <p:nvPr/>
        </p:nvSpPr>
        <p:spPr>
          <a:xfrm>
            <a:off x="3888853" y="1167614"/>
            <a:ext cx="1527862" cy="1952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190" b="1" dirty="0">
                <a:solidFill>
                  <a:srgbClr val="F2F5F2"/>
                </a:solidFill>
                <a:latin typeface="Times New Roman" panose="02020603050405020304" pitchFamily="18" charset="0"/>
                <a:ea typeface="IBM Plex Sans" pitchFamily="34" charset="-122"/>
                <a:cs typeface="Times New Roman" panose="02020603050405020304" pitchFamily="18" charset="0"/>
              </a:rPr>
              <a:t>Monitoring &amp; ML</a:t>
            </a:r>
            <a:endParaRPr lang="en-US" sz="119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" name="Text 21"/>
          <p:cNvSpPr/>
          <p:nvPr/>
        </p:nvSpPr>
        <p:spPr>
          <a:xfrm>
            <a:off x="3903601" y="1407840"/>
            <a:ext cx="966683" cy="1809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spcBef>
                <a:spcPts val="284"/>
              </a:spcBef>
              <a:buNone/>
            </a:pPr>
            <a:r>
              <a:rPr lang="en-US" sz="1080" dirty="0">
                <a:solidFill>
                  <a:srgbClr val="9AABBB"/>
                </a:solidFill>
                <a:latin typeface="Times New Roman" panose="02020603050405020304" pitchFamily="18" charset="0"/>
                <a:ea typeface="IBM Plex Sans" pitchFamily="34" charset="-122"/>
                <a:cs typeface="Times New Roman" panose="02020603050405020304" pitchFamily="18" charset="0"/>
              </a:rPr>
              <a:t>Continuous</a:t>
            </a:r>
            <a:endParaRPr lang="en-US" sz="108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" name="Text 22"/>
          <p:cNvSpPr/>
          <p:nvPr/>
        </p:nvSpPr>
        <p:spPr>
          <a:xfrm>
            <a:off x="3912330" y="1575543"/>
            <a:ext cx="1151550" cy="1809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spcBef>
                <a:spcPts val="284"/>
              </a:spcBef>
            </a:pPr>
            <a:r>
              <a:rPr lang="en-US" sz="1080" dirty="0">
                <a:solidFill>
                  <a:srgbClr val="9AABBB"/>
                </a:solidFill>
                <a:latin typeface="Times New Roman" panose="02020603050405020304" pitchFamily="18" charset="0"/>
                <a:ea typeface="IBM Plex Sans" pitchFamily="34" charset="-122"/>
                <a:cs typeface="Times New Roman" panose="02020603050405020304" pitchFamily="18" charset="0"/>
              </a:rPr>
              <a:t>infrastructure monitoring</a:t>
            </a:r>
            <a:endParaRPr lang="en-US" sz="108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6" name="Text 23"/>
          <p:cNvSpPr/>
          <p:nvPr/>
        </p:nvSpPr>
        <p:spPr>
          <a:xfrm>
            <a:off x="3913733" y="2255788"/>
            <a:ext cx="925666" cy="1809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spcBef>
                <a:spcPts val="284"/>
              </a:spcBef>
              <a:buNone/>
            </a:pPr>
            <a:endParaRPr lang="en-US" sz="108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7" name="Shape 24"/>
          <p:cNvSpPr/>
          <p:nvPr/>
        </p:nvSpPr>
        <p:spPr>
          <a:xfrm>
            <a:off x="5416715" y="886384"/>
            <a:ext cx="1509712" cy="1072066"/>
          </a:xfrm>
          <a:prstGeom prst="rect">
            <a:avLst/>
          </a:prstGeom>
          <a:solidFill>
            <a:srgbClr val="172A40"/>
          </a:solidFill>
          <a:ln w="4763">
            <a:solidFill>
              <a:srgbClr val="2C435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8" name="Text 25"/>
          <p:cNvSpPr/>
          <p:nvPr/>
        </p:nvSpPr>
        <p:spPr>
          <a:xfrm>
            <a:off x="5518091" y="1012885"/>
            <a:ext cx="249659" cy="1619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spcAft>
                <a:spcPts val="324"/>
              </a:spcAft>
              <a:buNone/>
            </a:pPr>
            <a:r>
              <a:rPr lang="en-US" sz="970" b="1" dirty="0">
                <a:solidFill>
                  <a:srgbClr val="7BB8C5"/>
                </a:solidFill>
                <a:latin typeface="Times New Roman" panose="02020603050405020304" pitchFamily="18" charset="0"/>
                <a:ea typeface="IBM Plex Sans" pitchFamily="34" charset="-122"/>
                <a:cs typeface="Times New Roman" panose="02020603050405020304" pitchFamily="18" charset="0"/>
              </a:rPr>
              <a:t>04</a:t>
            </a:r>
            <a:endParaRPr lang="en-US" sz="97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9" name="Text 26"/>
          <p:cNvSpPr/>
          <p:nvPr/>
        </p:nvSpPr>
        <p:spPr>
          <a:xfrm>
            <a:off x="5483905" y="1145251"/>
            <a:ext cx="1256221" cy="421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82"/>
              </a:lnSpc>
              <a:buNone/>
            </a:pPr>
            <a:r>
              <a:rPr lang="en-US" sz="1190" b="1" dirty="0">
                <a:solidFill>
                  <a:srgbClr val="F2F5F2"/>
                </a:solidFill>
                <a:latin typeface="Times New Roman" panose="02020603050405020304" pitchFamily="18" charset="0"/>
                <a:ea typeface="IBM Plex Sans" pitchFamily="34" charset="-122"/>
                <a:cs typeface="Times New Roman" panose="02020603050405020304" pitchFamily="18" charset="0"/>
              </a:rPr>
              <a:t>Agentic</a:t>
            </a:r>
            <a:r>
              <a:rPr lang="en-US" sz="119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190" b="1" dirty="0">
                <a:solidFill>
                  <a:srgbClr val="F2F5F2"/>
                </a:solidFill>
                <a:latin typeface="Times New Roman" panose="02020603050405020304" pitchFamily="18" charset="0"/>
                <a:ea typeface="IBM Plex Sans" pitchFamily="34" charset="-122"/>
                <a:cs typeface="Times New Roman" panose="02020603050405020304" pitchFamily="18" charset="0"/>
              </a:rPr>
              <a:t>Investigation</a:t>
            </a:r>
            <a:endParaRPr lang="en-US" sz="119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0" name="Text 27"/>
          <p:cNvSpPr/>
          <p:nvPr/>
        </p:nvSpPr>
        <p:spPr>
          <a:xfrm>
            <a:off x="5501477" y="1384548"/>
            <a:ext cx="1175928" cy="1809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spcBef>
                <a:spcPts val="284"/>
              </a:spcBef>
              <a:buNone/>
            </a:pPr>
            <a:r>
              <a:rPr lang="en-US" sz="1080" dirty="0">
                <a:solidFill>
                  <a:srgbClr val="9AABBB"/>
                </a:solidFill>
                <a:latin typeface="Times New Roman" panose="02020603050405020304" pitchFamily="18" charset="0"/>
                <a:ea typeface="IBM Plex Sans" pitchFamily="34" charset="-122"/>
                <a:cs typeface="Times New Roman" panose="02020603050405020304" pitchFamily="18" charset="0"/>
              </a:rPr>
              <a:t>Cross-domain</a:t>
            </a:r>
            <a:endParaRPr lang="en-US" sz="108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1" name="Text 28"/>
          <p:cNvSpPr/>
          <p:nvPr/>
        </p:nvSpPr>
        <p:spPr>
          <a:xfrm>
            <a:off x="5501760" y="1551401"/>
            <a:ext cx="1545759" cy="1809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spcBef>
                <a:spcPts val="284"/>
              </a:spcBef>
              <a:buNone/>
            </a:pPr>
            <a:r>
              <a:rPr lang="en-US" sz="1080" dirty="0">
                <a:solidFill>
                  <a:srgbClr val="9AABBB"/>
                </a:solidFill>
                <a:latin typeface="Times New Roman" panose="02020603050405020304" pitchFamily="18" charset="0"/>
                <a:ea typeface="IBM Plex Sans" pitchFamily="34" charset="-122"/>
                <a:cs typeface="Times New Roman" panose="02020603050405020304" pitchFamily="18" charset="0"/>
              </a:rPr>
              <a:t>investigation using</a:t>
            </a:r>
            <a:endParaRPr lang="en-US" sz="108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2" name="Text 29"/>
          <p:cNvSpPr/>
          <p:nvPr/>
        </p:nvSpPr>
        <p:spPr>
          <a:xfrm>
            <a:off x="5523461" y="1725281"/>
            <a:ext cx="936017" cy="1809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spcBef>
                <a:spcPts val="284"/>
              </a:spcBef>
            </a:pPr>
            <a:r>
              <a:rPr lang="en-US" sz="1080" dirty="0">
                <a:solidFill>
                  <a:srgbClr val="9AABBB"/>
                </a:solidFill>
                <a:latin typeface="Times New Roman" panose="02020603050405020304" pitchFamily="18" charset="0"/>
                <a:ea typeface="IBM Plex Sans" pitchFamily="34" charset="-122"/>
                <a:cs typeface="Times New Roman" panose="02020603050405020304" pitchFamily="18" charset="0"/>
              </a:rPr>
              <a:t>agents and knowledge</a:t>
            </a:r>
            <a:endParaRPr lang="en-US" sz="108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3" name="Text 30"/>
          <p:cNvSpPr/>
          <p:nvPr/>
        </p:nvSpPr>
        <p:spPr>
          <a:xfrm>
            <a:off x="5495627" y="2643932"/>
            <a:ext cx="929052" cy="1809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spcBef>
                <a:spcPts val="284"/>
              </a:spcBef>
              <a:buNone/>
            </a:pPr>
            <a:endParaRPr lang="en-US" sz="108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4" name="Shape 31"/>
          <p:cNvSpPr/>
          <p:nvPr/>
        </p:nvSpPr>
        <p:spPr>
          <a:xfrm>
            <a:off x="7017592" y="886384"/>
            <a:ext cx="1509712" cy="1072066"/>
          </a:xfrm>
          <a:prstGeom prst="rect">
            <a:avLst/>
          </a:prstGeom>
          <a:solidFill>
            <a:srgbClr val="182E3B"/>
          </a:solidFill>
          <a:ln w="4763">
            <a:solidFill>
              <a:srgbClr val="7BB7C5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5" name="Text 32"/>
          <p:cNvSpPr/>
          <p:nvPr/>
        </p:nvSpPr>
        <p:spPr>
          <a:xfrm>
            <a:off x="7101484" y="989985"/>
            <a:ext cx="249659" cy="1619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spcAft>
                <a:spcPts val="324"/>
              </a:spcAft>
              <a:buNone/>
            </a:pPr>
            <a:r>
              <a:rPr lang="en-US" sz="970" b="1" dirty="0">
                <a:solidFill>
                  <a:srgbClr val="7BB8C5"/>
                </a:solidFill>
                <a:latin typeface="Times New Roman" panose="02020603050405020304" pitchFamily="18" charset="0"/>
                <a:ea typeface="IBM Plex Sans" pitchFamily="34" charset="-122"/>
                <a:cs typeface="Times New Roman" panose="02020603050405020304" pitchFamily="18" charset="0"/>
              </a:rPr>
              <a:t>05</a:t>
            </a:r>
            <a:endParaRPr lang="en-US" sz="97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6" name="Text 33"/>
          <p:cNvSpPr/>
          <p:nvPr/>
        </p:nvSpPr>
        <p:spPr>
          <a:xfrm>
            <a:off x="7077447" y="1162183"/>
            <a:ext cx="1612024" cy="1952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190" b="1" dirty="0">
                <a:solidFill>
                  <a:srgbClr val="F2F5F2"/>
                </a:solidFill>
                <a:latin typeface="Times New Roman" panose="02020603050405020304" pitchFamily="18" charset="0"/>
                <a:ea typeface="IBM Plex Sans" pitchFamily="34" charset="-122"/>
                <a:cs typeface="Times New Roman" panose="02020603050405020304" pitchFamily="18" charset="0"/>
              </a:rPr>
              <a:t>Decision Support</a:t>
            </a:r>
            <a:endParaRPr lang="en-US" sz="119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7" name="Text 34"/>
          <p:cNvSpPr/>
          <p:nvPr/>
        </p:nvSpPr>
        <p:spPr>
          <a:xfrm>
            <a:off x="7077447" y="1384547"/>
            <a:ext cx="1673937" cy="1809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spcBef>
                <a:spcPts val="284"/>
              </a:spcBef>
              <a:buNone/>
            </a:pPr>
            <a:r>
              <a:rPr lang="en-US" sz="1080" dirty="0">
                <a:solidFill>
                  <a:srgbClr val="9AABBB"/>
                </a:solidFill>
                <a:latin typeface="Times New Roman" panose="02020603050405020304" pitchFamily="18" charset="0"/>
                <a:ea typeface="IBM Plex Sans" pitchFamily="34" charset="-122"/>
                <a:cs typeface="Times New Roman" panose="02020603050405020304" pitchFamily="18" charset="0"/>
              </a:rPr>
              <a:t>What-if analysis and</a:t>
            </a:r>
            <a:endParaRPr lang="en-US" sz="108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8" name="Text 35"/>
          <p:cNvSpPr/>
          <p:nvPr/>
        </p:nvSpPr>
        <p:spPr>
          <a:xfrm>
            <a:off x="7096198" y="1575544"/>
            <a:ext cx="1512190" cy="1809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spcBef>
                <a:spcPts val="284"/>
              </a:spcBef>
              <a:buNone/>
            </a:pPr>
            <a:r>
              <a:rPr lang="en-US" sz="1080" dirty="0">
                <a:solidFill>
                  <a:srgbClr val="9AABBB"/>
                </a:solidFill>
                <a:latin typeface="Times New Roman" panose="02020603050405020304" pitchFamily="18" charset="0"/>
                <a:ea typeface="IBM Plex Sans" pitchFamily="34" charset="-122"/>
                <a:cs typeface="Times New Roman" panose="02020603050405020304" pitchFamily="18" charset="0"/>
              </a:rPr>
              <a:t>recommendations</a:t>
            </a:r>
            <a:endParaRPr lang="en-US" sz="108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9" name="Shape 36"/>
          <p:cNvSpPr/>
          <p:nvPr/>
        </p:nvSpPr>
        <p:spPr>
          <a:xfrm>
            <a:off x="558328" y="2152295"/>
            <a:ext cx="4891088" cy="2339023"/>
          </a:xfrm>
          <a:prstGeom prst="rect">
            <a:avLst/>
          </a:prstGeom>
          <a:solidFill>
            <a:srgbClr val="14263A">
              <a:alpha val="45098"/>
            </a:srgbClr>
          </a:solidFill>
          <a:ln w="4763">
            <a:solidFill>
              <a:srgbClr val="2C4358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40" name="Text 37"/>
          <p:cNvSpPr/>
          <p:nvPr/>
        </p:nvSpPr>
        <p:spPr>
          <a:xfrm>
            <a:off x="643406" y="2227542"/>
            <a:ext cx="2057794" cy="1809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spcAft>
                <a:spcPts val="486"/>
              </a:spcAft>
              <a:buNone/>
            </a:pPr>
            <a:r>
              <a:rPr lang="en-US" sz="1080" b="1" kern="0" spc="173" dirty="0">
                <a:solidFill>
                  <a:srgbClr val="7BB8C5"/>
                </a:solidFill>
                <a:latin typeface="Times New Roman" panose="02020603050405020304" pitchFamily="18" charset="0"/>
                <a:ea typeface="IBM Plex Sans" pitchFamily="34" charset="-122"/>
                <a:cs typeface="Times New Roman" panose="02020603050405020304" pitchFamily="18" charset="0"/>
              </a:rPr>
              <a:t>TECHNICAL STACK</a:t>
            </a:r>
            <a:endParaRPr lang="en-US" sz="108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1" name="Shape 38"/>
          <p:cNvSpPr/>
          <p:nvPr/>
        </p:nvSpPr>
        <p:spPr>
          <a:xfrm>
            <a:off x="654323" y="3461891"/>
            <a:ext cx="2257425" cy="762000"/>
          </a:xfrm>
          <a:prstGeom prst="rect">
            <a:avLst/>
          </a:prstGeom>
          <a:ln/>
        </p:spPr>
        <p:txBody>
          <a:bodyPr/>
          <a:lstStyle/>
          <a:p>
            <a:endParaRPr lang="en-IN"/>
          </a:p>
        </p:txBody>
      </p:sp>
      <p:sp>
        <p:nvSpPr>
          <p:cNvPr id="42" name="Text 39"/>
          <p:cNvSpPr/>
          <p:nvPr/>
        </p:nvSpPr>
        <p:spPr>
          <a:xfrm>
            <a:off x="652760" y="2507768"/>
            <a:ext cx="1599352" cy="18573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120" b="1" dirty="0">
                <a:solidFill>
                  <a:srgbClr val="F2F5F2"/>
                </a:solidFill>
                <a:latin typeface="Times New Roman" panose="02020603050405020304" pitchFamily="18" charset="0"/>
                <a:ea typeface="IBM Plex Sans" pitchFamily="34" charset="-122"/>
                <a:cs typeface="Times New Roman" panose="02020603050405020304" pitchFamily="18" charset="0"/>
              </a:rPr>
              <a:t>Data &amp; Simulation</a:t>
            </a:r>
            <a:endParaRPr lang="en-US" sz="112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3" name="Text 40"/>
          <p:cNvSpPr/>
          <p:nvPr/>
        </p:nvSpPr>
        <p:spPr>
          <a:xfrm>
            <a:off x="636255" y="2693506"/>
            <a:ext cx="2376160" cy="421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82"/>
              </a:lnSpc>
              <a:buNone/>
            </a:pPr>
            <a:r>
              <a:rPr lang="en-US" sz="1190" dirty="0">
                <a:solidFill>
                  <a:srgbClr val="9AABBB"/>
                </a:solidFill>
                <a:latin typeface="Times New Roman" panose="02020603050405020304" pitchFamily="18" charset="0"/>
                <a:ea typeface="IBM Plex Sans" pitchFamily="34" charset="-122"/>
                <a:cs typeface="Times New Roman" panose="02020603050405020304" pitchFamily="18" charset="0"/>
              </a:rPr>
              <a:t>Python | Pandas | NumPy |</a:t>
            </a:r>
            <a:endParaRPr lang="en-US" sz="119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l">
              <a:lnSpc>
                <a:spcPts val="1782"/>
              </a:lnSpc>
              <a:buNone/>
            </a:pPr>
            <a:r>
              <a:rPr lang="en-US" sz="1190" dirty="0">
                <a:solidFill>
                  <a:srgbClr val="9AABBB"/>
                </a:solidFill>
                <a:latin typeface="Times New Roman" panose="02020603050405020304" pitchFamily="18" charset="0"/>
                <a:ea typeface="IBM Plex Sans" pitchFamily="34" charset="-122"/>
                <a:cs typeface="Times New Roman" panose="02020603050405020304" pitchFamily="18" charset="0"/>
              </a:rPr>
              <a:t>EPANET / WNTR</a:t>
            </a:r>
            <a:endParaRPr lang="en-US" sz="119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4" name="Shape 41"/>
          <p:cNvSpPr/>
          <p:nvPr/>
        </p:nvSpPr>
        <p:spPr>
          <a:xfrm>
            <a:off x="3003872" y="3461891"/>
            <a:ext cx="2257425" cy="762000"/>
          </a:xfrm>
          <a:prstGeom prst="rect">
            <a:avLst/>
          </a:prstGeom>
          <a:ln/>
        </p:spPr>
        <p:txBody>
          <a:bodyPr/>
          <a:lstStyle/>
          <a:p>
            <a:endParaRPr lang="en-IN"/>
          </a:p>
        </p:txBody>
      </p:sp>
      <p:sp>
        <p:nvSpPr>
          <p:cNvPr id="45" name="Text 42"/>
          <p:cNvSpPr/>
          <p:nvPr/>
        </p:nvSpPr>
        <p:spPr>
          <a:xfrm>
            <a:off x="2957810" y="2527093"/>
            <a:ext cx="1261445" cy="18573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120" b="1" dirty="0">
                <a:solidFill>
                  <a:srgbClr val="F2F5F2"/>
                </a:solidFill>
                <a:latin typeface="Times New Roman" panose="02020603050405020304" pitchFamily="18" charset="0"/>
                <a:ea typeface="IBM Plex Sans" pitchFamily="34" charset="-122"/>
                <a:cs typeface="Times New Roman" panose="02020603050405020304" pitchFamily="18" charset="0"/>
              </a:rPr>
              <a:t>ML / Analytics</a:t>
            </a:r>
            <a:endParaRPr lang="en-US" sz="112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6" name="Text 43"/>
          <p:cNvSpPr/>
          <p:nvPr/>
        </p:nvSpPr>
        <p:spPr>
          <a:xfrm>
            <a:off x="2962937" y="2693506"/>
            <a:ext cx="2527555" cy="421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82"/>
              </a:lnSpc>
              <a:buNone/>
            </a:pPr>
            <a:r>
              <a:rPr lang="en-US" sz="1190" dirty="0">
                <a:solidFill>
                  <a:srgbClr val="9AABBB"/>
                </a:solidFill>
                <a:latin typeface="Times New Roman" panose="02020603050405020304" pitchFamily="18" charset="0"/>
                <a:ea typeface="IBM Plex Sans" pitchFamily="34" charset="-122"/>
                <a:cs typeface="Times New Roman" panose="02020603050405020304" pitchFamily="18" charset="0"/>
              </a:rPr>
              <a:t>Machine Learning | Anomaly</a:t>
            </a:r>
            <a:r>
              <a:rPr lang="en-US" sz="119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0" indent="0" algn="l">
              <a:lnSpc>
                <a:spcPts val="1782"/>
              </a:lnSpc>
              <a:buNone/>
            </a:pPr>
            <a:r>
              <a:rPr lang="en-US" sz="1190" dirty="0">
                <a:solidFill>
                  <a:srgbClr val="9AABBB"/>
                </a:solidFill>
                <a:latin typeface="Times New Roman" panose="02020603050405020304" pitchFamily="18" charset="0"/>
                <a:ea typeface="IBM Plex Sans" pitchFamily="34" charset="-122"/>
                <a:cs typeface="Times New Roman" panose="02020603050405020304" pitchFamily="18" charset="0"/>
              </a:rPr>
              <a:t>Detection</a:t>
            </a:r>
            <a:endParaRPr lang="en-US" sz="119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7" name="Shape 44"/>
          <p:cNvSpPr/>
          <p:nvPr/>
        </p:nvSpPr>
        <p:spPr>
          <a:xfrm>
            <a:off x="654323" y="4315867"/>
            <a:ext cx="2257425" cy="762000"/>
          </a:xfrm>
          <a:prstGeom prst="rect">
            <a:avLst/>
          </a:prstGeom>
          <a:ln/>
        </p:spPr>
        <p:txBody>
          <a:bodyPr/>
          <a:lstStyle/>
          <a:p>
            <a:endParaRPr lang="en-IN"/>
          </a:p>
        </p:txBody>
      </p:sp>
      <p:sp>
        <p:nvSpPr>
          <p:cNvPr id="48" name="Text 45"/>
          <p:cNvSpPr/>
          <p:nvPr/>
        </p:nvSpPr>
        <p:spPr>
          <a:xfrm>
            <a:off x="653951" y="3253545"/>
            <a:ext cx="950528" cy="18573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120" b="1" dirty="0">
                <a:solidFill>
                  <a:srgbClr val="F2F5F2"/>
                </a:solidFill>
                <a:latin typeface="Times New Roman" panose="02020603050405020304" pitchFamily="18" charset="0"/>
                <a:ea typeface="IBM Plex Sans" pitchFamily="34" charset="-122"/>
                <a:cs typeface="Times New Roman" panose="02020603050405020304" pitchFamily="18" charset="0"/>
              </a:rPr>
              <a:t>Agentic AI</a:t>
            </a:r>
            <a:endParaRPr lang="en-US" sz="112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9" name="Text 46"/>
          <p:cNvSpPr/>
          <p:nvPr/>
        </p:nvSpPr>
        <p:spPr>
          <a:xfrm>
            <a:off x="654877" y="3459109"/>
            <a:ext cx="2494955" cy="421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82"/>
              </a:lnSpc>
              <a:buNone/>
            </a:pPr>
            <a:r>
              <a:rPr lang="en-US" sz="1190" dirty="0">
                <a:solidFill>
                  <a:srgbClr val="9AABBB"/>
                </a:solidFill>
                <a:latin typeface="Times New Roman" panose="02020603050405020304" pitchFamily="18" charset="0"/>
                <a:ea typeface="IBM Plex Sans" pitchFamily="34" charset="-122"/>
                <a:cs typeface="Times New Roman" panose="02020603050405020304" pitchFamily="18" charset="0"/>
              </a:rPr>
              <a:t>LLM | Multi-Agent AI | RAG |</a:t>
            </a:r>
            <a:endParaRPr lang="en-US" sz="119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l">
              <a:lnSpc>
                <a:spcPts val="1782"/>
              </a:lnSpc>
              <a:buNone/>
            </a:pPr>
            <a:r>
              <a:rPr lang="en-US" sz="1190" dirty="0">
                <a:solidFill>
                  <a:srgbClr val="9AABBB"/>
                </a:solidFill>
                <a:latin typeface="Times New Roman" panose="02020603050405020304" pitchFamily="18" charset="0"/>
                <a:ea typeface="IBM Plex Sans" pitchFamily="34" charset="-122"/>
                <a:cs typeface="Times New Roman" panose="02020603050405020304" pitchFamily="18" charset="0"/>
              </a:rPr>
              <a:t>Knowledge Graph</a:t>
            </a:r>
            <a:endParaRPr lang="en-US" sz="119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0" name="Shape 47"/>
          <p:cNvSpPr/>
          <p:nvPr/>
        </p:nvSpPr>
        <p:spPr>
          <a:xfrm>
            <a:off x="3003872" y="4315867"/>
            <a:ext cx="2257425" cy="762000"/>
          </a:xfrm>
          <a:prstGeom prst="rect">
            <a:avLst/>
          </a:prstGeom>
          <a:ln/>
        </p:spPr>
        <p:txBody>
          <a:bodyPr/>
          <a:lstStyle/>
          <a:p>
            <a:endParaRPr lang="en-IN"/>
          </a:p>
        </p:txBody>
      </p:sp>
      <p:sp>
        <p:nvSpPr>
          <p:cNvPr id="51" name="Text 48"/>
          <p:cNvSpPr/>
          <p:nvPr/>
        </p:nvSpPr>
        <p:spPr>
          <a:xfrm>
            <a:off x="2962937" y="3242072"/>
            <a:ext cx="1065163" cy="18573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120" b="1" dirty="0">
                <a:solidFill>
                  <a:srgbClr val="F2F5F2"/>
                </a:solidFill>
                <a:latin typeface="Times New Roman" panose="02020603050405020304" pitchFamily="18" charset="0"/>
                <a:ea typeface="IBM Plex Sans" pitchFamily="34" charset="-122"/>
                <a:cs typeface="Times New Roman" panose="02020603050405020304" pitchFamily="18" charset="0"/>
              </a:rPr>
              <a:t>Digital Twin</a:t>
            </a:r>
            <a:endParaRPr lang="en-US" sz="112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2" name="Text 49"/>
          <p:cNvSpPr/>
          <p:nvPr/>
        </p:nvSpPr>
        <p:spPr>
          <a:xfrm>
            <a:off x="2951947" y="3445532"/>
            <a:ext cx="2497470" cy="421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82"/>
              </a:lnSpc>
              <a:buNone/>
            </a:pPr>
            <a:r>
              <a:rPr lang="en-US" sz="1190" dirty="0">
                <a:solidFill>
                  <a:srgbClr val="9AABBB"/>
                </a:solidFill>
                <a:latin typeface="Times New Roman" panose="02020603050405020304" pitchFamily="18" charset="0"/>
                <a:ea typeface="IBM Plex Sans" pitchFamily="34" charset="-122"/>
                <a:cs typeface="Times New Roman" panose="02020603050405020304" pitchFamily="18" charset="0"/>
              </a:rPr>
              <a:t>Infrastructure State Model |</a:t>
            </a:r>
            <a:endParaRPr lang="en-US" sz="119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l">
              <a:lnSpc>
                <a:spcPts val="1782"/>
              </a:lnSpc>
              <a:buNone/>
            </a:pPr>
            <a:r>
              <a:rPr lang="en-US" sz="1190" dirty="0">
                <a:solidFill>
                  <a:srgbClr val="9AABBB"/>
                </a:solidFill>
                <a:latin typeface="Times New Roman" panose="02020603050405020304" pitchFamily="18" charset="0"/>
                <a:ea typeface="IBM Plex Sans" pitchFamily="34" charset="-122"/>
                <a:cs typeface="Times New Roman" panose="02020603050405020304" pitchFamily="18" charset="0"/>
              </a:rPr>
              <a:t>Simulation Engine</a:t>
            </a:r>
            <a:endParaRPr lang="en-US" sz="119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3" name="Shape 50"/>
          <p:cNvSpPr/>
          <p:nvPr/>
        </p:nvSpPr>
        <p:spPr>
          <a:xfrm>
            <a:off x="652760" y="5168578"/>
            <a:ext cx="4610100" cy="538163"/>
          </a:xfrm>
          <a:prstGeom prst="rect">
            <a:avLst/>
          </a:prstGeom>
          <a:ln/>
        </p:spPr>
        <p:txBody>
          <a:bodyPr/>
          <a:lstStyle/>
          <a:p>
            <a:endParaRPr lang="en-IN"/>
          </a:p>
        </p:txBody>
      </p:sp>
      <p:sp>
        <p:nvSpPr>
          <p:cNvPr id="54" name="Text 51"/>
          <p:cNvSpPr/>
          <p:nvPr/>
        </p:nvSpPr>
        <p:spPr>
          <a:xfrm>
            <a:off x="643406" y="4000290"/>
            <a:ext cx="1034981" cy="18573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120" b="1" dirty="0">
                <a:solidFill>
                  <a:srgbClr val="F2F5F2"/>
                </a:solidFill>
                <a:latin typeface="Times New Roman" panose="02020603050405020304" pitchFamily="18" charset="0"/>
                <a:ea typeface="IBM Plex Sans" pitchFamily="34" charset="-122"/>
                <a:cs typeface="Times New Roman" panose="02020603050405020304" pitchFamily="18" charset="0"/>
              </a:rPr>
              <a:t>Application</a:t>
            </a:r>
            <a:endParaRPr lang="en-US" sz="112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5" name="Text 52"/>
          <p:cNvSpPr/>
          <p:nvPr/>
        </p:nvSpPr>
        <p:spPr>
          <a:xfrm>
            <a:off x="653951" y="4167421"/>
            <a:ext cx="2036705" cy="1952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spcBef>
                <a:spcPts val="243"/>
              </a:spcBef>
              <a:buNone/>
            </a:pPr>
            <a:r>
              <a:rPr lang="en-US" sz="1190" dirty="0">
                <a:solidFill>
                  <a:srgbClr val="9AABBB"/>
                </a:solidFill>
                <a:latin typeface="Times New Roman" panose="02020603050405020304" pitchFamily="18" charset="0"/>
                <a:ea typeface="IBM Plex Sans" pitchFamily="34" charset="-122"/>
                <a:cs typeface="Times New Roman" panose="02020603050405020304" pitchFamily="18" charset="0"/>
              </a:rPr>
              <a:t>PostgreSQL | Streamlit</a:t>
            </a:r>
            <a:endParaRPr lang="en-US" sz="119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6" name="Shape 53"/>
          <p:cNvSpPr/>
          <p:nvPr/>
        </p:nvSpPr>
        <p:spPr>
          <a:xfrm>
            <a:off x="5585897" y="2152295"/>
            <a:ext cx="3105691" cy="2339024"/>
          </a:xfrm>
          <a:prstGeom prst="rect">
            <a:avLst/>
          </a:prstGeom>
          <a:solidFill>
            <a:srgbClr val="13283A"/>
          </a:solidFill>
          <a:ln w="4763">
            <a:solidFill>
              <a:srgbClr val="7BB7C5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7" name="Text 54"/>
          <p:cNvSpPr/>
          <p:nvPr/>
        </p:nvSpPr>
        <p:spPr>
          <a:xfrm>
            <a:off x="5713098" y="2197560"/>
            <a:ext cx="2426657" cy="1809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spcAft>
                <a:spcPts val="486"/>
              </a:spcAft>
              <a:buNone/>
            </a:pPr>
            <a:r>
              <a:rPr lang="en-US" sz="1080" b="1" kern="0" spc="173" dirty="0">
                <a:solidFill>
                  <a:srgbClr val="7BB8C5"/>
                </a:solidFill>
                <a:latin typeface="Times New Roman" panose="02020603050405020304" pitchFamily="18" charset="0"/>
                <a:ea typeface="IBM Plex Sans" pitchFamily="34" charset="-122"/>
                <a:cs typeface="Times New Roman" panose="02020603050405020304" pitchFamily="18" charset="0"/>
              </a:rPr>
              <a:t>EXPECTED OUTCOMES</a:t>
            </a:r>
            <a:endParaRPr lang="en-US" sz="108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8" name="Text 55"/>
          <p:cNvSpPr/>
          <p:nvPr/>
        </p:nvSpPr>
        <p:spPr>
          <a:xfrm>
            <a:off x="652387" y="4710530"/>
            <a:ext cx="4702969" cy="1666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10" kern="0" spc="151" dirty="0">
                <a:solidFill>
                  <a:srgbClr val="9AABBB"/>
                </a:solidFill>
                <a:latin typeface="Times New Roman" panose="02020603050405020304" pitchFamily="18" charset="0"/>
                <a:ea typeface="IBM Plex Sans" pitchFamily="34" charset="-122"/>
                <a:cs typeface="Times New Roman" panose="02020603050405020304" pitchFamily="18" charset="0"/>
              </a:rPr>
              <a:t>DATA → MONITORING → INVESTIGATION → RESPONSE</a:t>
            </a:r>
            <a:endParaRPr lang="en-US" sz="101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0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12266" y="-193389"/>
            <a:ext cx="8120062" cy="685800"/>
          </a:xfrm>
          <a:prstGeom prst="rect">
            <a:avLst/>
          </a:prstGeom>
        </p:spPr>
      </p:pic>
      <p:pic>
        <p:nvPicPr>
          <p:cNvPr id="61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09023" y="2460246"/>
            <a:ext cx="2257425" cy="762000"/>
          </a:xfrm>
          <a:prstGeom prst="rect">
            <a:avLst/>
          </a:prstGeom>
        </p:spPr>
      </p:pic>
      <p:pic>
        <p:nvPicPr>
          <p:cNvPr id="62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2939950" y="2460056"/>
            <a:ext cx="2257425" cy="762000"/>
          </a:xfrm>
          <a:prstGeom prst="rect">
            <a:avLst/>
          </a:prstGeom>
        </p:spPr>
      </p:pic>
      <p:pic>
        <p:nvPicPr>
          <p:cNvPr id="63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09022" y="3216766"/>
            <a:ext cx="2257425" cy="1866923"/>
          </a:xfrm>
          <a:prstGeom prst="rect">
            <a:avLst/>
          </a:prstGeom>
        </p:spPr>
      </p:pic>
      <p:pic>
        <p:nvPicPr>
          <p:cNvPr id="64" name="Image 5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2939949" y="3217737"/>
            <a:ext cx="2257425" cy="762000"/>
          </a:xfrm>
          <a:prstGeom prst="rect">
            <a:avLst/>
          </a:prstGeom>
        </p:spPr>
      </p:pic>
      <p:pic>
        <p:nvPicPr>
          <p:cNvPr id="65" name="Image 6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652760" y="5168578"/>
            <a:ext cx="4610100" cy="538163"/>
          </a:xfrm>
          <a:prstGeom prst="rect">
            <a:avLst/>
          </a:prstGeom>
        </p:spPr>
      </p:pic>
      <p:sp>
        <p:nvSpPr>
          <p:cNvPr id="66" name="Text 57"/>
          <p:cNvSpPr/>
          <p:nvPr/>
        </p:nvSpPr>
        <p:spPr>
          <a:xfrm>
            <a:off x="5661324" y="2447206"/>
            <a:ext cx="2814638" cy="19364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171450" indent="-171450" algn="l">
              <a:lnSpc>
                <a:spcPts val="1402"/>
              </a:lnSpc>
              <a:spcAft>
                <a:spcPts val="486"/>
              </a:spcAft>
              <a:buFont typeface="Arial" panose="020B0604020202020204" pitchFamily="34" charset="0"/>
              <a:buChar char="•"/>
            </a:pPr>
            <a:r>
              <a:rPr lang="en-US" sz="1190" dirty="0">
                <a:solidFill>
                  <a:srgbClr val="F2F5F2"/>
                </a:solidFill>
                <a:latin typeface="Times New Roman" panose="02020603050405020304" pitchFamily="18" charset="0"/>
                <a:ea typeface="IBM Plex Sans" pitchFamily="34" charset="-122"/>
                <a:cs typeface="Times New Roman" panose="02020603050405020304" pitchFamily="18" charset="0"/>
              </a:rPr>
              <a:t>A framework for continuous infrastructure monitoring</a:t>
            </a:r>
            <a:endParaRPr lang="en-US" sz="119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71450" indent="-171450" algn="l">
              <a:lnSpc>
                <a:spcPts val="1402"/>
              </a:lnSpc>
              <a:spcAft>
                <a:spcPts val="486"/>
              </a:spcAft>
              <a:buFont typeface="Arial" panose="020B0604020202020204" pitchFamily="34" charset="0"/>
              <a:buChar char="•"/>
            </a:pPr>
            <a:r>
              <a:rPr lang="en-US" sz="1190" dirty="0">
                <a:solidFill>
                  <a:srgbClr val="F2F5F2"/>
                </a:solidFill>
                <a:latin typeface="Times New Roman" panose="02020603050405020304" pitchFamily="18" charset="0"/>
                <a:ea typeface="IBM Plex Sans" pitchFamily="34" charset="-122"/>
                <a:cs typeface="Times New Roman" panose="02020603050405020304" pitchFamily="18" charset="0"/>
              </a:rPr>
              <a:t>Detection of abnormal infrastructure conditions</a:t>
            </a:r>
            <a:endParaRPr lang="en-US" sz="119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71450" indent="-171450" algn="l">
              <a:lnSpc>
                <a:spcPts val="1402"/>
              </a:lnSpc>
              <a:spcAft>
                <a:spcPts val="486"/>
              </a:spcAft>
              <a:buFont typeface="Arial" panose="020B0604020202020204" pitchFamily="34" charset="0"/>
              <a:buChar char="•"/>
            </a:pPr>
            <a:r>
              <a:rPr lang="en-US" sz="1190" dirty="0">
                <a:solidFill>
                  <a:srgbClr val="F2F5F2"/>
                </a:solidFill>
                <a:latin typeface="Times New Roman" panose="02020603050405020304" pitchFamily="18" charset="0"/>
                <a:ea typeface="IBM Plex Sans" pitchFamily="34" charset="-122"/>
                <a:cs typeface="Times New Roman" panose="02020603050405020304" pitchFamily="18" charset="0"/>
              </a:rPr>
              <a:t>Cross-domain incident investigation</a:t>
            </a:r>
            <a:endParaRPr lang="en-US" sz="119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71450" indent="-171450" algn="l">
              <a:lnSpc>
                <a:spcPts val="1402"/>
              </a:lnSpc>
              <a:spcAft>
                <a:spcPts val="486"/>
              </a:spcAft>
              <a:buFont typeface="Arial" panose="020B0604020202020204" pitchFamily="34" charset="0"/>
              <a:buChar char="•"/>
            </a:pPr>
            <a:r>
              <a:rPr lang="en-US" sz="1190" dirty="0">
                <a:solidFill>
                  <a:srgbClr val="F2F5F2"/>
                </a:solidFill>
                <a:latin typeface="Times New Roman" panose="02020603050405020304" pitchFamily="18" charset="0"/>
                <a:ea typeface="IBM Plex Sans" pitchFamily="34" charset="-122"/>
                <a:cs typeface="Times New Roman" panose="02020603050405020304" pitchFamily="18" charset="0"/>
              </a:rPr>
              <a:t>Analysis of infrastructure dependencies and impacts</a:t>
            </a:r>
            <a:endParaRPr lang="en-US" sz="119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71450" indent="-171450" algn="l">
              <a:lnSpc>
                <a:spcPts val="1402"/>
              </a:lnSpc>
              <a:spcAft>
                <a:spcPts val="486"/>
              </a:spcAft>
              <a:buFont typeface="Arial" panose="020B0604020202020204" pitchFamily="34" charset="0"/>
              <a:buChar char="•"/>
            </a:pPr>
            <a:r>
              <a:rPr lang="en-US" sz="1190" dirty="0">
                <a:solidFill>
                  <a:srgbClr val="F2F5F2"/>
                </a:solidFill>
                <a:latin typeface="Times New Roman" panose="02020603050405020304" pitchFamily="18" charset="0"/>
                <a:ea typeface="IBM Plex Sans" pitchFamily="34" charset="-122"/>
                <a:cs typeface="Times New Roman" panose="02020603050405020304" pitchFamily="18" charset="0"/>
              </a:rPr>
              <a:t>What-if exploration of possible responses</a:t>
            </a:r>
            <a:endParaRPr lang="en-US" sz="119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71450" indent="-171450" algn="l">
              <a:lnSpc>
                <a:spcPts val="1402"/>
              </a:lnSpc>
              <a:buFont typeface="Arial" panose="020B0604020202020204" pitchFamily="34" charset="0"/>
              <a:buChar char="•"/>
            </a:pPr>
            <a:r>
              <a:rPr lang="en-US" sz="1190" dirty="0">
                <a:solidFill>
                  <a:srgbClr val="F2F5F2"/>
                </a:solidFill>
                <a:latin typeface="Times New Roman" panose="02020603050405020304" pitchFamily="18" charset="0"/>
                <a:ea typeface="IBM Plex Sans" pitchFamily="34" charset="-122"/>
                <a:cs typeface="Times New Roman" panose="02020603050405020304" pitchFamily="18" charset="0"/>
              </a:rPr>
              <a:t>Explainable decision support for operators</a:t>
            </a:r>
            <a:endParaRPr lang="en-US" sz="119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122</TotalTime>
  <Words>724</Words>
  <Application>Microsoft Office PowerPoint</Application>
  <PresentationFormat>On-screen Show (16:9)</PresentationFormat>
  <Paragraphs>246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Sanika Yashwant Gaikwad</cp:lastModifiedBy>
  <cp:revision>3</cp:revision>
  <dcterms:created xsi:type="dcterms:W3CDTF">2026-08-27T19:03:50Z</dcterms:created>
  <dcterms:modified xsi:type="dcterms:W3CDTF">2026-08-28T04:46:47Z</dcterms:modified>
</cp:coreProperties>
</file>