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147470489" r:id="rId2"/>
    <p:sldId id="2147470492" r:id="rId3"/>
    <p:sldId id="2147470493" r:id="rId4"/>
    <p:sldId id="2147470494" r:id="rId5"/>
    <p:sldId id="2147470495" r:id="rId6"/>
    <p:sldId id="2147470496" r:id="rId7"/>
    <p:sldId id="2147470497" r:id="rId8"/>
    <p:sldId id="2147470491" r:id="rId9"/>
    <p:sldId id="214747048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1FCEDD-AAD9-4B3F-86B7-3C64A545D5C1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748BEB-1011-448B-9D5D-969402536E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0100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748BEB-1011-448B-9D5D-969402536EF9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37177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4985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600" b="1" dirty="0" err="1">
                <a:solidFill>
                  <a:schemeClr val="bg1"/>
                </a:solidFill>
              </a:rPr>
              <a:t>GridRCA</a:t>
            </a:r>
            <a:r>
              <a:rPr lang="en-IN" sz="3600" b="1" dirty="0">
                <a:solidFill>
                  <a:schemeClr val="bg1"/>
                </a:solidFill>
              </a:rPr>
              <a:t>: A RAG-Driven Framework for Data Lineage-Aware Root-Cause Investigation in </a:t>
            </a:r>
          </a:p>
          <a:p>
            <a:pPr lvl="0" algn="ctr">
              <a:defRPr/>
            </a:pPr>
            <a:r>
              <a:rPr lang="en-IN" sz="3600" b="1" dirty="0">
                <a:solidFill>
                  <a:schemeClr val="bg1"/>
                </a:solidFill>
              </a:rPr>
              <a:t>Power Grid Operations</a:t>
            </a:r>
            <a:endParaRPr lang="en-US" sz="3600" b="1" dirty="0">
              <a:solidFill>
                <a:schemeClr val="bg1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Team Member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Sanika Gaikwad (T9996)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434851"/>
            <a:ext cx="10624338" cy="4142989"/>
          </a:xfrm>
        </p:spPr>
        <p:txBody>
          <a:bodyPr/>
          <a:lstStyle/>
          <a:p>
            <a:pPr lvl="0" algn="just"/>
            <a:r>
              <a:rPr lang="en-IN" b="0" dirty="0">
                <a:latin typeface="+mn-lt"/>
              </a:rPr>
              <a:t>Power grids generate continuous telemetry, alarms and event data. </a:t>
            </a:r>
          </a:p>
          <a:p>
            <a:pPr lvl="0" algn="just"/>
            <a:r>
              <a:rPr lang="en-IN" b="0" dirty="0">
                <a:latin typeface="+mn-lt"/>
              </a:rPr>
              <a:t>An alarm shows what happened, but not always why it happened. </a:t>
            </a:r>
          </a:p>
          <a:p>
            <a:pPr lvl="0" algn="just"/>
            <a:r>
              <a:rPr lang="en-IN" b="0" dirty="0">
                <a:latin typeface="+mn-lt"/>
              </a:rPr>
              <a:t>Root-cause investigation requires data from multiple sources. </a:t>
            </a:r>
          </a:p>
          <a:p>
            <a:pPr lvl="0" algn="just"/>
            <a:r>
              <a:rPr lang="en-IN" b="0" dirty="0" err="1">
                <a:latin typeface="+mn-lt"/>
              </a:rPr>
              <a:t>GridRCA</a:t>
            </a:r>
            <a:r>
              <a:rPr lang="en-IN" b="0" dirty="0">
                <a:latin typeface="+mn-lt"/>
              </a:rPr>
              <a:t> combines grid topology, historical data and technical knowledge to identify probable causes.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dirty="0">
                <a:solidFill>
                  <a:schemeClr val="bg1"/>
                </a:solidFill>
              </a:rPr>
              <a:t>Power Grid RCA</a:t>
            </a:r>
            <a:endParaRPr lang="en-US" dirty="0">
              <a:solidFill>
                <a:schemeClr val="bg1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551701"/>
            <a:ext cx="10624338" cy="4142989"/>
          </a:xfrm>
        </p:spPr>
        <p:txBody>
          <a:bodyPr/>
          <a:lstStyle/>
          <a:p>
            <a:pPr lvl="0"/>
            <a:r>
              <a:rPr lang="en-IN" b="0" dirty="0">
                <a:latin typeface="+mn-lt"/>
              </a:rPr>
              <a:t>Detect abnormal grid conditions. </a:t>
            </a:r>
          </a:p>
          <a:p>
            <a:pPr lvl="0"/>
            <a:r>
              <a:rPr lang="en-IN" b="0" dirty="0">
                <a:latin typeface="+mn-lt"/>
              </a:rPr>
              <a:t>Identify affected equipment and related components. </a:t>
            </a:r>
          </a:p>
          <a:p>
            <a:pPr lvl="0"/>
            <a:r>
              <a:rPr lang="en-IN" b="0" dirty="0">
                <a:latin typeface="+mn-lt"/>
              </a:rPr>
              <a:t>Retrieve relevant historical and technical information. </a:t>
            </a:r>
          </a:p>
          <a:p>
            <a:pPr lvl="0"/>
            <a:r>
              <a:rPr lang="en-IN" b="0" dirty="0">
                <a:latin typeface="+mn-lt"/>
              </a:rPr>
              <a:t>Determine the probable root cause. </a:t>
            </a:r>
          </a:p>
          <a:p>
            <a:pPr lvl="0"/>
            <a:r>
              <a:rPr lang="en-IN" b="0" dirty="0">
                <a:latin typeface="+mn-lt"/>
              </a:rPr>
              <a:t>Provide supporting evidence for investigation.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dirty="0">
                <a:solidFill>
                  <a:schemeClr val="bg1"/>
                </a:solidFill>
              </a:rPr>
              <a:t>Power Grid RCA</a:t>
            </a:r>
            <a:endParaRPr lang="en-US" dirty="0">
              <a:solidFill>
                <a:schemeClr val="bg1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1274" y="1523255"/>
            <a:ext cx="10624338" cy="4142989"/>
          </a:xfrm>
        </p:spPr>
        <p:txBody>
          <a:bodyPr/>
          <a:lstStyle/>
          <a:p>
            <a:pPr lvl="0"/>
            <a:r>
              <a:rPr lang="en-IN" b="0" dirty="0">
                <a:latin typeface="+mn-lt"/>
              </a:rPr>
              <a:t>Use IEEE 30-Bus as the initial grid model. </a:t>
            </a:r>
          </a:p>
          <a:p>
            <a:pPr lvl="0"/>
            <a:r>
              <a:rPr lang="en-IN" b="0" dirty="0">
                <a:latin typeface="+mn-lt"/>
              </a:rPr>
              <a:t>Use public grid telemetry and disturbance datasets. </a:t>
            </a:r>
          </a:p>
          <a:p>
            <a:pPr lvl="0"/>
            <a:r>
              <a:rPr lang="en-IN" b="0" dirty="0">
                <a:latin typeface="+mn-lt"/>
              </a:rPr>
              <a:t>Generate controlled fault and maintenance scenarios. </a:t>
            </a:r>
          </a:p>
          <a:p>
            <a:pPr lvl="0"/>
            <a:r>
              <a:rPr lang="en-IN" b="0" dirty="0">
                <a:latin typeface="+mn-lt"/>
              </a:rPr>
              <a:t>Combine grid topology + RAG for investigation. </a:t>
            </a:r>
          </a:p>
          <a:p>
            <a:pPr lvl="0"/>
            <a:r>
              <a:rPr lang="en-IN" b="0" dirty="0">
                <a:latin typeface="+mn-lt"/>
              </a:rPr>
              <a:t>Provide results through an interactive dashboard. </a:t>
            </a:r>
          </a:p>
          <a:p>
            <a:pPr marL="0" indent="0">
              <a:lnSpc>
                <a:spcPct val="150000"/>
              </a:lnSpc>
              <a:buNone/>
            </a:pPr>
            <a:endParaRPr lang="en-US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SCOPE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dirty="0">
                <a:solidFill>
                  <a:schemeClr val="bg1"/>
                </a:solidFill>
              </a:rPr>
              <a:t>Power Grid RCA</a:t>
            </a:r>
            <a:endParaRPr lang="en-US" dirty="0">
              <a:solidFill>
                <a:schemeClr val="bg1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69C03-8E92-54D7-6EE2-33DC2B5C6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B433ECB-8EAD-0AB5-1D66-62BCF658AA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460261"/>
            <a:ext cx="11699784" cy="4142989"/>
          </a:xfrm>
        </p:spPr>
        <p:txBody>
          <a:bodyPr/>
          <a:lstStyle/>
          <a:p>
            <a:pPr lvl="0"/>
            <a:r>
              <a:rPr lang="en-IN" b="0" dirty="0">
                <a:latin typeface="+mn-lt"/>
              </a:rPr>
              <a:t>Traditional systems mainly focus on fault/anomaly detection. </a:t>
            </a:r>
          </a:p>
          <a:p>
            <a:pPr lvl="0"/>
            <a:r>
              <a:rPr lang="en-IN" b="0" dirty="0">
                <a:latin typeface="+mn-lt"/>
              </a:rPr>
              <a:t>RAG improves access to historical and technical knowledge. </a:t>
            </a:r>
          </a:p>
          <a:p>
            <a:pPr lvl="0"/>
            <a:r>
              <a:rPr lang="en-IN" b="0" dirty="0">
                <a:latin typeface="+mn-lt"/>
              </a:rPr>
              <a:t>Graph-based methods represent relationships between grid components. </a:t>
            </a:r>
          </a:p>
          <a:p>
            <a:pPr lvl="0"/>
            <a:r>
              <a:rPr lang="en-IN" b="0" dirty="0">
                <a:latin typeface="+mn-lt"/>
              </a:rPr>
              <a:t>Recent studies explore RAG, graphs and LLMs for power-system diagnosis.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B3663C-4C71-EB2A-170D-22878BAC4C6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LITERATURE REVIEW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1B76A7-3EE1-470C-EBA7-8F98E8FFE105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84F4041-8131-3536-FDDF-513CA3ABA63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dirty="0">
                <a:solidFill>
                  <a:schemeClr val="bg1"/>
                </a:solidFill>
              </a:rPr>
              <a:t>Power Grid RCA</a:t>
            </a:r>
            <a:endParaRPr lang="en-US" dirty="0">
              <a:solidFill>
                <a:schemeClr val="bg1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765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53C69-472F-A80F-ECBC-553E043DB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364AF3A-1BAA-BB19-865F-8604C4E3B8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148876"/>
            <a:ext cx="11265444" cy="5454627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latin typeface="+mn-lt"/>
              </a:rPr>
              <a:t>Existing Work</a:t>
            </a:r>
          </a:p>
          <a:p>
            <a:pPr lvl="1"/>
            <a:r>
              <a:rPr lang="en-IN" sz="2800" dirty="0"/>
              <a:t>Detects anomalies and faults. </a:t>
            </a:r>
          </a:p>
          <a:p>
            <a:pPr lvl="1"/>
            <a:r>
              <a:rPr lang="en-IN" sz="2800" dirty="0"/>
              <a:t>Retrieves technical information. </a:t>
            </a:r>
          </a:p>
          <a:p>
            <a:pPr lvl="1"/>
            <a:r>
              <a:rPr lang="en-IN" sz="2800" dirty="0"/>
              <a:t>Uses graphs to represent system relationships. </a:t>
            </a:r>
          </a:p>
          <a:p>
            <a:pPr marL="0" indent="0">
              <a:buNone/>
            </a:pPr>
            <a:endParaRPr lang="en-IN" dirty="0">
              <a:latin typeface="+mn-lt"/>
            </a:endParaRPr>
          </a:p>
          <a:p>
            <a:pPr marL="0" indent="0">
              <a:buNone/>
            </a:pPr>
            <a:r>
              <a:rPr lang="en-IN" dirty="0">
                <a:latin typeface="+mn-lt"/>
              </a:rPr>
              <a:t>Research Gap</a:t>
            </a:r>
          </a:p>
          <a:p>
            <a:pPr lvl="1"/>
            <a:r>
              <a:rPr lang="en-IN" sz="2800" dirty="0"/>
              <a:t>Limited integration of telemetry + topology + historical evidence for explainable root-cause investigation. </a:t>
            </a:r>
          </a:p>
          <a:p>
            <a:pPr marL="0" indent="0">
              <a:buNone/>
            </a:pPr>
            <a:endParaRPr lang="en-IN" dirty="0">
              <a:latin typeface="+mn-lt"/>
            </a:endParaRPr>
          </a:p>
          <a:p>
            <a:pPr marL="0" indent="0">
              <a:buNone/>
            </a:pPr>
            <a:r>
              <a:rPr lang="en-IN" dirty="0">
                <a:latin typeface="+mn-lt"/>
              </a:rPr>
              <a:t>Proposed:</a:t>
            </a:r>
            <a:br>
              <a:rPr lang="en-IN" dirty="0">
                <a:latin typeface="+mn-lt"/>
              </a:rPr>
            </a:br>
            <a:r>
              <a:rPr lang="en-IN" dirty="0">
                <a:latin typeface="+mn-lt"/>
              </a:rPr>
              <a:t>		</a:t>
            </a:r>
            <a:r>
              <a:rPr lang="en-IN" dirty="0" err="1">
                <a:latin typeface="+mn-lt"/>
              </a:rPr>
              <a:t>GridRCA</a:t>
            </a:r>
            <a:r>
              <a:rPr lang="en-IN" dirty="0">
                <a:latin typeface="+mn-lt"/>
              </a:rPr>
              <a:t> — topology/data-lineage-aware RAG for root-cause 			analysis.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C2521A-B8A4-7818-FEB4-0309182DBEC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SUMMARY OF LITERATURE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871527-EAED-D60A-DB4D-12A2CE4201DE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EADF6DB-6CFE-DDC5-997C-E84EE1A9470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dirty="0">
                <a:solidFill>
                  <a:schemeClr val="bg1"/>
                </a:solidFill>
              </a:rPr>
              <a:t>Power Grid RCA</a:t>
            </a:r>
            <a:endParaRPr lang="en-US" dirty="0">
              <a:solidFill>
                <a:schemeClr val="bg1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4703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latin typeface="+mn-lt"/>
              </a:rPr>
              <a:t>Dataset</a:t>
            </a:r>
          </a:p>
          <a:p>
            <a:pPr lvl="1"/>
            <a:r>
              <a:rPr lang="en-IN" sz="2800" dirty="0"/>
              <a:t>IEEE 30-Bus — grid structure </a:t>
            </a:r>
          </a:p>
          <a:p>
            <a:pPr lvl="1"/>
            <a:r>
              <a:rPr lang="en-IN" sz="2800" dirty="0"/>
              <a:t>PSML / </a:t>
            </a:r>
            <a:r>
              <a:rPr lang="en-IN" sz="2800" dirty="0" err="1"/>
              <a:t>GridSTAGE</a:t>
            </a:r>
            <a:r>
              <a:rPr lang="en-IN" sz="2800" dirty="0"/>
              <a:t> — telemetry &amp; disturbances </a:t>
            </a:r>
          </a:p>
          <a:p>
            <a:pPr lvl="1"/>
            <a:r>
              <a:rPr lang="en-IN" sz="2800" dirty="0"/>
              <a:t>Synthetic data — faults, events &amp; maintenance </a:t>
            </a:r>
          </a:p>
          <a:p>
            <a:pPr lvl="1"/>
            <a:r>
              <a:rPr lang="en-IN" sz="2800" dirty="0"/>
              <a:t>Technical documents — RAG knowledge </a:t>
            </a:r>
          </a:p>
          <a:p>
            <a:pPr marL="0" indent="0">
              <a:buNone/>
            </a:pPr>
            <a:r>
              <a:rPr lang="en-IN" dirty="0">
                <a:latin typeface="+mn-lt"/>
              </a:rPr>
              <a:t>Basic Database</a:t>
            </a:r>
          </a:p>
          <a:p>
            <a:pPr lvl="1"/>
            <a:r>
              <a:rPr lang="en-IN" sz="2800" dirty="0"/>
              <a:t>PostgreSQL — telemetry &amp; event records </a:t>
            </a:r>
          </a:p>
          <a:p>
            <a:pPr lvl="1"/>
            <a:r>
              <a:rPr lang="en-IN" sz="2800" dirty="0"/>
              <a:t>Neo4j — grid topology &amp; relationships </a:t>
            </a:r>
          </a:p>
          <a:p>
            <a:pPr lvl="1"/>
            <a:r>
              <a:rPr lang="en-IN" sz="2800" dirty="0"/>
              <a:t>Vector DB — technical knowledge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DATASETS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dirty="0">
                <a:solidFill>
                  <a:schemeClr val="bg1"/>
                </a:solidFill>
              </a:rPr>
              <a:t>Power Grid RCA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514350" lvl="0" indent="-514350">
              <a:buFont typeface="+mj-lt"/>
              <a:buAutoNum type="arabicPeriod"/>
            </a:pPr>
            <a:r>
              <a:rPr lang="en-IN" b="0" dirty="0">
                <a:latin typeface="+mn-lt"/>
              </a:rPr>
              <a:t>Data Ingestion &amp; Preprocessing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b="0" dirty="0">
                <a:latin typeface="+mn-lt"/>
              </a:rPr>
              <a:t>Anomaly Detection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b="0" dirty="0">
                <a:latin typeface="+mn-lt"/>
              </a:rPr>
              <a:t>Grid Topology &amp; Data Lineage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b="0" dirty="0">
                <a:latin typeface="+mn-lt"/>
              </a:rPr>
              <a:t>Hybrid RAG Retrieval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b="0" dirty="0">
                <a:latin typeface="+mn-lt"/>
              </a:rPr>
              <a:t>Root-Cause Investigation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b="0" dirty="0">
                <a:latin typeface="+mn-lt"/>
              </a:rPr>
              <a:t>Impact Analysis &amp; Recommendation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b="0" dirty="0">
                <a:latin typeface="+mn-lt"/>
              </a:rPr>
              <a:t>Dashboard &amp; Evaluation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MODULES TO COVER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CD5B67-3503-60B5-8469-F3C3191D84D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D4A0452-2CB8-E4C6-FAC7-ECD109C50CE1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dirty="0">
                <a:solidFill>
                  <a:schemeClr val="bg1"/>
                </a:solidFill>
              </a:rPr>
              <a:t>Power Grid RCA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7364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endParaRPr lang="en-IN" dirty="0">
              <a:latin typeface="+mn-lt"/>
            </a:endParaRPr>
          </a:p>
          <a:p>
            <a:pPr marL="0" indent="0">
              <a:buNone/>
            </a:pPr>
            <a:r>
              <a:rPr lang="en-IN" dirty="0" err="1">
                <a:latin typeface="+mn-lt"/>
              </a:rPr>
              <a:t>GridRCA</a:t>
            </a:r>
            <a:r>
              <a:rPr lang="en-IN" dirty="0">
                <a:latin typeface="+mn-lt"/>
              </a:rPr>
              <a:t> Workflow</a:t>
            </a:r>
          </a:p>
          <a:p>
            <a:pPr marL="0" indent="0">
              <a:buNone/>
            </a:pPr>
            <a:endParaRPr lang="en-IN" dirty="0">
              <a:latin typeface="+mn-lt"/>
            </a:endParaRPr>
          </a:p>
          <a:p>
            <a:pPr lvl="1"/>
            <a:r>
              <a:rPr lang="en-IN" sz="2800" dirty="0"/>
              <a:t>Grid Data → Anomaly Detection → Context Construction </a:t>
            </a:r>
          </a:p>
          <a:p>
            <a:pPr lvl="1"/>
            <a:r>
              <a:rPr lang="en-IN" sz="2800" dirty="0"/>
              <a:t>Topology &amp; Data Lineage → RAG Retrieval → Root-Cause Analysis </a:t>
            </a:r>
          </a:p>
          <a:p>
            <a:pPr lvl="1"/>
            <a:r>
              <a:rPr lang="en-IN" sz="2800" dirty="0"/>
              <a:t>Evidence → Recommendation</a:t>
            </a:r>
          </a:p>
          <a:p>
            <a:pPr lvl="1"/>
            <a:endParaRPr lang="en-US" dirty="0">
              <a:solidFill>
                <a:srgbClr val="1C3898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TECHNICAL APPROACH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dirty="0">
                <a:solidFill>
                  <a:schemeClr val="bg1"/>
                </a:solidFill>
              </a:rPr>
              <a:t>Power Grid RCA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</TotalTime>
  <Words>378</Words>
  <Application>Microsoft Office PowerPoint</Application>
  <PresentationFormat>Widescreen</PresentationFormat>
  <Paragraphs>80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Sanika Yashwant Gaikwad</cp:lastModifiedBy>
  <cp:revision>11</cp:revision>
  <dcterms:created xsi:type="dcterms:W3CDTF">2024-05-13T10:33:11Z</dcterms:created>
  <dcterms:modified xsi:type="dcterms:W3CDTF">2026-09-08T07:55:48Z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