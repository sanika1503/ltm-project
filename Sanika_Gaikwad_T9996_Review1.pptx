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0" r:id="rId13"/>
    <p:sldId id="2147470501" r:id="rId14"/>
    <p:sldId id="2147470502" r:id="rId15"/>
    <p:sldId id="2147470503" r:id="rId16"/>
    <p:sldId id="2147470504" r:id="rId17"/>
    <p:sldId id="2147470505" r:id="rId18"/>
    <p:sldId id="21474705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32354-F004-4B85-9A22-FCD7DE8B3E2F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948BB-A4A7-4B8D-A60F-481597172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36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48BEB-1011-448B-9D5D-969402536EF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71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12EB0-706F-445D-834D-EF38F8F8F07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598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EC7E-C355-3C2B-D783-977E5991B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A57DC-F8FD-7C1F-9821-3CA995797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C6BF3-4E9B-CF1C-B56E-E6D5AA7D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A21B0-035F-FC6A-6891-E809D3A4A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4210C-D93E-3A0F-AEB2-81110C9E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9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3B86-DDDD-F612-D941-FC9F5925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7565D-31FA-E247-3C60-83888D594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98D64-7E5B-EE2A-1A18-38FE990A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A582-0CC9-0EC4-F9EB-2C9E6428B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C7BA2-1F3A-F190-7C29-50DF3FEB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6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0F28-4FEB-AAA6-4720-36C09B866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18911-CFA2-8498-E812-30F95A800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3306A-EBE7-080E-F0F7-6871DB16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0430C-F43A-16D7-E40F-77F44FC9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87403-BFED-5951-9106-A17ECA99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59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2B02-9856-43CE-84C0-D6F6D52E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185AD-0B3E-1F21-87A4-CBD84BACF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CA7EA-5C14-C759-9A6F-0072C0D74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40293-71BF-D167-06ED-91A4BB66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0B2A6-BFC3-AE45-9DC8-E4216B97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CA5A8-1DEE-B106-2810-79E3ECE4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00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7158-FF8A-FF7A-655F-472A54D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DE668-30B1-1B02-021C-8862FDD4F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F54D8-1F1C-FC52-29EB-FA21F97A3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2680C-7763-182C-3C40-D7B9318B6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44C49-3A4D-FE9A-01C7-BFD14FBE2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2E96B-ECE1-8BF6-FFF4-2F543C42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5C111-81DB-8FC6-7DA6-F4C5C5F5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5F7DE-F026-DBB8-7A18-0B8B3596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49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0F0B-C6F5-60EC-0E15-5836F7AB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5D693-DD11-E3B0-EEFE-7E024B4A2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AB663-FE7E-3A11-ECC4-22F9AED8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7481C-E6A1-4A97-11D9-6F873524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1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0D1A7-A34E-DB03-DE6E-C8816B347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F2B81-F98F-A08F-A003-C79670EE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87431-F6E1-EBA0-6FF1-2ABE0514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6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5427-A4A9-5666-AA74-850E1D4FB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9DD8-250C-0DBC-A62B-201DD4D2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95226-7F7E-14DF-415E-53973D878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D7460-D2EC-8F71-D2F0-B7482C2D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60835-CA02-BF31-3D8F-F209E2509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6D91B-3694-2BCC-CB1D-8736DB1A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1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74E4-61DA-E8A7-5D1E-8DCBB9F0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C348E-AB1A-8E4D-DC7C-86EF750D5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F9CC6-A500-0F85-1D82-6077C75CA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150FF-10CF-A080-9A97-F9DB9B80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E1BB0-A5A5-4E93-233B-E2BDBC11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377A7-F5C2-53C0-1996-FC5A4514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11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F0E8-1CFB-388D-9518-96465241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D3D77-4C65-C5AE-5C47-1ADE644F4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5A39F-F0C6-6217-90F4-53A48699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76A5D-F62B-7C0B-D6C3-D1F04637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3A0FF-B956-4D8C-4C81-7A5EAB83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80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3F082-BD3F-06D2-DF8F-784CEB8C4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B32D1-A6AB-9591-D4F8-7CD758484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CFCAC-D3E6-246A-0855-AD18BDE9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E7471-87B3-708C-DB46-236F15B0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AABF6-33CF-7D1F-DFA7-11E136A6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7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4199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5E8C2-DA04-5B4A-8E6A-D2162846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22DD-17E2-B43C-42AD-84D74615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4F6E1-0060-AF9E-8217-070066817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CC4B1-2775-49FC-BFBC-BC54BDCC4B7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EEB5A-4366-C31A-A543-C335D3112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D8A64-78B5-4C49-7A4A-B36DA6261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F7562-C419-4D9E-8B6C-BE33A03E6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19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 err="1">
                <a:solidFill>
                  <a:schemeClr val="bg1"/>
                </a:solidFill>
              </a:rPr>
              <a:t>GridRCA</a:t>
            </a:r>
            <a:r>
              <a:rPr lang="en-IN" sz="3600" b="1" dirty="0">
                <a:solidFill>
                  <a:schemeClr val="bg1"/>
                </a:solidFill>
              </a:rPr>
              <a:t>: A RAG-Driven Framework for Data Lineage-Aware Root-Cause Investigation in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Power Grid Operations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Sanika Gaikwad (T9996)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5FEC30-3CCA-8995-C329-E08CE063D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08" b="28733"/>
          <a:stretch>
            <a:fillRect/>
          </a:stretch>
        </p:blipFill>
        <p:spPr>
          <a:xfrm>
            <a:off x="148893" y="5926906"/>
            <a:ext cx="3064026" cy="7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34851"/>
            <a:ext cx="11421342" cy="4142989"/>
          </a:xfrm>
        </p:spPr>
        <p:txBody>
          <a:bodyPr/>
          <a:lstStyle/>
          <a:p>
            <a:pPr lvl="0" algn="just"/>
            <a:r>
              <a:rPr lang="en-IN" b="0" dirty="0">
                <a:latin typeface="+mn-lt"/>
              </a:rPr>
              <a:t>Power grids generate continuous telemetry, alarms and event data. </a:t>
            </a:r>
          </a:p>
          <a:p>
            <a:pPr lvl="0" algn="just"/>
            <a:r>
              <a:rPr lang="en-IN" b="0" dirty="0">
                <a:latin typeface="+mn-lt"/>
              </a:rPr>
              <a:t>An alarm shows what happened, but not always why it happened. </a:t>
            </a:r>
          </a:p>
          <a:p>
            <a:pPr lvl="0" algn="just"/>
            <a:r>
              <a:rPr lang="en-IN" b="0" dirty="0">
                <a:latin typeface="+mn-lt"/>
              </a:rPr>
              <a:t>Root-cause investigation requires data from multiple sources. </a:t>
            </a:r>
          </a:p>
          <a:p>
            <a:pPr lvl="0" algn="just"/>
            <a:r>
              <a:rPr lang="en-IN" b="0" dirty="0" err="1">
                <a:latin typeface="+mn-lt"/>
              </a:rPr>
              <a:t>GridRCA</a:t>
            </a:r>
            <a:r>
              <a:rPr lang="en-IN" b="0" dirty="0">
                <a:latin typeface="+mn-lt"/>
              </a:rPr>
              <a:t> combines grid topology, historical data and technical knowledge to identify probable causes.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51701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Detect abnormal grid conditions. </a:t>
            </a:r>
          </a:p>
          <a:p>
            <a:pPr lvl="0"/>
            <a:r>
              <a:rPr lang="en-IN" b="0" dirty="0">
                <a:latin typeface="+mn-lt"/>
              </a:rPr>
              <a:t>Identify affected equipment and related components. </a:t>
            </a:r>
          </a:p>
          <a:p>
            <a:pPr lvl="0"/>
            <a:r>
              <a:rPr lang="en-IN" b="0" dirty="0">
                <a:latin typeface="+mn-lt"/>
              </a:rPr>
              <a:t>Retrieve relevant historical and technical information. </a:t>
            </a:r>
          </a:p>
          <a:p>
            <a:pPr lvl="0"/>
            <a:r>
              <a:rPr lang="en-IN" b="0" dirty="0">
                <a:latin typeface="+mn-lt"/>
              </a:rPr>
              <a:t>Determine the probable root cause. </a:t>
            </a:r>
          </a:p>
          <a:p>
            <a:pPr lvl="0"/>
            <a:r>
              <a:rPr lang="en-IN" b="0" dirty="0">
                <a:latin typeface="+mn-lt"/>
              </a:rPr>
              <a:t>Provide supporting evidence for investigation.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523255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The system monitors grid conditions in real time. </a:t>
            </a:r>
          </a:p>
          <a:p>
            <a:pPr lvl="0"/>
            <a:r>
              <a:rPr lang="en-IN" b="0" dirty="0">
                <a:latin typeface="+mn-lt"/>
              </a:rPr>
              <a:t>It detects faults, anomalies, and abnormal events. </a:t>
            </a:r>
          </a:p>
          <a:p>
            <a:pPr lvl="0"/>
            <a:r>
              <a:rPr lang="en-IN" b="0" dirty="0">
                <a:latin typeface="+mn-lt"/>
              </a:rPr>
              <a:t>It identifies possible root causes using grid topology. </a:t>
            </a:r>
          </a:p>
          <a:p>
            <a:pPr lvl="0"/>
            <a:r>
              <a:rPr lang="en-IN" b="0" dirty="0">
                <a:latin typeface="+mn-lt"/>
              </a:rPr>
              <a:t>It predicts risks and supports response decisions. </a:t>
            </a:r>
          </a:p>
          <a:p>
            <a:pPr lvl="0"/>
            <a:r>
              <a:rPr lang="en-IN" b="0" dirty="0">
                <a:latin typeface="+mn-lt"/>
              </a:rPr>
              <a:t>It provides clear, evidence-based recommendations.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60261"/>
            <a:ext cx="11699784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Traditional systems mainly focus on fault/anomaly detection. </a:t>
            </a:r>
          </a:p>
          <a:p>
            <a:pPr lvl="0"/>
            <a:r>
              <a:rPr lang="en-IN" b="0" dirty="0">
                <a:latin typeface="+mn-lt"/>
              </a:rPr>
              <a:t>RAG improves access to historical and technical knowledge. </a:t>
            </a:r>
          </a:p>
          <a:p>
            <a:pPr lvl="0"/>
            <a:r>
              <a:rPr lang="en-IN" b="0" dirty="0">
                <a:latin typeface="+mn-lt"/>
              </a:rPr>
              <a:t>Graph-based methods represent relationships between grid components. </a:t>
            </a:r>
          </a:p>
          <a:p>
            <a:pPr lvl="0"/>
            <a:r>
              <a:rPr lang="en-IN" b="0" dirty="0">
                <a:latin typeface="+mn-lt"/>
              </a:rPr>
              <a:t>Recent studies explore RAG, graphs and LLMs for power-system diagnosis.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723" y="1148876"/>
            <a:ext cx="11265444" cy="545462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Existing Work</a:t>
            </a:r>
          </a:p>
          <a:p>
            <a:pPr lvl="1"/>
            <a:r>
              <a:rPr lang="en-IN" sz="2800" dirty="0"/>
              <a:t>Detects anomalies and faults. </a:t>
            </a:r>
          </a:p>
          <a:p>
            <a:pPr lvl="1"/>
            <a:r>
              <a:rPr lang="en-IN" sz="2800" dirty="0"/>
              <a:t>Retrieves technical information. </a:t>
            </a:r>
          </a:p>
          <a:p>
            <a:pPr lvl="1"/>
            <a:r>
              <a:rPr lang="en-IN" sz="2800" dirty="0"/>
              <a:t>Uses graphs to represent system relationships. 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r>
              <a:rPr lang="en-IN" dirty="0">
                <a:latin typeface="+mn-lt"/>
              </a:rPr>
              <a:t>Research Gap</a:t>
            </a:r>
          </a:p>
          <a:p>
            <a:pPr lvl="1"/>
            <a:r>
              <a:rPr lang="en-IN" sz="2800" dirty="0"/>
              <a:t>Limited integration of telemetry + topology + historical evidence for explainable root-cause investigation. 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r>
              <a:rPr lang="en-IN" dirty="0">
                <a:latin typeface="+mn-lt"/>
              </a:rPr>
              <a:t>Proposed: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		</a:t>
            </a:r>
            <a:r>
              <a:rPr lang="en-IN" dirty="0" err="1">
                <a:latin typeface="+mn-lt"/>
              </a:rPr>
              <a:t>GridRCA</a:t>
            </a:r>
            <a:r>
              <a:rPr lang="en-IN" dirty="0">
                <a:latin typeface="+mn-lt"/>
              </a:rPr>
              <a:t> — topology/data-lineage-aware RAG for root-cause 			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Dataset</a:t>
            </a:r>
          </a:p>
          <a:p>
            <a:pPr lvl="1"/>
            <a:r>
              <a:rPr lang="en-IN" sz="2800" dirty="0"/>
              <a:t>IEEE 30-Bus — grid structure </a:t>
            </a:r>
          </a:p>
          <a:p>
            <a:pPr lvl="1"/>
            <a:r>
              <a:rPr lang="en-IN" sz="2800" dirty="0"/>
              <a:t>PSML — telemetry &amp; disturbances </a:t>
            </a:r>
          </a:p>
          <a:p>
            <a:pPr lvl="1"/>
            <a:r>
              <a:rPr lang="en-IN" sz="2800" dirty="0"/>
              <a:t>Synthetic data — faults, events &amp; maintenance </a:t>
            </a:r>
          </a:p>
          <a:p>
            <a:pPr lvl="1"/>
            <a:r>
              <a:rPr lang="en-IN" sz="2800" dirty="0"/>
              <a:t>Technical documents — RAG knowledge 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Basic Database</a:t>
            </a:r>
          </a:p>
          <a:p>
            <a:pPr lvl="1"/>
            <a:r>
              <a:rPr lang="en-IN" sz="2800" dirty="0"/>
              <a:t>PostgreSQL — telemetry &amp; event records </a:t>
            </a:r>
          </a:p>
          <a:p>
            <a:pPr lvl="1"/>
            <a:r>
              <a:rPr lang="en-IN" sz="2800" dirty="0"/>
              <a:t>Vector DB — technical knowledge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Data Ingestion &amp; Preprocessing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Anomaly Detection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Grid Topology &amp; Data Lineage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Hybrid RAG Retrieval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Root-Cause Investigation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Impact Analysis &amp; Recommendation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Dashboard &amp;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r>
              <a:rPr lang="en-IN" dirty="0" err="1">
                <a:latin typeface="+mn-lt"/>
              </a:rPr>
              <a:t>GridRCA</a:t>
            </a:r>
            <a:r>
              <a:rPr lang="en-IN" dirty="0">
                <a:latin typeface="+mn-lt"/>
              </a:rPr>
              <a:t> Workflow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  <a:p>
            <a:pPr lvl="1"/>
            <a:r>
              <a:rPr lang="en-IN" sz="2800" dirty="0"/>
              <a:t>Grid Data → Anomaly Detection → Context Construction </a:t>
            </a:r>
          </a:p>
          <a:p>
            <a:pPr lvl="1"/>
            <a:r>
              <a:rPr lang="en-IN" sz="2800" dirty="0"/>
              <a:t>Topology &amp; Data Lineage → RAG Retrieval → Root-Cause Analysis </a:t>
            </a:r>
          </a:p>
          <a:p>
            <a:pPr lvl="1"/>
            <a:r>
              <a:rPr lang="en-IN" sz="2800" dirty="0"/>
              <a:t>Evidence → Recommendation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TECHNICAL APPROACH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An Agentic AI Framework for Continuous Cross-Domain Urban Infrastructure Monitoring, Diagnosis and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Decision Support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Sanika Gaikwad (T9996)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E88208-9605-E722-FD41-21C8DE8D9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08" b="28733"/>
          <a:stretch>
            <a:fillRect/>
          </a:stretch>
        </p:blipFill>
        <p:spPr>
          <a:xfrm>
            <a:off x="148893" y="5926906"/>
            <a:ext cx="3064026" cy="7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1585484" cy="3900388"/>
          </a:xfrm>
        </p:spPr>
        <p:txBody>
          <a:bodyPr/>
          <a:lstStyle/>
          <a:p>
            <a:pPr lvl="0" algn="just"/>
            <a:r>
              <a:rPr lang="en-IN" b="0" dirty="0">
                <a:latin typeface="+mn-lt"/>
              </a:rPr>
              <a:t>Urban infrastructure operates through interconnected systems such as water, drainage, transportation and metro. </a:t>
            </a:r>
          </a:p>
          <a:p>
            <a:pPr lvl="0" algn="just"/>
            <a:r>
              <a:rPr lang="en-IN" b="0" dirty="0">
                <a:latin typeface="+mn-lt"/>
              </a:rPr>
              <a:t>Failures in one system can create cascading impacts on other systems. </a:t>
            </a:r>
          </a:p>
          <a:p>
            <a:pPr lvl="0" algn="just"/>
            <a:r>
              <a:rPr lang="en-IN" b="0" dirty="0">
                <a:latin typeface="+mn-lt"/>
              </a:rPr>
              <a:t>Existing approaches often focus on single-domain monitoring or prediction. </a:t>
            </a:r>
          </a:p>
          <a:p>
            <a:pPr lvl="0" algn="just"/>
            <a:r>
              <a:rPr lang="en-IN" b="0" dirty="0">
                <a:latin typeface="+mn-lt"/>
              </a:rPr>
              <a:t>They provide alerts but have limited capability for cross-domain diagnosis and coordinated response. </a:t>
            </a:r>
          </a:p>
          <a:p>
            <a:pPr lvl="0" algn="just"/>
            <a:r>
              <a:rPr lang="en-IN" b="0" dirty="0">
                <a:latin typeface="+mn-lt"/>
              </a:rPr>
              <a:t>This project proposes an Agentic AI framework for continuous infrastructure intelligence. </a:t>
            </a:r>
          </a:p>
          <a:p>
            <a:pPr lvl="0" algn="just"/>
            <a:endParaRPr lang="en-IN" sz="900" b="0" dirty="0">
              <a:latin typeface="+mn-lt"/>
            </a:endParaRPr>
          </a:p>
          <a:p>
            <a:pPr marL="0" indent="0" algn="ctr">
              <a:buNone/>
            </a:pPr>
            <a:r>
              <a:rPr lang="en-IN" b="0" dirty="0">
                <a:latin typeface="+mn-lt"/>
              </a:rPr>
              <a:t>              Move from isolated fault detection to coordinated, cross-domain infrastructure decision support.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-6210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sz="1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3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45504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 multi-agent urban infrastructure framework. </a:t>
            </a:r>
          </a:p>
          <a:p>
            <a:pPr lvl="0"/>
            <a:r>
              <a:rPr lang="en-IN" b="0" dirty="0">
                <a:latin typeface="+mn-lt"/>
              </a:rPr>
              <a:t>Continuously monitor infrastructure conditions. </a:t>
            </a:r>
          </a:p>
          <a:p>
            <a:pPr lvl="0"/>
            <a:r>
              <a:rPr lang="en-IN" b="0" dirty="0">
                <a:latin typeface="+mn-lt"/>
              </a:rPr>
              <a:t>Detect abnormal events and failures. </a:t>
            </a:r>
          </a:p>
          <a:p>
            <a:pPr lvl="0"/>
            <a:r>
              <a:rPr lang="en-IN" b="0" dirty="0">
                <a:latin typeface="+mn-lt"/>
              </a:rPr>
              <a:t>Identify root causes and cross-domain effects. </a:t>
            </a:r>
          </a:p>
          <a:p>
            <a:pPr lvl="0"/>
            <a:r>
              <a:rPr lang="en-IN" b="0" dirty="0">
                <a:latin typeface="+mn-lt"/>
              </a:rPr>
              <a:t>Predict potential impacts. </a:t>
            </a:r>
          </a:p>
          <a:p>
            <a:pPr lvl="0"/>
            <a:r>
              <a:rPr lang="en-IN" b="0" dirty="0">
                <a:latin typeface="+mn-lt"/>
              </a:rPr>
              <a:t>Simulate possible response strategies. </a:t>
            </a:r>
          </a:p>
          <a:p>
            <a:pPr lvl="0"/>
            <a:r>
              <a:rPr lang="en-IN" b="0" dirty="0">
                <a:latin typeface="+mn-lt"/>
              </a:rPr>
              <a:t>Provide explainable recommendations with human approval.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26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lvl="0"/>
            <a:r>
              <a:rPr lang="en-IN" b="0" dirty="0"/>
              <a:t>Study Area: Chennai urban infrastructure </a:t>
            </a:r>
          </a:p>
          <a:p>
            <a:pPr lvl="0"/>
            <a:r>
              <a:rPr lang="en-IN" b="0" dirty="0"/>
              <a:t>Domains: Water &amp; Drainage, Metro, Traffic, Weather </a:t>
            </a:r>
          </a:p>
          <a:p>
            <a:pPr lvl="0"/>
            <a:r>
              <a:rPr lang="en-IN" b="0" dirty="0"/>
              <a:t>Integrate public datasets, GIS infrastructure data and controlled synthetic sensor data. </a:t>
            </a:r>
          </a:p>
          <a:p>
            <a:pPr lvl="0"/>
            <a:r>
              <a:rPr lang="en-IN" b="0" dirty="0"/>
              <a:t>Represent infrastructure using asset, spatial and temporal relationships. </a:t>
            </a:r>
          </a:p>
          <a:p>
            <a:pPr lvl="0"/>
            <a:r>
              <a:rPr lang="en-IN" b="0" dirty="0"/>
              <a:t>Model cross-domain and cascading incidents. </a:t>
            </a:r>
          </a:p>
          <a:p>
            <a:pPr lvl="0"/>
            <a:r>
              <a:rPr lang="en-IN" b="0" dirty="0"/>
              <a:t>Evaluate detection, diagnosis, prediction and decision-support performance. </a:t>
            </a:r>
          </a:p>
          <a:p>
            <a:pPr marL="0" indent="0">
              <a:buNone/>
            </a:pPr>
            <a:r>
              <a:rPr lang="en-IN" b="0" dirty="0"/>
              <a:t>  Example</a:t>
            </a:r>
          </a:p>
          <a:p>
            <a:pPr marL="0" indent="0" algn="ctr">
              <a:buNone/>
            </a:pPr>
            <a:r>
              <a:rPr lang="en-IN" b="0" dirty="0"/>
              <a:t>	Heavy Rainfall → Drainage Overload → Flooding → Traffic Congestion → 	Metro Demand Change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48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1667CE-2CD1-E078-60D1-D42496BFD05A}"/>
              </a:ext>
            </a:extLst>
          </p:cNvPr>
          <p:cNvGraphicFramePr>
            <a:graphicFrameLocks noGrp="1"/>
          </p:cNvGraphicFramePr>
          <p:nvPr/>
        </p:nvGraphicFramePr>
        <p:xfrm>
          <a:off x="434340" y="1234636"/>
          <a:ext cx="11452860" cy="4663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6430">
                  <a:extLst>
                    <a:ext uri="{9D8B030D-6E8A-4147-A177-3AD203B41FA5}">
                      <a16:colId xmlns:a16="http://schemas.microsoft.com/office/drawing/2014/main" val="2749915989"/>
                    </a:ext>
                  </a:extLst>
                </a:gridCol>
                <a:gridCol w="5726430">
                  <a:extLst>
                    <a:ext uri="{9D8B030D-6E8A-4147-A177-3AD203B41FA5}">
                      <a16:colId xmlns:a16="http://schemas.microsoft.com/office/drawing/2014/main" val="3169525264"/>
                    </a:ext>
                  </a:extLst>
                </a:gridCol>
              </a:tblGrid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Existing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164639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Agentic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Autonomous reasoning and task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630031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Multi-Agent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Domain-specific agents and coordination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227080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Predictive 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Fault detection and failure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301848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Digital Twins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Infrastructure monitoring and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988751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Infrastructure Resilience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Interdependency and recovery 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719776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Evaluation of alternative interventions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285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61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Existing approaches:</a:t>
            </a:r>
          </a:p>
          <a:p>
            <a:pPr lvl="1"/>
            <a:r>
              <a:rPr lang="en-IN" sz="2800" b="0" dirty="0">
                <a:latin typeface="+mn-lt"/>
              </a:rPr>
              <a:t>Mostly single-domain solutions </a:t>
            </a:r>
          </a:p>
          <a:p>
            <a:pPr lvl="1"/>
            <a:r>
              <a:rPr lang="en-IN" sz="2800" b="0" dirty="0">
                <a:latin typeface="+mn-lt"/>
              </a:rPr>
              <a:t>Separate monitoring and prediction models </a:t>
            </a:r>
          </a:p>
          <a:p>
            <a:pPr lvl="1"/>
            <a:r>
              <a:rPr lang="en-IN" sz="2800" b="0" dirty="0">
                <a:latin typeface="+mn-lt"/>
              </a:rPr>
              <a:t>Limited cross-domain reasoning </a:t>
            </a:r>
          </a:p>
          <a:p>
            <a:pPr lvl="1"/>
            <a:r>
              <a:rPr lang="en-IN" sz="2800" b="0" dirty="0">
                <a:latin typeface="+mn-lt"/>
              </a:rPr>
              <a:t>Limited integration of simulation + decision support </a:t>
            </a:r>
          </a:p>
          <a:p>
            <a:pPr marL="0" indent="0">
              <a:buNone/>
            </a:pPr>
            <a:endParaRPr lang="en-IN" b="0" dirty="0">
              <a:latin typeface="+mn-lt"/>
            </a:endParaRPr>
          </a:p>
          <a:p>
            <a:pPr marL="0" indent="0">
              <a:buNone/>
            </a:pPr>
            <a:r>
              <a:rPr lang="en-IN" b="0" dirty="0">
                <a:latin typeface="+mn-lt"/>
              </a:rPr>
              <a:t>Proposed Approach</a:t>
            </a:r>
          </a:p>
          <a:p>
            <a:pPr lvl="1"/>
            <a:r>
              <a:rPr lang="en-IN" sz="2800" b="0" dirty="0">
                <a:latin typeface="+mn-lt"/>
              </a:rPr>
              <a:t>Integrate monitoring, diagnosis, prediction, simulation and decision support through coordinated domain agents.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67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170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Study Area: Chennai</a:t>
            </a:r>
            <a:endParaRPr lang="en-US" b="0" dirty="0">
              <a:solidFill>
                <a:srgbClr val="5583D1"/>
              </a:solidFill>
            </a:endParaRPr>
          </a:p>
          <a:p>
            <a:pPr marL="0" indent="0">
              <a:buNone/>
            </a:pPr>
            <a:endParaRPr lang="en-US" b="0" dirty="0">
              <a:solidFill>
                <a:srgbClr val="5583D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9A8407-F18C-1428-6344-83124529AF57}"/>
              </a:ext>
            </a:extLst>
          </p:cNvPr>
          <p:cNvGraphicFramePr>
            <a:graphicFrameLocks noGrp="1"/>
          </p:cNvGraphicFramePr>
          <p:nvPr/>
        </p:nvGraphicFramePr>
        <p:xfrm>
          <a:off x="931454" y="1788232"/>
          <a:ext cx="11004550" cy="414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2275">
                  <a:extLst>
                    <a:ext uri="{9D8B030D-6E8A-4147-A177-3AD203B41FA5}">
                      <a16:colId xmlns:a16="http://schemas.microsoft.com/office/drawing/2014/main" val="4242837142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2629620698"/>
                    </a:ext>
                  </a:extLst>
                </a:gridCol>
              </a:tblGrid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Public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Controlled Synthetic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995474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Chennai rainfall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Asset sensor readings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921846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Flood inundation &amp; hazard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Equipment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723889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Lake levels &amp;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Failure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637629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Groundwater 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Incident scenarios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605765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Sewer/drainage GIS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Cross-domain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482418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Metro ridership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Intervention 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81664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Traffic &amp; road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802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1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1. Data &amp; Infrastructure Layer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2. Monitoring &amp; Anomaly Detection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3. Diagnosis &amp; Root-Cause Analysis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4. Impact Prediction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5. What-if Simulation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6. Multi-Agent Orchestration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7. Decision Support &amp; Recommendation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8. Evaluation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56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FF4201-148E-5916-9F3A-5237A32975F6}"/>
              </a:ext>
            </a:extLst>
          </p:cNvPr>
          <p:cNvGraphicFramePr>
            <a:graphicFrameLocks noGrp="1"/>
          </p:cNvGraphicFramePr>
          <p:nvPr/>
        </p:nvGraphicFramePr>
        <p:xfrm>
          <a:off x="1394460" y="1234637"/>
          <a:ext cx="10178848" cy="507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89424">
                  <a:extLst>
                    <a:ext uri="{9D8B030D-6E8A-4147-A177-3AD203B41FA5}">
                      <a16:colId xmlns:a16="http://schemas.microsoft.com/office/drawing/2014/main" val="1961711138"/>
                    </a:ext>
                  </a:extLst>
                </a:gridCol>
                <a:gridCol w="5089424">
                  <a:extLst>
                    <a:ext uri="{9D8B030D-6E8A-4147-A177-3AD203B41FA5}">
                      <a16:colId xmlns:a16="http://schemas.microsoft.com/office/drawing/2014/main" val="3508501090"/>
                    </a:ext>
                  </a:extLst>
                </a:gridCol>
              </a:tblGrid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5506118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Weather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Rainfall &amp; weather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286865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Water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Drainage, sewer &amp; water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06297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Metro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Metro assets &amp; passenger demand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368325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Traffic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Roads, traffic &amp; incidents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010712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Orchestrator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Cross-domain coordination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900216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Decision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Simulation &amp;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71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019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870</Words>
  <Application>Microsoft Office PowerPoint</Application>
  <PresentationFormat>Widescreen</PresentationFormat>
  <Paragraphs>193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Frutiger 45 bold</vt:lpstr>
      <vt:lpstr>Frutiger LT Pro 45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Sanika Yashwant Gaikwad</dc:creator>
  <cp:lastModifiedBy>Sanika Yashwant Gaikwad</cp:lastModifiedBy>
  <cp:revision>1</cp:revision>
  <dcterms:created xsi:type="dcterms:W3CDTF">2026-10-06T04:27:21Z</dcterms:created>
  <dcterms:modified xsi:type="dcterms:W3CDTF">2026-10-06T04:29:08Z</dcterms:modified>
</cp:coreProperties>
</file>